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heme/themeOverride1.xml" ContentType="application/vnd.openxmlformats-officedocument.themeOverr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7" r:id="rId2"/>
    <p:sldId id="258" r:id="rId3"/>
    <p:sldId id="259" r:id="rId4"/>
    <p:sldId id="260" r:id="rId5"/>
    <p:sldId id="261" r:id="rId6"/>
    <p:sldId id="262" r:id="rId7"/>
    <p:sldId id="263" r:id="rId8"/>
    <p:sldId id="264" r:id="rId9"/>
    <p:sldId id="265" r:id="rId10"/>
    <p:sldId id="266" r:id="rId11"/>
    <p:sldId id="271" r:id="rId12"/>
    <p:sldId id="270"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B45499"/>
    <a:srgbClr val="D9AFD8"/>
    <a:srgbClr val="704EA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3" d="100"/>
          <a:sy n="63" d="100"/>
        </p:scale>
        <p:origin x="804" y="76"/>
      </p:cViewPr>
      <p:guideLst/>
    </p:cSldViewPr>
  </p:slid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2CE9A8C-3F50-49F8-A835-316C22A1110D}" type="datetimeFigureOut">
              <a:rPr lang="en-IN" smtClean="0"/>
              <a:t>30-09-2026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F3343F9-2D09-4642-A3BD-5BF627A067F3}" type="slidenum">
              <a:rPr lang="en-IN" smtClean="0"/>
              <a:t>‹#›</a:t>
            </a:fld>
            <a:endParaRPr lang="en-IN"/>
          </a:p>
        </p:txBody>
      </p:sp>
    </p:spTree>
    <p:extLst>
      <p:ext uri="{BB962C8B-B14F-4D97-AF65-F5344CB8AC3E}">
        <p14:creationId xmlns:p14="http://schemas.microsoft.com/office/powerpoint/2010/main" val="5691631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Closing slide. Add the Google Form URL and a contact email before sharing. Edition 2 organising team for reference: Language AI - Sourabh Tiwari, Gaurav, Sanjeeth Pothireddy, Gorang Maniar; PRISM - Binny Lakra, Prakhar Chandrakar, Vishu Kumar; Kick-off and mentors - Giridhar Jakki, Deepraj Prabhakar Patkar (Language AI), Srimanu Prasad Nagaraju, Ashish Kumar (Tech Strategy).</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2CFE64-7CE6-4299-B8FE-939866A3EB6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09E4360C-492F-4E2E-B967-599B2BD31D7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6870CDB-78C3-4602-B35C-A826CBF20916}"/>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585EF81-E96A-4C8D-A4F0-A9DF05C49C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9FA2448-68BE-42AE-8001-48ECE62DC431}"/>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5512066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2C5E08-CE8A-45BE-8C3E-C04A49CC8A6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FCCB0C-95AB-4F7A-955D-2DC18750BF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96DA85-2FDE-4136-B9F6-AF0965475E5A}"/>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99B0367-ACE7-48B9-82C8-A7BFD1F98E9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C09A210-6017-4F71-9E78-B2C329B4A7E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581247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AE6C5-6752-4963-B842-280808B201DB}"/>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FEA6DFC-697D-4605-86C0-8572E022BEC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CA341469-A18C-498E-BACC-28BCBFE904BB}"/>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AED5D3B-1983-426F-A1AE-7470C43BB0E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135ABB1-45F2-4FEA-BB5A-3B053892DBC7}"/>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0265301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A3F4AE-F142-401B-A5D1-4A52FF92CA0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C7C9BD1-2876-4C52-83CF-1CBA9D931B3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6CE624D8-76A7-478F-ACA3-5749DEFD0E0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F29A939-0957-4E96-B38D-0B2E39D4137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C89D44E1-B8BA-490F-B30A-538CC4D48FF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184BB79-7CA5-414E-B5B6-6A8E9AEE4A94}"/>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743542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86CE8-8BA4-4FB1-ACAA-E38F8ED7F745}"/>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2570902-F321-482A-924A-FF9A87CA5D6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85B6F67-E437-4FE8-851B-B016F33CFE9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37CE7897-2D17-49F8-8762-68F8D5794FB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63AE8E8-43BB-400D-8934-6D6B21D3A58E}"/>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FDB6608-03F3-45EF-80BD-C6E305C07128}"/>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8" name="Footer Placeholder 7">
            <a:extLst>
              <a:ext uri="{FF2B5EF4-FFF2-40B4-BE49-F238E27FC236}">
                <a16:creationId xmlns:a16="http://schemas.microsoft.com/office/drawing/2014/main" id="{E665D75D-3AD4-4D0E-A5BC-9000973FD8E7}"/>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7706A546-DC61-467F-A112-3AC0277BB9A8}"/>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1716692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CC8549-E392-4F05-B762-B5370E51C922}"/>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059880-A67D-4A24-9138-E937AE75075F}"/>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4" name="Footer Placeholder 3">
            <a:extLst>
              <a:ext uri="{FF2B5EF4-FFF2-40B4-BE49-F238E27FC236}">
                <a16:creationId xmlns:a16="http://schemas.microsoft.com/office/drawing/2014/main" id="{01BF6EC7-BFAB-4137-9343-C66B7829AB5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A6B929-B579-4261-8171-35357AE9A33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337294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CBAFEDF-BA35-4A7C-9388-604C048D57D0}"/>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3" name="Footer Placeholder 2">
            <a:extLst>
              <a:ext uri="{FF2B5EF4-FFF2-40B4-BE49-F238E27FC236}">
                <a16:creationId xmlns:a16="http://schemas.microsoft.com/office/drawing/2014/main" id="{11C80271-5700-43CC-A9BA-B2AAB47B2145}"/>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EA712EA-BE6D-4AE5-B09E-215DE5B0EE9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17590721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A6235-A416-4C23-BE8E-8FC1CF0EC17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4A2C36B-7DDF-4371-9F0A-6E5B64554F5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813FA19A-E15E-47EA-B9B9-5F7FD0AA0B7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9E84724-CA93-4332-A03F-0909AC5249A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E403302F-D853-499A-BB91-3BD5366E677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234AD427-BF9D-4A47-AF08-E4983B90C65A}"/>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40411880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C1B540-7747-44F5-A3A4-69F051F3632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4392B5-0943-4B18-9708-C9FA86F8353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47DFA04-BB4C-4DC0-9831-EB32549F5EA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101BDBD-01E1-44D7-AB93-513FF196A2C4}"/>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6" name="Footer Placeholder 5">
            <a:extLst>
              <a:ext uri="{FF2B5EF4-FFF2-40B4-BE49-F238E27FC236}">
                <a16:creationId xmlns:a16="http://schemas.microsoft.com/office/drawing/2014/main" id="{D87D7BDB-9CCD-44F3-A4FB-D4BAE589BE3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ABC8D8A-A70C-4D57-8271-DCF5EEFC33AE}"/>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2122362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5A63EB-C66D-4D2D-9928-25D57CFDCDD2}"/>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D91A17B-5319-4265-82A2-5D286CFAFD8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E972F85-7902-4426-947E-3509F7A06CB1}"/>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FD08658F-7DA3-40F3-B6FA-CF740F858EB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6B0DE9-130B-4DA8-9A0C-06A295C9D82C}"/>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34819505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54594E2-CBC8-4A0C-A110-E3B5A301CF62}"/>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CFBD2EA-CB7C-4CAB-855D-57F791910445}"/>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D2348B0-3CBB-41FA-A8EC-5DFC833D7ECD}"/>
              </a:ext>
            </a:extLst>
          </p:cNvPr>
          <p:cNvSpPr>
            <a:spLocks noGrp="1"/>
          </p:cNvSpPr>
          <p:nvPr>
            <p:ph type="dt" sz="half" idx="10"/>
          </p:nvPr>
        </p:nvSpPr>
        <p:spPr/>
        <p:txBody>
          <a:body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1A7E08DA-D399-4DC8-89B1-C4EBC64DC98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FDA6177-D647-4C5F-BA43-C02A1390F473}"/>
              </a:ext>
            </a:extLst>
          </p:cNvPr>
          <p:cNvSpPr>
            <a:spLocks noGrp="1"/>
          </p:cNvSpPr>
          <p:nvPr>
            <p:ph type="sldNum" sz="quarter" idx="12"/>
          </p:nvPr>
        </p:nvSpPr>
        <p:spPr/>
        <p:txBody>
          <a:bodyPr/>
          <a:lstStyle/>
          <a:p>
            <a:fld id="{BF5B04A4-2082-4D7E-8466-9BA22C990A78}" type="slidenum">
              <a:rPr lang="en-IN" smtClean="0"/>
              <a:t>‹#›</a:t>
            </a:fld>
            <a:endParaRPr lang="en-IN"/>
          </a:p>
        </p:txBody>
      </p:sp>
    </p:spTree>
    <p:extLst>
      <p:ext uri="{BB962C8B-B14F-4D97-AF65-F5344CB8AC3E}">
        <p14:creationId xmlns:p14="http://schemas.microsoft.com/office/powerpoint/2010/main" val="8146870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46345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CE67A62-7E64-4BE9-8EDF-4904E871A04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8CA73B9-1A82-4479-978C-9C873CC677B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9977FC6-3D78-48A7-A3DB-BFC7C0EA3E8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AF27EEE-1B67-445E-AA5D-351EC91D1DEB}" type="datetimeFigureOut">
              <a:rPr lang="en-IN" smtClean="0"/>
              <a:t>30-09-2026</a:t>
            </a:fld>
            <a:endParaRPr lang="en-IN"/>
          </a:p>
        </p:txBody>
      </p:sp>
      <p:sp>
        <p:nvSpPr>
          <p:cNvPr id="5" name="Footer Placeholder 4">
            <a:extLst>
              <a:ext uri="{FF2B5EF4-FFF2-40B4-BE49-F238E27FC236}">
                <a16:creationId xmlns:a16="http://schemas.microsoft.com/office/drawing/2014/main" id="{27CDC877-1137-446E-919A-C66E313317C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A258D39-C9B6-4DA9-9C05-38A0ECD4CE4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F5B04A4-2082-4D7E-8466-9BA22C990A78}" type="slidenum">
              <a:rPr lang="en-IN" smtClean="0"/>
              <a:t>‹#›</a:t>
            </a:fld>
            <a:endParaRPr lang="en-IN"/>
          </a:p>
        </p:txBody>
      </p:sp>
    </p:spTree>
    <p:extLst>
      <p:ext uri="{BB962C8B-B14F-4D97-AF65-F5344CB8AC3E}">
        <p14:creationId xmlns:p14="http://schemas.microsoft.com/office/powerpoint/2010/main" val="327917824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4.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8.png"/><Relationship Id="rId3" Type="http://schemas.openxmlformats.org/officeDocument/2006/relationships/image" Target="../media/image2.png"/><Relationship Id="rId7" Type="http://schemas.openxmlformats.org/officeDocument/2006/relationships/image" Target="../media/image23.png"/><Relationship Id="rId12" Type="http://schemas.openxmlformats.org/officeDocument/2006/relationships/image" Target="../media/image27.png"/><Relationship Id="rId2" Type="http://schemas.openxmlformats.org/officeDocument/2006/relationships/slideLayout" Target="../slideLayouts/slideLayout2.xml"/><Relationship Id="rId1" Type="http://schemas.openxmlformats.org/officeDocument/2006/relationships/themeOverride" Target="../theme/themeOverride1.xml"/><Relationship Id="rId6" Type="http://schemas.openxmlformats.org/officeDocument/2006/relationships/image" Target="../media/image22.png"/><Relationship Id="rId11" Type="http://schemas.openxmlformats.org/officeDocument/2006/relationships/image" Target="../media/image26.png"/><Relationship Id="rId5" Type="http://schemas.openxmlformats.org/officeDocument/2006/relationships/image" Target="../media/image21.png"/><Relationship Id="rId10" Type="http://schemas.openxmlformats.org/officeDocument/2006/relationships/image" Target="../media/image25.png"/><Relationship Id="rId4" Type="http://schemas.openxmlformats.org/officeDocument/2006/relationships/image" Target="../media/image3.png"/><Relationship Id="rId9" Type="http://schemas.openxmlformats.org/officeDocument/2006/relationships/image" Target="../media/image10.png"/><Relationship Id="rId14" Type="http://schemas.openxmlformats.org/officeDocument/2006/relationships/image" Target="../media/image29.png"/></Relationships>
</file>

<file path=ppt/slides/_rels/slide5.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3.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40.jpeg"/><Relationship Id="rId13" Type="http://schemas.openxmlformats.org/officeDocument/2006/relationships/image" Target="../media/image32.png"/><Relationship Id="rId18" Type="http://schemas.openxmlformats.org/officeDocument/2006/relationships/image" Target="../media/image49.png"/><Relationship Id="rId3" Type="http://schemas.openxmlformats.org/officeDocument/2006/relationships/image" Target="../media/image35.png"/><Relationship Id="rId7" Type="http://schemas.openxmlformats.org/officeDocument/2006/relationships/image" Target="../media/image39.png"/><Relationship Id="rId12" Type="http://schemas.openxmlformats.org/officeDocument/2006/relationships/image" Target="../media/image44.png"/><Relationship Id="rId17" Type="http://schemas.openxmlformats.org/officeDocument/2006/relationships/image" Target="../media/image48.png"/><Relationship Id="rId2" Type="http://schemas.openxmlformats.org/officeDocument/2006/relationships/image" Target="../media/image34.png"/><Relationship Id="rId16" Type="http://schemas.openxmlformats.org/officeDocument/2006/relationships/image" Target="../media/image47.png"/><Relationship Id="rId1" Type="http://schemas.openxmlformats.org/officeDocument/2006/relationships/slideLayout" Target="../slideLayouts/slideLayout2.xml"/><Relationship Id="rId6" Type="http://schemas.openxmlformats.org/officeDocument/2006/relationships/image" Target="../media/image38.png"/><Relationship Id="rId11" Type="http://schemas.openxmlformats.org/officeDocument/2006/relationships/image" Target="../media/image43.png"/><Relationship Id="rId5" Type="http://schemas.openxmlformats.org/officeDocument/2006/relationships/image" Target="../media/image37.png"/><Relationship Id="rId15" Type="http://schemas.openxmlformats.org/officeDocument/2006/relationships/image" Target="../media/image46.png"/><Relationship Id="rId10" Type="http://schemas.openxmlformats.org/officeDocument/2006/relationships/image" Target="../media/image42.png"/><Relationship Id="rId19" Type="http://schemas.openxmlformats.org/officeDocument/2006/relationships/image" Target="../media/image50.png"/><Relationship Id="rId4" Type="http://schemas.openxmlformats.org/officeDocument/2006/relationships/image" Target="../media/image36.png"/><Relationship Id="rId9" Type="http://schemas.openxmlformats.org/officeDocument/2006/relationships/image" Target="../media/image41.png"/><Relationship Id="rId14" Type="http://schemas.openxmlformats.org/officeDocument/2006/relationships/image" Target="../media/image45.png"/></Relationships>
</file>

<file path=ppt/slides/_rels/slide7.xml.rels><?xml version="1.0" encoding="UTF-8" standalone="yes"?>
<Relationships xmlns="http://schemas.openxmlformats.org/package/2006/relationships"><Relationship Id="rId8" Type="http://schemas.openxmlformats.org/officeDocument/2006/relationships/image" Target="../media/image56.png"/><Relationship Id="rId3" Type="http://schemas.openxmlformats.org/officeDocument/2006/relationships/image" Target="../media/image51.png"/><Relationship Id="rId7" Type="http://schemas.openxmlformats.org/officeDocument/2006/relationships/image" Target="../media/image55.png"/><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image" Target="../media/image54.png"/><Relationship Id="rId11" Type="http://schemas.openxmlformats.org/officeDocument/2006/relationships/image" Target="../media/image58.png"/><Relationship Id="rId5" Type="http://schemas.openxmlformats.org/officeDocument/2006/relationships/image" Target="../media/image53.png"/><Relationship Id="rId10" Type="http://schemas.openxmlformats.org/officeDocument/2006/relationships/image" Target="../media/image57.png"/><Relationship Id="rId4" Type="http://schemas.openxmlformats.org/officeDocument/2006/relationships/image" Target="../media/image52.pn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60.png"/><Relationship Id="rId13" Type="http://schemas.openxmlformats.org/officeDocument/2006/relationships/image" Target="../media/image36.png"/><Relationship Id="rId3" Type="http://schemas.openxmlformats.org/officeDocument/2006/relationships/image" Target="../media/image2.png"/><Relationship Id="rId7" Type="http://schemas.openxmlformats.org/officeDocument/2006/relationships/image" Target="../media/image21.png"/><Relationship Id="rId12" Type="http://schemas.openxmlformats.org/officeDocument/2006/relationships/image" Target="../media/image35.png"/><Relationship Id="rId2" Type="http://schemas.openxmlformats.org/officeDocument/2006/relationships/image" Target="../media/image7.png"/><Relationship Id="rId1" Type="http://schemas.openxmlformats.org/officeDocument/2006/relationships/slideLayout" Target="../slideLayouts/slideLayout2.xml"/><Relationship Id="rId6" Type="http://schemas.openxmlformats.org/officeDocument/2006/relationships/image" Target="../media/image59.png"/><Relationship Id="rId11" Type="http://schemas.openxmlformats.org/officeDocument/2006/relationships/image" Target="../media/image34.png"/><Relationship Id="rId5" Type="http://schemas.openxmlformats.org/officeDocument/2006/relationships/image" Target="../media/image32.png"/><Relationship Id="rId15" Type="http://schemas.openxmlformats.org/officeDocument/2006/relationships/image" Target="../media/image38.png"/><Relationship Id="rId10" Type="http://schemas.openxmlformats.org/officeDocument/2006/relationships/image" Target="../media/image13.png"/><Relationship Id="rId4" Type="http://schemas.openxmlformats.org/officeDocument/2006/relationships/image" Target="../media/image46.png"/><Relationship Id="rId9" Type="http://schemas.openxmlformats.org/officeDocument/2006/relationships/image" Target="../media/image61.png"/><Relationship Id="rId14"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28.png"/><Relationship Id="rId13" Type="http://schemas.openxmlformats.org/officeDocument/2006/relationships/image" Target="../media/image66.png"/><Relationship Id="rId18" Type="http://schemas.openxmlformats.org/officeDocument/2006/relationships/image" Target="../media/image69.png"/><Relationship Id="rId3" Type="http://schemas.openxmlformats.org/officeDocument/2006/relationships/image" Target="../media/image35.png"/><Relationship Id="rId21" Type="http://schemas.openxmlformats.org/officeDocument/2006/relationships/image" Target="../media/image72.png"/><Relationship Id="rId7" Type="http://schemas.openxmlformats.org/officeDocument/2006/relationships/image" Target="../media/image62.png"/><Relationship Id="rId12" Type="http://schemas.openxmlformats.org/officeDocument/2006/relationships/image" Target="../media/image3.png"/><Relationship Id="rId17" Type="http://schemas.openxmlformats.org/officeDocument/2006/relationships/image" Target="../media/image10.png"/><Relationship Id="rId2" Type="http://schemas.openxmlformats.org/officeDocument/2006/relationships/image" Target="../media/image34.png"/><Relationship Id="rId16" Type="http://schemas.openxmlformats.org/officeDocument/2006/relationships/image" Target="../media/image68.png"/><Relationship Id="rId20" Type="http://schemas.openxmlformats.org/officeDocument/2006/relationships/image" Target="../media/image71.png"/><Relationship Id="rId1" Type="http://schemas.openxmlformats.org/officeDocument/2006/relationships/slideLayout" Target="../slideLayouts/slideLayout2.xml"/><Relationship Id="rId6" Type="http://schemas.openxmlformats.org/officeDocument/2006/relationships/image" Target="../media/image37.png"/><Relationship Id="rId11" Type="http://schemas.openxmlformats.org/officeDocument/2006/relationships/image" Target="../media/image65.png"/><Relationship Id="rId5" Type="http://schemas.openxmlformats.org/officeDocument/2006/relationships/image" Target="../media/image38.png"/><Relationship Id="rId15" Type="http://schemas.openxmlformats.org/officeDocument/2006/relationships/image" Target="../media/image29.png"/><Relationship Id="rId10" Type="http://schemas.openxmlformats.org/officeDocument/2006/relationships/image" Target="../media/image64.png"/><Relationship Id="rId19" Type="http://schemas.openxmlformats.org/officeDocument/2006/relationships/image" Target="../media/image70.png"/><Relationship Id="rId4" Type="http://schemas.openxmlformats.org/officeDocument/2006/relationships/image" Target="../media/image36.png"/><Relationship Id="rId9" Type="http://schemas.openxmlformats.org/officeDocument/2006/relationships/image" Target="../media/image63.png"/><Relationship Id="rId14" Type="http://schemas.openxmlformats.org/officeDocument/2006/relationships/image" Target="../media/image67.png"/><Relationship Id="rId22" Type="http://schemas.openxmlformats.org/officeDocument/2006/relationships/image" Target="../media/image73.png"/></Relationships>
</file>

<file path=ppt/slides/_rels/slide10.xml.rels><?xml version="1.0" encoding="UTF-8" standalone="yes"?>
<Relationships xmlns="http://schemas.openxmlformats.org/package/2006/relationships"><Relationship Id="rId8" Type="http://schemas.openxmlformats.org/officeDocument/2006/relationships/image" Target="../media/image76.png"/><Relationship Id="rId13" Type="http://schemas.openxmlformats.org/officeDocument/2006/relationships/image" Target="../media/image22.png"/><Relationship Id="rId3" Type="http://schemas.openxmlformats.org/officeDocument/2006/relationships/image" Target="../media/image23.png"/><Relationship Id="rId7" Type="http://schemas.openxmlformats.org/officeDocument/2006/relationships/image" Target="../media/image75.png"/><Relationship Id="rId12" Type="http://schemas.openxmlformats.org/officeDocument/2006/relationships/image" Target="../media/image37.png"/><Relationship Id="rId2" Type="http://schemas.openxmlformats.org/officeDocument/2006/relationships/image" Target="../media/image34.png"/><Relationship Id="rId16" Type="http://schemas.openxmlformats.org/officeDocument/2006/relationships/image" Target="../media/image77.png"/><Relationship Id="rId1" Type="http://schemas.openxmlformats.org/officeDocument/2006/relationships/slideLayout" Target="../slideLayouts/slideLayout2.xml"/><Relationship Id="rId6" Type="http://schemas.openxmlformats.org/officeDocument/2006/relationships/image" Target="../media/image2.png"/><Relationship Id="rId11" Type="http://schemas.openxmlformats.org/officeDocument/2006/relationships/image" Target="../media/image10.png"/><Relationship Id="rId5" Type="http://schemas.openxmlformats.org/officeDocument/2006/relationships/image" Target="../media/image35.png"/><Relationship Id="rId15" Type="http://schemas.openxmlformats.org/officeDocument/2006/relationships/image" Target="../media/image38.png"/><Relationship Id="rId10" Type="http://schemas.openxmlformats.org/officeDocument/2006/relationships/image" Target="../media/image36.png"/><Relationship Id="rId4" Type="http://schemas.openxmlformats.org/officeDocument/2006/relationships/image" Target="../media/image74.png"/><Relationship Id="rId9" Type="http://schemas.openxmlformats.org/officeDocument/2006/relationships/image" Target="../media/image32.png"/><Relationship Id="rId14" Type="http://schemas.openxmlformats.org/officeDocument/2006/relationships/image" Target="../media/image5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5852160" cy="2155952"/>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Theme ID - 2</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Team Name - Hustle</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College Name – MS Ramaiah Institute of Technology</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1- Nidhi C A &amp; 1ms24cs110@msrit.edu</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Submission </a:t>
            </a:r>
            <a:r>
              <a:rPr lang="en-US" sz="1600" dirty="0" err="1">
                <a:solidFill>
                  <a:srgbClr val="63637E"/>
                </a:solidFill>
                <a:latin typeface="Calibri" pitchFamily="34" charset="0"/>
                <a:ea typeface="Calibri" pitchFamily="34" charset="-122"/>
                <a:cs typeface="Calibri" pitchFamily="34" charset="-120"/>
              </a:rPr>
              <a:t>Github</a:t>
            </a:r>
            <a:r>
              <a:rPr lang="en-US" sz="1600" dirty="0">
                <a:solidFill>
                  <a:srgbClr val="63637E"/>
                </a:solidFill>
                <a:latin typeface="Calibri" pitchFamily="34" charset="0"/>
                <a:ea typeface="Calibri" pitchFamily="34" charset="-122"/>
                <a:cs typeface="Calibri" pitchFamily="34" charset="-120"/>
              </a:rPr>
              <a:t> link - https://github.com/nidhica/SGTE-Smart-Guided-Troubleshooting-Engine</a:t>
            </a:r>
          </a:p>
          <a:p>
            <a:pPr marL="177800" indent="-177800">
              <a:spcAft>
                <a:spcPts val="500"/>
              </a:spcAft>
              <a:buSzPct val="100000"/>
              <a:buChar char="•"/>
            </a:pPr>
            <a:endParaRPr lang="en-US" sz="1600" dirty="0">
              <a:solidFill>
                <a:srgbClr val="63637E"/>
              </a:solidFill>
              <a:latin typeface="Calibri" pitchFamily="34" charset="0"/>
              <a:ea typeface="Calibri" pitchFamily="34" charset="-122"/>
              <a:cs typeface="Calibri" pitchFamily="34" charset="-120"/>
            </a:endParaRP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Rectangle 38">
            <a:extLst>
              <a:ext uri="{FF2B5EF4-FFF2-40B4-BE49-F238E27FC236}">
                <a16:creationId xmlns:a16="http://schemas.microsoft.com/office/drawing/2014/main" id="{1E70A0A8-7B29-CAD8-00E8-9CF162C78EBC}"/>
              </a:ext>
            </a:extLst>
          </p:cNvPr>
          <p:cNvSpPr/>
          <p:nvPr/>
        </p:nvSpPr>
        <p:spPr>
          <a:xfrm>
            <a:off x="10293204" y="2132314"/>
            <a:ext cx="1254758" cy="963034"/>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7" name="Rectangle 36">
            <a:extLst>
              <a:ext uri="{FF2B5EF4-FFF2-40B4-BE49-F238E27FC236}">
                <a16:creationId xmlns:a16="http://schemas.microsoft.com/office/drawing/2014/main" id="{90E50553-7EDD-1CBE-B628-298EA7BB49EA}"/>
              </a:ext>
            </a:extLst>
          </p:cNvPr>
          <p:cNvSpPr/>
          <p:nvPr/>
        </p:nvSpPr>
        <p:spPr>
          <a:xfrm>
            <a:off x="8693273" y="2135017"/>
            <a:ext cx="1254758" cy="963034"/>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5" name="Rectangle 34">
            <a:extLst>
              <a:ext uri="{FF2B5EF4-FFF2-40B4-BE49-F238E27FC236}">
                <a16:creationId xmlns:a16="http://schemas.microsoft.com/office/drawing/2014/main" id="{E2174062-B964-CF9A-99C8-726182B3E64D}"/>
              </a:ext>
            </a:extLst>
          </p:cNvPr>
          <p:cNvSpPr/>
          <p:nvPr/>
        </p:nvSpPr>
        <p:spPr>
          <a:xfrm>
            <a:off x="7049986" y="2134374"/>
            <a:ext cx="1254758" cy="963034"/>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Rectangle 32">
            <a:extLst>
              <a:ext uri="{FF2B5EF4-FFF2-40B4-BE49-F238E27FC236}">
                <a16:creationId xmlns:a16="http://schemas.microsoft.com/office/drawing/2014/main" id="{8F9C6A06-FA33-DCC6-22E1-0CBAE6F88341}"/>
              </a:ext>
            </a:extLst>
          </p:cNvPr>
          <p:cNvSpPr/>
          <p:nvPr/>
        </p:nvSpPr>
        <p:spPr>
          <a:xfrm>
            <a:off x="5185362" y="2145177"/>
            <a:ext cx="1254758" cy="963034"/>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144780" y="1595120"/>
            <a:ext cx="11902440" cy="2174240"/>
          </a:xfrm>
        </p:spPr>
        <p:txBody>
          <a:bodyPr>
            <a:normAutofit/>
          </a:bodyPr>
          <a:lstStyle/>
          <a:p>
            <a:r>
              <a:rPr lang="en-IN" sz="4800" b="1" dirty="0">
                <a:solidFill>
                  <a:schemeClr val="accent6">
                    <a:lumMod val="50000"/>
                  </a:schemeClr>
                </a:solidFill>
                <a:latin typeface="+mn-lt"/>
                <a:cs typeface="Arial" pitchFamily="34" charset="-120"/>
              </a:rPr>
              <a:t>Smart Guided </a:t>
            </a:r>
            <a:br>
              <a:rPr lang="en-IN" sz="4800" b="1" dirty="0">
                <a:solidFill>
                  <a:schemeClr val="accent6">
                    <a:lumMod val="50000"/>
                  </a:schemeClr>
                </a:solidFill>
                <a:latin typeface="+mn-lt"/>
                <a:cs typeface="Arial" pitchFamily="34" charset="-120"/>
              </a:rPr>
            </a:br>
            <a:r>
              <a:rPr lang="en-IN" sz="4800" b="1" dirty="0">
                <a:solidFill>
                  <a:schemeClr val="accent6">
                    <a:lumMod val="50000"/>
                  </a:schemeClr>
                </a:solidFill>
                <a:latin typeface="+mn-lt"/>
                <a:cs typeface="Arial" pitchFamily="34" charset="-120"/>
              </a:rPr>
              <a:t>Troubleshooting </a:t>
            </a:r>
            <a:br>
              <a:rPr lang="en-IN" sz="4800" b="1" dirty="0">
                <a:solidFill>
                  <a:schemeClr val="accent6">
                    <a:lumMod val="50000"/>
                  </a:schemeClr>
                </a:solidFill>
                <a:latin typeface="+mn-lt"/>
                <a:cs typeface="Arial" pitchFamily="34" charset="-120"/>
              </a:rPr>
            </a:br>
            <a:r>
              <a:rPr lang="en-IN" sz="4800" b="1" dirty="0">
                <a:solidFill>
                  <a:schemeClr val="accent6">
                    <a:lumMod val="50000"/>
                  </a:schemeClr>
                </a:solidFill>
                <a:latin typeface="+mn-lt"/>
                <a:cs typeface="Arial" pitchFamily="34" charset="-120"/>
              </a:rPr>
              <a:t>Engine</a:t>
            </a:r>
          </a:p>
        </p:txBody>
      </p:sp>
      <p:sp>
        <p:nvSpPr>
          <p:cNvPr id="5" name="Flowchart: Terminator 4">
            <a:extLst>
              <a:ext uri="{FF2B5EF4-FFF2-40B4-BE49-F238E27FC236}">
                <a16:creationId xmlns:a16="http://schemas.microsoft.com/office/drawing/2014/main" id="{40B2459F-137C-B629-EBAB-D989E12FE203}"/>
              </a:ext>
            </a:extLst>
          </p:cNvPr>
          <p:cNvSpPr/>
          <p:nvPr/>
        </p:nvSpPr>
        <p:spPr>
          <a:xfrm>
            <a:off x="325120" y="701040"/>
            <a:ext cx="1625600" cy="477520"/>
          </a:xfrm>
          <a:prstGeom prst="flowChartTerminator">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Theme 2</a:t>
            </a:r>
            <a:endParaRPr lang="en-IN" dirty="0"/>
          </a:p>
        </p:txBody>
      </p:sp>
      <p:cxnSp>
        <p:nvCxnSpPr>
          <p:cNvPr id="7" name="Straight Connector 6">
            <a:extLst>
              <a:ext uri="{FF2B5EF4-FFF2-40B4-BE49-F238E27FC236}">
                <a16:creationId xmlns:a16="http://schemas.microsoft.com/office/drawing/2014/main" id="{853772CD-02F0-93AB-79D1-EA43C9CED906}"/>
              </a:ext>
            </a:extLst>
          </p:cNvPr>
          <p:cNvCxnSpPr>
            <a:stCxn id="5" idx="3"/>
          </p:cNvCxnSpPr>
          <p:nvPr/>
        </p:nvCxnSpPr>
        <p:spPr>
          <a:xfrm flipV="1">
            <a:off x="1950720" y="924560"/>
            <a:ext cx="4805680" cy="15240"/>
          </a:xfrm>
          <a:prstGeom prst="line">
            <a:avLst/>
          </a:prstGeom>
        </p:spPr>
        <p:style>
          <a:lnRef idx="1">
            <a:schemeClr val="dk1"/>
          </a:lnRef>
          <a:fillRef idx="0">
            <a:schemeClr val="dk1"/>
          </a:fillRef>
          <a:effectRef idx="0">
            <a:schemeClr val="dk1"/>
          </a:effectRef>
          <a:fontRef idx="minor">
            <a:schemeClr val="tx1"/>
          </a:fontRef>
        </p:style>
      </p:cxnSp>
      <p:cxnSp>
        <p:nvCxnSpPr>
          <p:cNvPr id="8" name="Straight Connector 7">
            <a:extLst>
              <a:ext uri="{FF2B5EF4-FFF2-40B4-BE49-F238E27FC236}">
                <a16:creationId xmlns:a16="http://schemas.microsoft.com/office/drawing/2014/main" id="{CE11CC22-9B0A-A7F2-51AA-03EFB40E1FB6}"/>
              </a:ext>
            </a:extLst>
          </p:cNvPr>
          <p:cNvCxnSpPr>
            <a:cxnSpLocks/>
          </p:cNvCxnSpPr>
          <p:nvPr/>
        </p:nvCxnSpPr>
        <p:spPr>
          <a:xfrm>
            <a:off x="210820" y="3916680"/>
            <a:ext cx="1658620" cy="0"/>
          </a:xfrm>
          <a:prstGeom prst="line">
            <a:avLst/>
          </a:prstGeom>
          <a:ln w="57150"/>
        </p:spPr>
        <p:style>
          <a:lnRef idx="1">
            <a:schemeClr val="dk1"/>
          </a:lnRef>
          <a:fillRef idx="0">
            <a:schemeClr val="dk1"/>
          </a:fillRef>
          <a:effectRef idx="0">
            <a:schemeClr val="dk1"/>
          </a:effectRef>
          <a:fontRef idx="minor">
            <a:schemeClr val="tx1"/>
          </a:fontRef>
        </p:style>
      </p:cxnSp>
      <p:sp>
        <p:nvSpPr>
          <p:cNvPr id="11" name="TextBox 10">
            <a:extLst>
              <a:ext uri="{FF2B5EF4-FFF2-40B4-BE49-F238E27FC236}">
                <a16:creationId xmlns:a16="http://schemas.microsoft.com/office/drawing/2014/main" id="{6309714A-A68B-DAD0-500B-F59768287BE2}"/>
              </a:ext>
            </a:extLst>
          </p:cNvPr>
          <p:cNvSpPr txBox="1"/>
          <p:nvPr/>
        </p:nvSpPr>
        <p:spPr>
          <a:xfrm>
            <a:off x="146834" y="4101514"/>
            <a:ext cx="3924921" cy="707886"/>
          </a:xfrm>
          <a:prstGeom prst="rect">
            <a:avLst/>
          </a:prstGeom>
          <a:noFill/>
        </p:spPr>
        <p:txBody>
          <a:bodyPr wrap="none" rtlCol="0">
            <a:spAutoFit/>
          </a:bodyPr>
          <a:lstStyle/>
          <a:p>
            <a:r>
              <a:rPr lang="en-US" sz="2000" b="1" dirty="0"/>
              <a:t>AI-Assisted Device Troubleshooting</a:t>
            </a:r>
          </a:p>
          <a:p>
            <a:r>
              <a:rPr lang="en-US" sz="2000" b="1" dirty="0"/>
              <a:t>and Guided Resolution</a:t>
            </a:r>
            <a:endParaRPr lang="en-IN" sz="2000" b="1" dirty="0"/>
          </a:p>
        </p:txBody>
      </p:sp>
      <p:pic>
        <p:nvPicPr>
          <p:cNvPr id="13" name="Picture 12">
            <a:extLst>
              <a:ext uri="{FF2B5EF4-FFF2-40B4-BE49-F238E27FC236}">
                <a16:creationId xmlns:a16="http://schemas.microsoft.com/office/drawing/2014/main" id="{3DD37AB8-32AB-114E-C354-CEF202FB62A7}"/>
              </a:ext>
            </a:extLst>
          </p:cNvPr>
          <p:cNvPicPr>
            <a:picLocks noChangeAspect="1"/>
          </p:cNvPicPr>
          <p:nvPr/>
        </p:nvPicPr>
        <p:blipFill>
          <a:blip r:embed="rId2">
            <a:duotone>
              <a:schemeClr val="accent6">
                <a:shade val="45000"/>
                <a:satMod val="135000"/>
              </a:schemeClr>
              <a:prstClr val="white"/>
            </a:duotone>
          </a:blip>
          <a:stretch>
            <a:fillRect/>
          </a:stretch>
        </p:blipFill>
        <p:spPr>
          <a:xfrm>
            <a:off x="5386860" y="2195977"/>
            <a:ext cx="869640" cy="869640"/>
          </a:xfrm>
          <a:prstGeom prst="rect">
            <a:avLst/>
          </a:prstGeom>
        </p:spPr>
      </p:pic>
      <p:pic>
        <p:nvPicPr>
          <p:cNvPr id="15" name="Picture 14">
            <a:extLst>
              <a:ext uri="{FF2B5EF4-FFF2-40B4-BE49-F238E27FC236}">
                <a16:creationId xmlns:a16="http://schemas.microsoft.com/office/drawing/2014/main" id="{A1D3AC0B-203B-9E9C-DA36-45146EB0515A}"/>
              </a:ext>
            </a:extLst>
          </p:cNvPr>
          <p:cNvPicPr>
            <a:picLocks noChangeAspect="1"/>
          </p:cNvPicPr>
          <p:nvPr/>
        </p:nvPicPr>
        <p:blipFill>
          <a:blip r:embed="rId3">
            <a:duotone>
              <a:schemeClr val="accent6">
                <a:shade val="45000"/>
                <a:satMod val="135000"/>
              </a:schemeClr>
              <a:prstClr val="white"/>
            </a:duotone>
          </a:blip>
          <a:stretch>
            <a:fillRect/>
          </a:stretch>
        </p:blipFill>
        <p:spPr>
          <a:xfrm>
            <a:off x="7242545" y="2171233"/>
            <a:ext cx="869640" cy="869640"/>
          </a:xfrm>
          <a:prstGeom prst="rect">
            <a:avLst/>
          </a:prstGeom>
        </p:spPr>
      </p:pic>
      <p:pic>
        <p:nvPicPr>
          <p:cNvPr id="17" name="Picture 16">
            <a:extLst>
              <a:ext uri="{FF2B5EF4-FFF2-40B4-BE49-F238E27FC236}">
                <a16:creationId xmlns:a16="http://schemas.microsoft.com/office/drawing/2014/main" id="{23A0259D-2931-5E45-4105-DC61237F03FD}"/>
              </a:ext>
            </a:extLst>
          </p:cNvPr>
          <p:cNvPicPr>
            <a:picLocks noChangeAspect="1"/>
          </p:cNvPicPr>
          <p:nvPr/>
        </p:nvPicPr>
        <p:blipFill>
          <a:blip r:embed="rId4">
            <a:duotone>
              <a:schemeClr val="accent6">
                <a:shade val="45000"/>
                <a:satMod val="135000"/>
              </a:schemeClr>
              <a:prstClr val="white"/>
            </a:duotone>
          </a:blip>
          <a:stretch>
            <a:fillRect/>
          </a:stretch>
        </p:blipFill>
        <p:spPr>
          <a:xfrm>
            <a:off x="8914610" y="2175657"/>
            <a:ext cx="869640" cy="869640"/>
          </a:xfrm>
          <a:prstGeom prst="rect">
            <a:avLst/>
          </a:prstGeom>
        </p:spPr>
      </p:pic>
      <p:pic>
        <p:nvPicPr>
          <p:cNvPr id="19" name="Picture 18">
            <a:extLst>
              <a:ext uri="{FF2B5EF4-FFF2-40B4-BE49-F238E27FC236}">
                <a16:creationId xmlns:a16="http://schemas.microsoft.com/office/drawing/2014/main" id="{A572679F-5D2C-5B7E-2B45-CC9ACA644247}"/>
              </a:ext>
            </a:extLst>
          </p:cNvPr>
          <p:cNvPicPr>
            <a:picLocks noChangeAspect="1"/>
          </p:cNvPicPr>
          <p:nvPr/>
        </p:nvPicPr>
        <p:blipFill>
          <a:blip r:embed="rId5">
            <a:duotone>
              <a:schemeClr val="accent6">
                <a:shade val="45000"/>
                <a:satMod val="135000"/>
              </a:schemeClr>
              <a:prstClr val="white"/>
            </a:duotone>
          </a:blip>
          <a:stretch>
            <a:fillRect/>
          </a:stretch>
        </p:blipFill>
        <p:spPr>
          <a:xfrm>
            <a:off x="10377785" y="2155338"/>
            <a:ext cx="869639" cy="869639"/>
          </a:xfrm>
          <a:prstGeom prst="rect">
            <a:avLst/>
          </a:prstGeom>
        </p:spPr>
      </p:pic>
      <p:pic>
        <p:nvPicPr>
          <p:cNvPr id="23" name="Picture 22">
            <a:extLst>
              <a:ext uri="{FF2B5EF4-FFF2-40B4-BE49-F238E27FC236}">
                <a16:creationId xmlns:a16="http://schemas.microsoft.com/office/drawing/2014/main" id="{88CC3598-ECC9-7D49-CC83-099A61294425}"/>
              </a:ext>
            </a:extLst>
          </p:cNvPr>
          <p:cNvPicPr>
            <a:picLocks noChangeAspect="1"/>
          </p:cNvPicPr>
          <p:nvPr/>
        </p:nvPicPr>
        <p:blipFill>
          <a:blip r:embed="rId6">
            <a:duotone>
              <a:schemeClr val="accent6">
                <a:shade val="45000"/>
                <a:satMod val="135000"/>
              </a:schemeClr>
              <a:prstClr val="white"/>
            </a:duotone>
          </a:blip>
          <a:stretch>
            <a:fillRect/>
          </a:stretch>
        </p:blipFill>
        <p:spPr>
          <a:xfrm>
            <a:off x="10853244" y="2527137"/>
            <a:ext cx="497840" cy="497840"/>
          </a:xfrm>
          <a:prstGeom prst="rect">
            <a:avLst/>
          </a:prstGeom>
        </p:spPr>
      </p:pic>
      <p:sp>
        <p:nvSpPr>
          <p:cNvPr id="26" name="TextBox 25">
            <a:extLst>
              <a:ext uri="{FF2B5EF4-FFF2-40B4-BE49-F238E27FC236}">
                <a16:creationId xmlns:a16="http://schemas.microsoft.com/office/drawing/2014/main" id="{777D9E6A-55CD-5903-41EE-F49CACA49AC3}"/>
              </a:ext>
            </a:extLst>
          </p:cNvPr>
          <p:cNvSpPr txBox="1"/>
          <p:nvPr/>
        </p:nvSpPr>
        <p:spPr>
          <a:xfrm>
            <a:off x="5176521" y="3118371"/>
            <a:ext cx="1168397" cy="646331"/>
          </a:xfrm>
          <a:prstGeom prst="rect">
            <a:avLst/>
          </a:prstGeom>
          <a:noFill/>
        </p:spPr>
        <p:txBody>
          <a:bodyPr wrap="none" rtlCol="0">
            <a:spAutoFit/>
          </a:bodyPr>
          <a:lstStyle/>
          <a:p>
            <a:pPr algn="ctr"/>
            <a:r>
              <a:rPr lang="en-US" b="1" dirty="0"/>
              <a:t>User</a:t>
            </a:r>
          </a:p>
          <a:p>
            <a:r>
              <a:rPr lang="en-US" b="1" dirty="0"/>
              <a:t>Complaint</a:t>
            </a:r>
            <a:endParaRPr lang="en-IN" b="1" dirty="0"/>
          </a:p>
        </p:txBody>
      </p:sp>
      <p:sp>
        <p:nvSpPr>
          <p:cNvPr id="28" name="TextBox 27">
            <a:extLst>
              <a:ext uri="{FF2B5EF4-FFF2-40B4-BE49-F238E27FC236}">
                <a16:creationId xmlns:a16="http://schemas.microsoft.com/office/drawing/2014/main" id="{19744703-4F73-8BA4-2C9E-673385595CB9}"/>
              </a:ext>
            </a:extLst>
          </p:cNvPr>
          <p:cNvSpPr txBox="1"/>
          <p:nvPr/>
        </p:nvSpPr>
        <p:spPr>
          <a:xfrm>
            <a:off x="6803439" y="3077731"/>
            <a:ext cx="1592487" cy="646331"/>
          </a:xfrm>
          <a:prstGeom prst="rect">
            <a:avLst/>
          </a:prstGeom>
          <a:noFill/>
        </p:spPr>
        <p:txBody>
          <a:bodyPr wrap="none" rtlCol="0">
            <a:spAutoFit/>
          </a:bodyPr>
          <a:lstStyle/>
          <a:p>
            <a:pPr algn="ctr"/>
            <a:r>
              <a:rPr lang="en-US" b="1" dirty="0"/>
              <a:t>AI</a:t>
            </a:r>
          </a:p>
          <a:p>
            <a:pPr algn="ctr"/>
            <a:r>
              <a:rPr lang="en-US" b="1" dirty="0"/>
              <a:t>Understanding</a:t>
            </a:r>
            <a:endParaRPr lang="en-IN" b="1" dirty="0"/>
          </a:p>
        </p:txBody>
      </p:sp>
      <p:sp>
        <p:nvSpPr>
          <p:cNvPr id="30" name="TextBox 29">
            <a:extLst>
              <a:ext uri="{FF2B5EF4-FFF2-40B4-BE49-F238E27FC236}">
                <a16:creationId xmlns:a16="http://schemas.microsoft.com/office/drawing/2014/main" id="{BB2823FF-98E8-B369-2919-7187125993A2}"/>
              </a:ext>
            </a:extLst>
          </p:cNvPr>
          <p:cNvSpPr txBox="1"/>
          <p:nvPr/>
        </p:nvSpPr>
        <p:spPr>
          <a:xfrm>
            <a:off x="8518986" y="3189491"/>
            <a:ext cx="1737720" cy="369332"/>
          </a:xfrm>
          <a:prstGeom prst="rect">
            <a:avLst/>
          </a:prstGeom>
          <a:noFill/>
        </p:spPr>
        <p:txBody>
          <a:bodyPr wrap="none" rtlCol="0">
            <a:spAutoFit/>
          </a:bodyPr>
          <a:lstStyle/>
          <a:p>
            <a:pPr algn="ctr"/>
            <a:r>
              <a:rPr lang="en-US" b="1" dirty="0"/>
              <a:t>Troubleshooting</a:t>
            </a:r>
            <a:endParaRPr lang="en-IN" b="1" dirty="0"/>
          </a:p>
        </p:txBody>
      </p:sp>
      <p:sp>
        <p:nvSpPr>
          <p:cNvPr id="32" name="TextBox 31">
            <a:extLst>
              <a:ext uri="{FF2B5EF4-FFF2-40B4-BE49-F238E27FC236}">
                <a16:creationId xmlns:a16="http://schemas.microsoft.com/office/drawing/2014/main" id="{4B46067E-FA80-1282-EEED-3B0234DE65AD}"/>
              </a:ext>
            </a:extLst>
          </p:cNvPr>
          <p:cNvSpPr txBox="1"/>
          <p:nvPr/>
        </p:nvSpPr>
        <p:spPr>
          <a:xfrm>
            <a:off x="10431777" y="3108211"/>
            <a:ext cx="1203984" cy="646331"/>
          </a:xfrm>
          <a:prstGeom prst="rect">
            <a:avLst/>
          </a:prstGeom>
          <a:noFill/>
        </p:spPr>
        <p:txBody>
          <a:bodyPr wrap="none" rtlCol="0">
            <a:spAutoFit/>
          </a:bodyPr>
          <a:lstStyle/>
          <a:p>
            <a:pPr algn="ctr"/>
            <a:r>
              <a:rPr lang="en-US" b="1" dirty="0"/>
              <a:t>Guided</a:t>
            </a:r>
          </a:p>
          <a:p>
            <a:pPr algn="ctr"/>
            <a:r>
              <a:rPr lang="en-US" b="1" dirty="0"/>
              <a:t>Resolution</a:t>
            </a:r>
            <a:endParaRPr lang="en-IN" b="1" dirty="0"/>
          </a:p>
        </p:txBody>
      </p:sp>
      <p:cxnSp>
        <p:nvCxnSpPr>
          <p:cNvPr id="41" name="Straight Arrow Connector 40">
            <a:extLst>
              <a:ext uri="{FF2B5EF4-FFF2-40B4-BE49-F238E27FC236}">
                <a16:creationId xmlns:a16="http://schemas.microsoft.com/office/drawing/2014/main" id="{F84ECCE4-3230-59B7-1775-40E064A88B3E}"/>
              </a:ext>
            </a:extLst>
          </p:cNvPr>
          <p:cNvCxnSpPr/>
          <p:nvPr/>
        </p:nvCxnSpPr>
        <p:spPr>
          <a:xfrm>
            <a:off x="6532880" y="2600960"/>
            <a:ext cx="396240" cy="0"/>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1EC105F8-B1B6-D7D7-3F8A-414A47128F66}"/>
              </a:ext>
            </a:extLst>
          </p:cNvPr>
          <p:cNvCxnSpPr>
            <a:cxnSpLocks/>
          </p:cNvCxnSpPr>
          <p:nvPr/>
        </p:nvCxnSpPr>
        <p:spPr>
          <a:xfrm>
            <a:off x="8365446" y="2590800"/>
            <a:ext cx="297347" cy="0"/>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236029C4-E057-44CE-7052-6A151D158A11}"/>
              </a:ext>
            </a:extLst>
          </p:cNvPr>
          <p:cNvCxnSpPr>
            <a:cxnSpLocks/>
          </p:cNvCxnSpPr>
          <p:nvPr/>
        </p:nvCxnSpPr>
        <p:spPr>
          <a:xfrm>
            <a:off x="9985697" y="2600960"/>
            <a:ext cx="297347" cy="0"/>
          </a:xfrm>
          <a:prstGeom prst="straightConnector1">
            <a:avLst/>
          </a:prstGeom>
          <a:ln w="3810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64788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C157EB4-6373-12BC-491A-C82031132407}"/>
              </a:ext>
            </a:extLst>
          </p:cNvPr>
          <p:cNvSpPr/>
          <p:nvPr/>
        </p:nvSpPr>
        <p:spPr>
          <a:xfrm>
            <a:off x="6172200" y="985520"/>
            <a:ext cx="6004560" cy="5675301"/>
          </a:xfrm>
          <a:prstGeom prst="rect">
            <a:avLst/>
          </a:prstGeom>
          <a:solidFill>
            <a:schemeClr val="accent2">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Rectangle 4">
            <a:extLst>
              <a:ext uri="{FF2B5EF4-FFF2-40B4-BE49-F238E27FC236}">
                <a16:creationId xmlns:a16="http://schemas.microsoft.com/office/drawing/2014/main" id="{08ACE939-F0C6-2378-04CE-AB4AA88E6894}"/>
              </a:ext>
            </a:extLst>
          </p:cNvPr>
          <p:cNvSpPr/>
          <p:nvPr/>
        </p:nvSpPr>
        <p:spPr>
          <a:xfrm>
            <a:off x="91440" y="985520"/>
            <a:ext cx="6004560" cy="5675301"/>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91440" y="-155705"/>
            <a:ext cx="10515600" cy="1325563"/>
          </a:xfrm>
        </p:spPr>
        <p:txBody>
          <a:bodyPr>
            <a:normAutofit/>
          </a:bodyPr>
          <a:lstStyle/>
          <a:p>
            <a:r>
              <a:rPr lang="en-IN" b="1" dirty="0">
                <a:solidFill>
                  <a:srgbClr val="704EA6"/>
                </a:solidFill>
                <a:latin typeface="+mn-lt"/>
                <a:cs typeface="Arial" pitchFamily="34" charset="-120"/>
              </a:rPr>
              <a:t>Existing Solutions &amp; Gaps</a:t>
            </a:r>
          </a:p>
        </p:txBody>
      </p:sp>
      <p:sp>
        <p:nvSpPr>
          <p:cNvPr id="4" name="TextBox 3">
            <a:extLst>
              <a:ext uri="{FF2B5EF4-FFF2-40B4-BE49-F238E27FC236}">
                <a16:creationId xmlns:a16="http://schemas.microsoft.com/office/drawing/2014/main" id="{E395B6CC-2E34-02CE-ED0A-8FED7793A982}"/>
              </a:ext>
            </a:extLst>
          </p:cNvPr>
          <p:cNvSpPr txBox="1"/>
          <p:nvPr/>
        </p:nvSpPr>
        <p:spPr>
          <a:xfrm>
            <a:off x="6096000" y="7086029"/>
            <a:ext cx="5730240" cy="5078313"/>
          </a:xfrm>
          <a:prstGeom prst="rect">
            <a:avLst/>
          </a:prstGeom>
          <a:noFill/>
        </p:spPr>
        <p:txBody>
          <a:bodyPr wrap="square" rtlCol="0">
            <a:spAutoFit/>
          </a:bodyPr>
          <a:lstStyle/>
          <a:p>
            <a:r>
              <a:rPr lang="en-IN" b="1" dirty="0"/>
              <a:t>Key Gaps</a:t>
            </a:r>
          </a:p>
          <a:p>
            <a:pPr marL="285750" lvl="0" indent="-285750">
              <a:buFont typeface="Arial" panose="020B0604020202020204" pitchFamily="34" charset="0"/>
              <a:buChar char="•"/>
            </a:pPr>
            <a:r>
              <a:rPr lang="en-IN" b="1" dirty="0"/>
              <a:t>Limited Understanding:</a:t>
            </a:r>
            <a:r>
              <a:rPr lang="en-IN" dirty="0"/>
              <a:t> Difficulty interpreting vague, informal, and complex user complaints.</a:t>
            </a:r>
          </a:p>
          <a:p>
            <a:pPr marL="285750" lvl="0" indent="-285750">
              <a:buFont typeface="Arial" panose="020B0604020202020204" pitchFamily="34" charset="0"/>
              <a:buChar char="•"/>
            </a:pPr>
            <a:r>
              <a:rPr lang="en-IN" b="1" dirty="0"/>
              <a:t>Manual Effort:</a:t>
            </a:r>
            <a:r>
              <a:rPr lang="en-IN" dirty="0"/>
              <a:t> Users must search through multiple articles and navigate device settings themselves.</a:t>
            </a:r>
          </a:p>
          <a:p>
            <a:pPr marL="285750" lvl="0" indent="-285750">
              <a:buFont typeface="Arial" panose="020B0604020202020204" pitchFamily="34" charset="0"/>
              <a:buChar char="•"/>
            </a:pPr>
            <a:r>
              <a:rPr lang="en-IN" b="1" dirty="0"/>
              <a:t>Lack of Personalization:</a:t>
            </a:r>
            <a:r>
              <a:rPr lang="en-IN" dirty="0"/>
              <a:t> Generic solutions may not address the user's specific symptoms or device context.</a:t>
            </a:r>
          </a:p>
          <a:p>
            <a:pPr marL="285750" lvl="0" indent="-285750">
              <a:buFont typeface="Arial" panose="020B0604020202020204" pitchFamily="34" charset="0"/>
              <a:buChar char="•"/>
            </a:pPr>
            <a:r>
              <a:rPr lang="en-IN" b="1" dirty="0"/>
              <a:t>Limited Actionability:</a:t>
            </a:r>
            <a:r>
              <a:rPr lang="en-IN" dirty="0"/>
              <a:t> Instructions may lack direct navigation links to relevant device settings.</a:t>
            </a:r>
          </a:p>
          <a:p>
            <a:pPr marL="285750" lvl="0" indent="-285750">
              <a:buFont typeface="Arial" panose="020B0604020202020204" pitchFamily="34" charset="0"/>
              <a:buChar char="•"/>
            </a:pPr>
            <a:r>
              <a:rPr lang="en-IN" b="1" dirty="0"/>
              <a:t>Insufficient Grounding:</a:t>
            </a:r>
            <a:r>
              <a:rPr lang="en-IN" dirty="0"/>
              <a:t> Recommendations may not always be supported by verified troubleshooting information.</a:t>
            </a:r>
          </a:p>
          <a:p>
            <a:pPr marL="285750" lvl="0" indent="-285750">
              <a:buFont typeface="Arial" panose="020B0604020202020204" pitchFamily="34" charset="0"/>
              <a:buChar char="•"/>
            </a:pPr>
            <a:r>
              <a:rPr lang="en-IN" b="1" dirty="0"/>
              <a:t>Fragmented Troubleshooting:</a:t>
            </a:r>
            <a:r>
              <a:rPr lang="en-IN" dirty="0"/>
              <a:t> Relevant information may be spread across different support articles and resources.</a:t>
            </a:r>
          </a:p>
          <a:p>
            <a:pPr marL="285750" lvl="0" indent="-285750">
              <a:buFont typeface="Arial" panose="020B0604020202020204" pitchFamily="34" charset="0"/>
              <a:buChar char="•"/>
            </a:pPr>
            <a:r>
              <a:rPr lang="en-IN" b="1" dirty="0"/>
              <a:t>Difficulty Handling Complex Symptoms:</a:t>
            </a:r>
            <a:r>
              <a:rPr lang="en-IN" dirty="0"/>
              <a:t> Multiple symptoms occurring together can make it harder to identify the appropriate troubleshooting path.</a:t>
            </a:r>
          </a:p>
        </p:txBody>
      </p:sp>
      <p:sp>
        <p:nvSpPr>
          <p:cNvPr id="9" name="TextBox 8">
            <a:extLst>
              <a:ext uri="{FF2B5EF4-FFF2-40B4-BE49-F238E27FC236}">
                <a16:creationId xmlns:a16="http://schemas.microsoft.com/office/drawing/2014/main" id="{1EB98AF7-A0C7-EE04-A2A5-0927B881D1BE}"/>
              </a:ext>
            </a:extLst>
          </p:cNvPr>
          <p:cNvSpPr txBox="1"/>
          <p:nvPr/>
        </p:nvSpPr>
        <p:spPr>
          <a:xfrm>
            <a:off x="782316" y="1014133"/>
            <a:ext cx="3137590" cy="584775"/>
          </a:xfrm>
          <a:prstGeom prst="rect">
            <a:avLst/>
          </a:prstGeom>
          <a:noFill/>
        </p:spPr>
        <p:txBody>
          <a:bodyPr wrap="none" rtlCol="0">
            <a:spAutoFit/>
          </a:bodyPr>
          <a:lstStyle/>
          <a:p>
            <a:r>
              <a:rPr lang="en-US" sz="3200" b="1" dirty="0">
                <a:solidFill>
                  <a:schemeClr val="accent6">
                    <a:lumMod val="50000"/>
                  </a:schemeClr>
                </a:solidFill>
              </a:rPr>
              <a:t>Existing solutions</a:t>
            </a:r>
            <a:endParaRPr lang="en-IN" sz="3200" b="1" dirty="0">
              <a:solidFill>
                <a:schemeClr val="accent6">
                  <a:lumMod val="50000"/>
                </a:schemeClr>
              </a:solidFill>
            </a:endParaRPr>
          </a:p>
        </p:txBody>
      </p:sp>
      <p:pic>
        <p:nvPicPr>
          <p:cNvPr id="11" name="Picture 10">
            <a:extLst>
              <a:ext uri="{FF2B5EF4-FFF2-40B4-BE49-F238E27FC236}">
                <a16:creationId xmlns:a16="http://schemas.microsoft.com/office/drawing/2014/main" id="{1C0989E2-06FD-FFE9-8599-048B23D5EE14}"/>
              </a:ext>
            </a:extLst>
          </p:cNvPr>
          <p:cNvPicPr>
            <a:picLocks noChangeAspect="1"/>
          </p:cNvPicPr>
          <p:nvPr/>
        </p:nvPicPr>
        <p:blipFill>
          <a:blip r:embed="rId2"/>
          <a:stretch>
            <a:fillRect/>
          </a:stretch>
        </p:blipFill>
        <p:spPr>
          <a:xfrm>
            <a:off x="198117" y="1067760"/>
            <a:ext cx="477522" cy="477522"/>
          </a:xfrm>
          <a:prstGeom prst="rect">
            <a:avLst/>
          </a:prstGeom>
        </p:spPr>
      </p:pic>
      <p:sp>
        <p:nvSpPr>
          <p:cNvPr id="12" name="Rectangle 11">
            <a:extLst>
              <a:ext uri="{FF2B5EF4-FFF2-40B4-BE49-F238E27FC236}">
                <a16:creationId xmlns:a16="http://schemas.microsoft.com/office/drawing/2014/main" id="{FED2D909-2952-C84C-EE19-DC36E5193F3F}"/>
              </a:ext>
            </a:extLst>
          </p:cNvPr>
          <p:cNvSpPr/>
          <p:nvPr/>
        </p:nvSpPr>
        <p:spPr>
          <a:xfrm>
            <a:off x="198117" y="1635760"/>
            <a:ext cx="5755643" cy="931653"/>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6B87CDB1-F450-2413-E42F-9EEEC7F5A0D5}"/>
              </a:ext>
            </a:extLst>
          </p:cNvPr>
          <p:cNvPicPr>
            <a:picLocks noChangeAspect="1"/>
          </p:cNvPicPr>
          <p:nvPr/>
        </p:nvPicPr>
        <p:blipFill>
          <a:blip r:embed="rId3"/>
          <a:stretch>
            <a:fillRect/>
          </a:stretch>
        </p:blipFill>
        <p:spPr>
          <a:xfrm>
            <a:off x="322579" y="1748526"/>
            <a:ext cx="706120" cy="706120"/>
          </a:xfrm>
          <a:prstGeom prst="rect">
            <a:avLst/>
          </a:prstGeom>
        </p:spPr>
      </p:pic>
      <p:sp>
        <p:nvSpPr>
          <p:cNvPr id="15" name="TextBox 14">
            <a:extLst>
              <a:ext uri="{FF2B5EF4-FFF2-40B4-BE49-F238E27FC236}">
                <a16:creationId xmlns:a16="http://schemas.microsoft.com/office/drawing/2014/main" id="{95EAFEB5-5F1A-2BC7-27AD-205375AAAAF1}"/>
              </a:ext>
            </a:extLst>
          </p:cNvPr>
          <p:cNvSpPr txBox="1"/>
          <p:nvPr/>
        </p:nvSpPr>
        <p:spPr>
          <a:xfrm>
            <a:off x="1153161" y="1610799"/>
            <a:ext cx="4800599" cy="1169551"/>
          </a:xfrm>
          <a:prstGeom prst="rect">
            <a:avLst/>
          </a:prstGeom>
          <a:noFill/>
        </p:spPr>
        <p:txBody>
          <a:bodyPr wrap="square" rtlCol="0">
            <a:spAutoFit/>
          </a:bodyPr>
          <a:lstStyle/>
          <a:p>
            <a:r>
              <a:rPr lang="en-IN" sz="1400" b="1" dirty="0">
                <a:solidFill>
                  <a:schemeClr val="accent6">
                    <a:lumMod val="50000"/>
                  </a:schemeClr>
                </a:solidFill>
              </a:rPr>
              <a:t>Traditional Customer Support:</a:t>
            </a:r>
            <a:r>
              <a:rPr lang="en-IN" sz="1400" dirty="0">
                <a:solidFill>
                  <a:schemeClr val="accent6">
                    <a:lumMod val="50000"/>
                  </a:schemeClr>
                </a:solidFill>
              </a:rPr>
              <a:t> </a:t>
            </a:r>
          </a:p>
          <a:p>
            <a:r>
              <a:rPr lang="en-IN" sz="1400" dirty="0"/>
              <a:t>Users contact support agents who manually diagnose issues and suggest solutions. This often involves multiple interactions to identify the problem. </a:t>
            </a:r>
          </a:p>
          <a:p>
            <a:endParaRPr lang="en-IN" sz="1400" dirty="0"/>
          </a:p>
        </p:txBody>
      </p:sp>
      <p:sp>
        <p:nvSpPr>
          <p:cNvPr id="17" name="Rectangle 16">
            <a:extLst>
              <a:ext uri="{FF2B5EF4-FFF2-40B4-BE49-F238E27FC236}">
                <a16:creationId xmlns:a16="http://schemas.microsoft.com/office/drawing/2014/main" id="{A1CCB01E-F7E3-8D5D-E0A7-A3C3A0F10719}"/>
              </a:ext>
            </a:extLst>
          </p:cNvPr>
          <p:cNvSpPr/>
          <p:nvPr/>
        </p:nvSpPr>
        <p:spPr>
          <a:xfrm>
            <a:off x="198117" y="2654058"/>
            <a:ext cx="5755643" cy="931653"/>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Rectangle 18">
            <a:extLst>
              <a:ext uri="{FF2B5EF4-FFF2-40B4-BE49-F238E27FC236}">
                <a16:creationId xmlns:a16="http://schemas.microsoft.com/office/drawing/2014/main" id="{3C39BC85-7FF9-6B3A-042E-DEE94CA43C5C}"/>
              </a:ext>
            </a:extLst>
          </p:cNvPr>
          <p:cNvSpPr/>
          <p:nvPr/>
        </p:nvSpPr>
        <p:spPr>
          <a:xfrm>
            <a:off x="193037" y="3672356"/>
            <a:ext cx="5755643" cy="931653"/>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Rectangle 20">
            <a:extLst>
              <a:ext uri="{FF2B5EF4-FFF2-40B4-BE49-F238E27FC236}">
                <a16:creationId xmlns:a16="http://schemas.microsoft.com/office/drawing/2014/main" id="{6AF9F686-9A99-61C7-D39E-826E0D104D9D}"/>
              </a:ext>
            </a:extLst>
          </p:cNvPr>
          <p:cNvSpPr/>
          <p:nvPr/>
        </p:nvSpPr>
        <p:spPr>
          <a:xfrm>
            <a:off x="193037" y="4697556"/>
            <a:ext cx="5755643" cy="931653"/>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Rectangle 22">
            <a:extLst>
              <a:ext uri="{FF2B5EF4-FFF2-40B4-BE49-F238E27FC236}">
                <a16:creationId xmlns:a16="http://schemas.microsoft.com/office/drawing/2014/main" id="{F6547A38-D305-B025-470E-D16233C9350A}"/>
              </a:ext>
            </a:extLst>
          </p:cNvPr>
          <p:cNvSpPr/>
          <p:nvPr/>
        </p:nvSpPr>
        <p:spPr>
          <a:xfrm>
            <a:off x="215898" y="5688036"/>
            <a:ext cx="5755643" cy="931653"/>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5" name="Picture 24">
            <a:extLst>
              <a:ext uri="{FF2B5EF4-FFF2-40B4-BE49-F238E27FC236}">
                <a16:creationId xmlns:a16="http://schemas.microsoft.com/office/drawing/2014/main" id="{C2A2F579-3146-2FD3-A2ED-61E61642C27C}"/>
              </a:ext>
            </a:extLst>
          </p:cNvPr>
          <p:cNvPicPr>
            <a:picLocks noChangeAspect="1"/>
          </p:cNvPicPr>
          <p:nvPr/>
        </p:nvPicPr>
        <p:blipFill>
          <a:blip r:embed="rId4">
            <a:duotone>
              <a:schemeClr val="accent6">
                <a:shade val="45000"/>
                <a:satMod val="135000"/>
              </a:schemeClr>
              <a:prstClr val="white"/>
            </a:duotone>
          </a:blip>
          <a:stretch>
            <a:fillRect/>
          </a:stretch>
        </p:blipFill>
        <p:spPr>
          <a:xfrm>
            <a:off x="322579" y="2657503"/>
            <a:ext cx="866533" cy="866533"/>
          </a:xfrm>
          <a:prstGeom prst="rect">
            <a:avLst/>
          </a:prstGeom>
        </p:spPr>
      </p:pic>
      <p:sp>
        <p:nvSpPr>
          <p:cNvPr id="29" name="TextBox 28">
            <a:extLst>
              <a:ext uri="{FF2B5EF4-FFF2-40B4-BE49-F238E27FC236}">
                <a16:creationId xmlns:a16="http://schemas.microsoft.com/office/drawing/2014/main" id="{5164D131-7D94-8452-3633-A8D75E5C2C90}"/>
              </a:ext>
            </a:extLst>
          </p:cNvPr>
          <p:cNvSpPr txBox="1"/>
          <p:nvPr/>
        </p:nvSpPr>
        <p:spPr>
          <a:xfrm>
            <a:off x="1272543" y="2646560"/>
            <a:ext cx="4800599" cy="1169551"/>
          </a:xfrm>
          <a:prstGeom prst="rect">
            <a:avLst/>
          </a:prstGeom>
          <a:noFill/>
        </p:spPr>
        <p:txBody>
          <a:bodyPr wrap="square" rtlCol="0">
            <a:spAutoFit/>
          </a:bodyPr>
          <a:lstStyle/>
          <a:p>
            <a:r>
              <a:rPr lang="en-IN" sz="1400" b="1" dirty="0">
                <a:solidFill>
                  <a:schemeClr val="accent6">
                    <a:lumMod val="50000"/>
                  </a:schemeClr>
                </a:solidFill>
              </a:rPr>
              <a:t>Knowledge Base Systems:</a:t>
            </a:r>
            <a:r>
              <a:rPr lang="en-IN" sz="1400" dirty="0">
                <a:solidFill>
                  <a:schemeClr val="accent6">
                    <a:lumMod val="50000"/>
                  </a:schemeClr>
                </a:solidFill>
              </a:rPr>
              <a:t> </a:t>
            </a:r>
          </a:p>
          <a:p>
            <a:r>
              <a:rPr lang="en-IN" sz="1400" dirty="0"/>
              <a:t>Provide troubleshooting articles and step-by-step instructions for common device problems. Users must search for relevant articles themselves. </a:t>
            </a:r>
          </a:p>
          <a:p>
            <a:endParaRPr lang="en-IN" sz="1400" dirty="0"/>
          </a:p>
        </p:txBody>
      </p:sp>
      <p:pic>
        <p:nvPicPr>
          <p:cNvPr id="31" name="Picture 30">
            <a:extLst>
              <a:ext uri="{FF2B5EF4-FFF2-40B4-BE49-F238E27FC236}">
                <a16:creationId xmlns:a16="http://schemas.microsoft.com/office/drawing/2014/main" id="{3AD212B7-818C-3E84-DBF7-48DA7E253EA0}"/>
              </a:ext>
            </a:extLst>
          </p:cNvPr>
          <p:cNvPicPr>
            <a:picLocks noChangeAspect="1"/>
          </p:cNvPicPr>
          <p:nvPr/>
        </p:nvPicPr>
        <p:blipFill>
          <a:blip r:embed="rId5">
            <a:clrChange>
              <a:clrFrom>
                <a:srgbClr val="000000">
                  <a:alpha val="0"/>
                </a:srgbClr>
              </a:clrFrom>
              <a:clrTo>
                <a:srgbClr val="000000">
                  <a:alpha val="0"/>
                </a:srgbClr>
              </a:clrTo>
            </a:clrChange>
            <a:duotone>
              <a:schemeClr val="accent6">
                <a:shade val="45000"/>
                <a:satMod val="135000"/>
              </a:schemeClr>
              <a:prstClr val="white"/>
            </a:duotone>
          </a:blip>
          <a:stretch>
            <a:fillRect/>
          </a:stretch>
        </p:blipFill>
        <p:spPr>
          <a:xfrm>
            <a:off x="314955" y="3713914"/>
            <a:ext cx="861067" cy="861067"/>
          </a:xfrm>
          <a:prstGeom prst="rect">
            <a:avLst/>
          </a:prstGeom>
        </p:spPr>
      </p:pic>
      <p:sp>
        <p:nvSpPr>
          <p:cNvPr id="33" name="TextBox 32">
            <a:extLst>
              <a:ext uri="{FF2B5EF4-FFF2-40B4-BE49-F238E27FC236}">
                <a16:creationId xmlns:a16="http://schemas.microsoft.com/office/drawing/2014/main" id="{B9EF2ACE-8483-32DF-C8E9-0B6C9515A3AD}"/>
              </a:ext>
            </a:extLst>
          </p:cNvPr>
          <p:cNvSpPr txBox="1"/>
          <p:nvPr/>
        </p:nvSpPr>
        <p:spPr>
          <a:xfrm>
            <a:off x="1282702" y="3765242"/>
            <a:ext cx="4800599" cy="738664"/>
          </a:xfrm>
          <a:prstGeom prst="rect">
            <a:avLst/>
          </a:prstGeom>
          <a:noFill/>
        </p:spPr>
        <p:txBody>
          <a:bodyPr wrap="square" rtlCol="0">
            <a:spAutoFit/>
          </a:bodyPr>
          <a:lstStyle/>
          <a:p>
            <a:r>
              <a:rPr lang="en-IN" sz="1400" b="1" dirty="0">
                <a:solidFill>
                  <a:schemeClr val="accent6">
                    <a:lumMod val="50000"/>
                  </a:schemeClr>
                </a:solidFill>
              </a:rPr>
              <a:t>Automated Troubleshooting Tools:</a:t>
            </a:r>
            <a:r>
              <a:rPr lang="en-IN" sz="1400" dirty="0">
                <a:solidFill>
                  <a:schemeClr val="accent6">
                    <a:lumMod val="50000"/>
                  </a:schemeClr>
                </a:solidFill>
              </a:rPr>
              <a:t> </a:t>
            </a:r>
          </a:p>
          <a:p>
            <a:r>
              <a:rPr lang="en-IN" sz="1400" dirty="0"/>
              <a:t>Offer predefined diagnostic flows for specific device issues, such as display problems or touchscreen failures.</a:t>
            </a:r>
          </a:p>
        </p:txBody>
      </p:sp>
      <p:pic>
        <p:nvPicPr>
          <p:cNvPr id="35" name="Picture 34">
            <a:extLst>
              <a:ext uri="{FF2B5EF4-FFF2-40B4-BE49-F238E27FC236}">
                <a16:creationId xmlns:a16="http://schemas.microsoft.com/office/drawing/2014/main" id="{8B158566-AB48-48F2-F19D-F8EB8A605340}"/>
              </a:ext>
            </a:extLst>
          </p:cNvPr>
          <p:cNvPicPr>
            <a:picLocks noChangeAspect="1"/>
          </p:cNvPicPr>
          <p:nvPr/>
        </p:nvPicPr>
        <p:blipFill>
          <a:blip r:embed="rId6">
            <a:duotone>
              <a:schemeClr val="accent6">
                <a:shade val="45000"/>
                <a:satMod val="135000"/>
              </a:schemeClr>
              <a:prstClr val="white"/>
            </a:duotone>
          </a:blip>
          <a:stretch>
            <a:fillRect/>
          </a:stretch>
        </p:blipFill>
        <p:spPr>
          <a:xfrm>
            <a:off x="271762" y="4645567"/>
            <a:ext cx="968165" cy="968165"/>
          </a:xfrm>
          <a:prstGeom prst="rect">
            <a:avLst/>
          </a:prstGeom>
        </p:spPr>
      </p:pic>
      <p:sp>
        <p:nvSpPr>
          <p:cNvPr id="37" name="TextBox 36">
            <a:extLst>
              <a:ext uri="{FF2B5EF4-FFF2-40B4-BE49-F238E27FC236}">
                <a16:creationId xmlns:a16="http://schemas.microsoft.com/office/drawing/2014/main" id="{F77B4E33-5B16-F398-E423-B16D8A3063EE}"/>
              </a:ext>
            </a:extLst>
          </p:cNvPr>
          <p:cNvSpPr txBox="1"/>
          <p:nvPr/>
        </p:nvSpPr>
        <p:spPr>
          <a:xfrm>
            <a:off x="1282702" y="4687717"/>
            <a:ext cx="4800599" cy="954107"/>
          </a:xfrm>
          <a:prstGeom prst="rect">
            <a:avLst/>
          </a:prstGeom>
          <a:noFill/>
        </p:spPr>
        <p:txBody>
          <a:bodyPr wrap="square" rtlCol="0">
            <a:spAutoFit/>
          </a:bodyPr>
          <a:lstStyle/>
          <a:p>
            <a:r>
              <a:rPr lang="en-IN" sz="1400" b="1" dirty="0">
                <a:solidFill>
                  <a:schemeClr val="accent6">
                    <a:lumMod val="50000"/>
                  </a:schemeClr>
                </a:solidFill>
              </a:rPr>
              <a:t>Online Communities &amp; Forums:</a:t>
            </a:r>
            <a:r>
              <a:rPr lang="en-IN" sz="1400" dirty="0">
                <a:solidFill>
                  <a:schemeClr val="accent6">
                    <a:lumMod val="50000"/>
                  </a:schemeClr>
                </a:solidFill>
              </a:rPr>
              <a:t> </a:t>
            </a:r>
          </a:p>
          <a:p>
            <a:r>
              <a:rPr lang="en-IN" sz="1400" dirty="0"/>
              <a:t>Users seek solutions from other users who have experienced similar issues, but the advice may vary in accuracy and relevance. </a:t>
            </a:r>
          </a:p>
        </p:txBody>
      </p:sp>
      <p:pic>
        <p:nvPicPr>
          <p:cNvPr id="39" name="Picture 38">
            <a:extLst>
              <a:ext uri="{FF2B5EF4-FFF2-40B4-BE49-F238E27FC236}">
                <a16:creationId xmlns:a16="http://schemas.microsoft.com/office/drawing/2014/main" id="{B877C178-4241-FCC0-7148-EC1AFB7F1D91}"/>
              </a:ext>
            </a:extLst>
          </p:cNvPr>
          <p:cNvPicPr>
            <a:picLocks noChangeAspect="1"/>
          </p:cNvPicPr>
          <p:nvPr/>
        </p:nvPicPr>
        <p:blipFill>
          <a:blip r:embed="rId7">
            <a:duotone>
              <a:schemeClr val="accent6">
                <a:shade val="45000"/>
                <a:satMod val="135000"/>
              </a:schemeClr>
              <a:prstClr val="white"/>
            </a:duotone>
          </a:blip>
          <a:stretch>
            <a:fillRect/>
          </a:stretch>
        </p:blipFill>
        <p:spPr>
          <a:xfrm>
            <a:off x="292760" y="5671125"/>
            <a:ext cx="958724" cy="958724"/>
          </a:xfrm>
          <a:prstGeom prst="rect">
            <a:avLst/>
          </a:prstGeom>
        </p:spPr>
      </p:pic>
      <p:sp>
        <p:nvSpPr>
          <p:cNvPr id="41" name="TextBox 40">
            <a:extLst>
              <a:ext uri="{FF2B5EF4-FFF2-40B4-BE49-F238E27FC236}">
                <a16:creationId xmlns:a16="http://schemas.microsoft.com/office/drawing/2014/main" id="{A9844A6C-AA49-372A-600D-FB0BD3D377C2}"/>
              </a:ext>
            </a:extLst>
          </p:cNvPr>
          <p:cNvSpPr txBox="1"/>
          <p:nvPr/>
        </p:nvSpPr>
        <p:spPr>
          <a:xfrm>
            <a:off x="1272542" y="5795481"/>
            <a:ext cx="4800599" cy="738664"/>
          </a:xfrm>
          <a:prstGeom prst="rect">
            <a:avLst/>
          </a:prstGeom>
          <a:noFill/>
        </p:spPr>
        <p:txBody>
          <a:bodyPr wrap="square" rtlCol="0">
            <a:spAutoFit/>
          </a:bodyPr>
          <a:lstStyle/>
          <a:p>
            <a:r>
              <a:rPr lang="en-IN" sz="1400" b="1" dirty="0">
                <a:solidFill>
                  <a:schemeClr val="accent6">
                    <a:lumMod val="50000"/>
                  </a:schemeClr>
                </a:solidFill>
              </a:rPr>
              <a:t>Device Diagnostic Tools:</a:t>
            </a:r>
            <a:r>
              <a:rPr lang="en-IN" sz="1400" dirty="0">
                <a:solidFill>
                  <a:schemeClr val="accent6">
                    <a:lumMod val="50000"/>
                  </a:schemeClr>
                </a:solidFill>
              </a:rPr>
              <a:t> </a:t>
            </a:r>
          </a:p>
          <a:p>
            <a:r>
              <a:rPr lang="en-IN" sz="1400" dirty="0"/>
              <a:t>Help identify certain hardware or software problems through built-in tests and diagnostic features.</a:t>
            </a:r>
          </a:p>
        </p:txBody>
      </p:sp>
      <p:pic>
        <p:nvPicPr>
          <p:cNvPr id="45" name="Picture 44">
            <a:extLst>
              <a:ext uri="{FF2B5EF4-FFF2-40B4-BE49-F238E27FC236}">
                <a16:creationId xmlns:a16="http://schemas.microsoft.com/office/drawing/2014/main" id="{BF582BCA-76F9-CC78-3BA1-4916F02836EB}"/>
              </a:ext>
            </a:extLst>
          </p:cNvPr>
          <p:cNvPicPr>
            <a:picLocks noChangeAspect="1"/>
          </p:cNvPicPr>
          <p:nvPr/>
        </p:nvPicPr>
        <p:blipFill>
          <a:blip r:embed="rId8"/>
          <a:stretch>
            <a:fillRect/>
          </a:stretch>
        </p:blipFill>
        <p:spPr>
          <a:xfrm>
            <a:off x="6291342" y="1009087"/>
            <a:ext cx="635240" cy="635240"/>
          </a:xfrm>
          <a:prstGeom prst="rect">
            <a:avLst/>
          </a:prstGeom>
        </p:spPr>
      </p:pic>
      <p:sp>
        <p:nvSpPr>
          <p:cNvPr id="47" name="TextBox 46">
            <a:extLst>
              <a:ext uri="{FF2B5EF4-FFF2-40B4-BE49-F238E27FC236}">
                <a16:creationId xmlns:a16="http://schemas.microsoft.com/office/drawing/2014/main" id="{4AAFE3C2-A76A-A6F0-8518-55AD80F59FC0}"/>
              </a:ext>
            </a:extLst>
          </p:cNvPr>
          <p:cNvSpPr txBox="1"/>
          <p:nvPr/>
        </p:nvSpPr>
        <p:spPr>
          <a:xfrm>
            <a:off x="7002782" y="1065183"/>
            <a:ext cx="1735988" cy="584775"/>
          </a:xfrm>
          <a:prstGeom prst="rect">
            <a:avLst/>
          </a:prstGeom>
          <a:noFill/>
        </p:spPr>
        <p:txBody>
          <a:bodyPr wrap="none" rtlCol="0">
            <a:spAutoFit/>
          </a:bodyPr>
          <a:lstStyle/>
          <a:p>
            <a:r>
              <a:rPr lang="en-US" sz="3200" b="1" dirty="0">
                <a:solidFill>
                  <a:srgbClr val="C00000"/>
                </a:solidFill>
              </a:rPr>
              <a:t>Key Gaps</a:t>
            </a:r>
            <a:endParaRPr lang="en-IN" sz="3200" b="1" dirty="0">
              <a:solidFill>
                <a:srgbClr val="C00000"/>
              </a:solidFill>
            </a:endParaRPr>
          </a:p>
        </p:txBody>
      </p:sp>
      <p:sp>
        <p:nvSpPr>
          <p:cNvPr id="49" name="Rectangle 48">
            <a:extLst>
              <a:ext uri="{FF2B5EF4-FFF2-40B4-BE49-F238E27FC236}">
                <a16:creationId xmlns:a16="http://schemas.microsoft.com/office/drawing/2014/main" id="{0438534E-F5D3-ECBA-F5F0-4D2415022EC5}"/>
              </a:ext>
            </a:extLst>
          </p:cNvPr>
          <p:cNvSpPr/>
          <p:nvPr/>
        </p:nvSpPr>
        <p:spPr>
          <a:xfrm>
            <a:off x="6240543" y="1778311"/>
            <a:ext cx="2903458" cy="1249369"/>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1" name="Rectangle 50">
            <a:extLst>
              <a:ext uri="{FF2B5EF4-FFF2-40B4-BE49-F238E27FC236}">
                <a16:creationId xmlns:a16="http://schemas.microsoft.com/office/drawing/2014/main" id="{D42076C3-5E09-493D-1537-465D9F998547}"/>
              </a:ext>
            </a:extLst>
          </p:cNvPr>
          <p:cNvSpPr/>
          <p:nvPr/>
        </p:nvSpPr>
        <p:spPr>
          <a:xfrm>
            <a:off x="9230361" y="1778311"/>
            <a:ext cx="2903458" cy="1249369"/>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3" name="Rectangle 52">
            <a:extLst>
              <a:ext uri="{FF2B5EF4-FFF2-40B4-BE49-F238E27FC236}">
                <a16:creationId xmlns:a16="http://schemas.microsoft.com/office/drawing/2014/main" id="{29995F0F-E27B-9DC9-6599-10336CC92199}"/>
              </a:ext>
            </a:extLst>
          </p:cNvPr>
          <p:cNvSpPr/>
          <p:nvPr/>
        </p:nvSpPr>
        <p:spPr>
          <a:xfrm>
            <a:off x="6240543" y="3090769"/>
            <a:ext cx="2903458" cy="1249369"/>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5" name="Rectangle 54">
            <a:extLst>
              <a:ext uri="{FF2B5EF4-FFF2-40B4-BE49-F238E27FC236}">
                <a16:creationId xmlns:a16="http://schemas.microsoft.com/office/drawing/2014/main" id="{A71B8501-449B-AE5A-B97E-31841F9EED81}"/>
              </a:ext>
            </a:extLst>
          </p:cNvPr>
          <p:cNvSpPr/>
          <p:nvPr/>
        </p:nvSpPr>
        <p:spPr>
          <a:xfrm>
            <a:off x="9230361" y="3111867"/>
            <a:ext cx="2903458" cy="1249369"/>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7" name="Rectangle 56">
            <a:extLst>
              <a:ext uri="{FF2B5EF4-FFF2-40B4-BE49-F238E27FC236}">
                <a16:creationId xmlns:a16="http://schemas.microsoft.com/office/drawing/2014/main" id="{07DB6B9D-4F99-6E3B-54FA-EEC12D17ED1F}"/>
              </a:ext>
            </a:extLst>
          </p:cNvPr>
          <p:cNvSpPr/>
          <p:nvPr/>
        </p:nvSpPr>
        <p:spPr>
          <a:xfrm>
            <a:off x="6240543" y="4421756"/>
            <a:ext cx="2903458" cy="1249369"/>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9" name="Rectangle 58">
            <a:extLst>
              <a:ext uri="{FF2B5EF4-FFF2-40B4-BE49-F238E27FC236}">
                <a16:creationId xmlns:a16="http://schemas.microsoft.com/office/drawing/2014/main" id="{180815F2-0C12-CDE3-2D42-82B4C134800D}"/>
              </a:ext>
            </a:extLst>
          </p:cNvPr>
          <p:cNvSpPr/>
          <p:nvPr/>
        </p:nvSpPr>
        <p:spPr>
          <a:xfrm>
            <a:off x="9230361" y="4434888"/>
            <a:ext cx="2903458" cy="1249369"/>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1" name="Rectangle 60">
            <a:extLst>
              <a:ext uri="{FF2B5EF4-FFF2-40B4-BE49-F238E27FC236}">
                <a16:creationId xmlns:a16="http://schemas.microsoft.com/office/drawing/2014/main" id="{B924A1ED-F703-8020-C842-CDD0FD875870}"/>
              </a:ext>
            </a:extLst>
          </p:cNvPr>
          <p:cNvSpPr/>
          <p:nvPr/>
        </p:nvSpPr>
        <p:spPr>
          <a:xfrm>
            <a:off x="6240542" y="5741910"/>
            <a:ext cx="5860017" cy="857460"/>
          </a:xfrm>
          <a:prstGeom prst="rect">
            <a:avLst/>
          </a:prstGeom>
          <a:solidFill>
            <a:schemeClr val="bg1">
              <a:lumMod val="9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3" name="Picture 62">
            <a:extLst>
              <a:ext uri="{FF2B5EF4-FFF2-40B4-BE49-F238E27FC236}">
                <a16:creationId xmlns:a16="http://schemas.microsoft.com/office/drawing/2014/main" id="{CB69BB73-1DEE-69E7-9930-B650AB0A4950}"/>
              </a:ext>
            </a:extLst>
          </p:cNvPr>
          <p:cNvPicPr>
            <a:picLocks noChangeAspect="1"/>
          </p:cNvPicPr>
          <p:nvPr/>
        </p:nvPicPr>
        <p:blipFill>
          <a:blip r:embed="rId9">
            <a:duotone>
              <a:schemeClr val="accent2">
                <a:shade val="45000"/>
                <a:satMod val="135000"/>
              </a:schemeClr>
              <a:prstClr val="white"/>
            </a:duotone>
          </a:blip>
          <a:stretch>
            <a:fillRect/>
          </a:stretch>
        </p:blipFill>
        <p:spPr>
          <a:xfrm flipH="1">
            <a:off x="6270842" y="2049547"/>
            <a:ext cx="695665" cy="652186"/>
          </a:xfrm>
          <a:prstGeom prst="rect">
            <a:avLst/>
          </a:prstGeom>
        </p:spPr>
      </p:pic>
      <p:pic>
        <p:nvPicPr>
          <p:cNvPr id="65" name="Picture 64">
            <a:extLst>
              <a:ext uri="{FF2B5EF4-FFF2-40B4-BE49-F238E27FC236}">
                <a16:creationId xmlns:a16="http://schemas.microsoft.com/office/drawing/2014/main" id="{82D260E5-5433-C5BE-BE1B-1A06E2623604}"/>
              </a:ext>
            </a:extLst>
          </p:cNvPr>
          <p:cNvPicPr>
            <a:picLocks noChangeAspect="1"/>
          </p:cNvPicPr>
          <p:nvPr/>
        </p:nvPicPr>
        <p:blipFill>
          <a:blip r:embed="rId10">
            <a:duotone>
              <a:schemeClr val="accent2">
                <a:shade val="45000"/>
                <a:satMod val="135000"/>
              </a:schemeClr>
              <a:prstClr val="white"/>
            </a:duotone>
          </a:blip>
          <a:stretch>
            <a:fillRect/>
          </a:stretch>
        </p:blipFill>
        <p:spPr>
          <a:xfrm>
            <a:off x="9387841" y="2144774"/>
            <a:ext cx="649426" cy="649426"/>
          </a:xfrm>
          <a:prstGeom prst="rect">
            <a:avLst/>
          </a:prstGeom>
        </p:spPr>
      </p:pic>
      <p:pic>
        <p:nvPicPr>
          <p:cNvPr id="67" name="Picture 66">
            <a:extLst>
              <a:ext uri="{FF2B5EF4-FFF2-40B4-BE49-F238E27FC236}">
                <a16:creationId xmlns:a16="http://schemas.microsoft.com/office/drawing/2014/main" id="{EA71EEA0-C946-7D09-1018-4D7171682173}"/>
              </a:ext>
            </a:extLst>
          </p:cNvPr>
          <p:cNvPicPr>
            <a:picLocks noChangeAspect="1"/>
          </p:cNvPicPr>
          <p:nvPr/>
        </p:nvPicPr>
        <p:blipFill>
          <a:blip r:embed="rId11">
            <a:duotone>
              <a:schemeClr val="accent2">
                <a:shade val="45000"/>
                <a:satMod val="135000"/>
              </a:schemeClr>
              <a:prstClr val="white"/>
            </a:duotone>
          </a:blip>
          <a:stretch>
            <a:fillRect/>
          </a:stretch>
        </p:blipFill>
        <p:spPr>
          <a:xfrm>
            <a:off x="6240542" y="3340771"/>
            <a:ext cx="746285" cy="746285"/>
          </a:xfrm>
          <a:prstGeom prst="rect">
            <a:avLst/>
          </a:prstGeom>
        </p:spPr>
      </p:pic>
      <p:pic>
        <p:nvPicPr>
          <p:cNvPr id="69" name="Picture 68">
            <a:extLst>
              <a:ext uri="{FF2B5EF4-FFF2-40B4-BE49-F238E27FC236}">
                <a16:creationId xmlns:a16="http://schemas.microsoft.com/office/drawing/2014/main" id="{71B4497B-912B-D367-86D6-D0AE29946AF6}"/>
              </a:ext>
            </a:extLst>
          </p:cNvPr>
          <p:cNvPicPr>
            <a:picLocks noChangeAspect="1"/>
          </p:cNvPicPr>
          <p:nvPr/>
        </p:nvPicPr>
        <p:blipFill>
          <a:blip r:embed="rId12">
            <a:duotone>
              <a:schemeClr val="accent2">
                <a:shade val="45000"/>
                <a:satMod val="135000"/>
              </a:schemeClr>
              <a:prstClr val="white"/>
            </a:duotone>
          </a:blip>
          <a:stretch>
            <a:fillRect/>
          </a:stretch>
        </p:blipFill>
        <p:spPr>
          <a:xfrm>
            <a:off x="9326881" y="3372929"/>
            <a:ext cx="636751" cy="636751"/>
          </a:xfrm>
          <a:prstGeom prst="rect">
            <a:avLst/>
          </a:prstGeom>
        </p:spPr>
      </p:pic>
      <p:pic>
        <p:nvPicPr>
          <p:cNvPr id="71" name="Picture 70">
            <a:extLst>
              <a:ext uri="{FF2B5EF4-FFF2-40B4-BE49-F238E27FC236}">
                <a16:creationId xmlns:a16="http://schemas.microsoft.com/office/drawing/2014/main" id="{BEA6695D-1D7B-82A1-2066-C18970B5B01A}"/>
              </a:ext>
            </a:extLst>
          </p:cNvPr>
          <p:cNvPicPr>
            <a:picLocks noChangeAspect="1"/>
          </p:cNvPicPr>
          <p:nvPr/>
        </p:nvPicPr>
        <p:blipFill>
          <a:blip r:embed="rId13">
            <a:duotone>
              <a:schemeClr val="accent2">
                <a:shade val="45000"/>
                <a:satMod val="135000"/>
              </a:schemeClr>
              <a:prstClr val="white"/>
            </a:duotone>
          </a:blip>
          <a:stretch>
            <a:fillRect/>
          </a:stretch>
        </p:blipFill>
        <p:spPr>
          <a:xfrm>
            <a:off x="6240543" y="4630842"/>
            <a:ext cx="762358" cy="762358"/>
          </a:xfrm>
          <a:prstGeom prst="rect">
            <a:avLst/>
          </a:prstGeom>
        </p:spPr>
      </p:pic>
      <p:pic>
        <p:nvPicPr>
          <p:cNvPr id="73" name="Picture 72">
            <a:extLst>
              <a:ext uri="{FF2B5EF4-FFF2-40B4-BE49-F238E27FC236}">
                <a16:creationId xmlns:a16="http://schemas.microsoft.com/office/drawing/2014/main" id="{91253141-3433-8C2C-986A-27209F638404}"/>
              </a:ext>
            </a:extLst>
          </p:cNvPr>
          <p:cNvPicPr>
            <a:picLocks noChangeAspect="1"/>
          </p:cNvPicPr>
          <p:nvPr/>
        </p:nvPicPr>
        <p:blipFill>
          <a:blip r:embed="rId14">
            <a:duotone>
              <a:schemeClr val="accent2">
                <a:shade val="45000"/>
                <a:satMod val="135000"/>
              </a:schemeClr>
              <a:prstClr val="white"/>
            </a:duotone>
          </a:blip>
          <a:stretch>
            <a:fillRect/>
          </a:stretch>
        </p:blipFill>
        <p:spPr>
          <a:xfrm>
            <a:off x="9248278" y="4788340"/>
            <a:ext cx="628985" cy="628985"/>
          </a:xfrm>
          <a:prstGeom prst="rect">
            <a:avLst/>
          </a:prstGeom>
        </p:spPr>
      </p:pic>
      <p:pic>
        <p:nvPicPr>
          <p:cNvPr id="75" name="Picture 74">
            <a:extLst>
              <a:ext uri="{FF2B5EF4-FFF2-40B4-BE49-F238E27FC236}">
                <a16:creationId xmlns:a16="http://schemas.microsoft.com/office/drawing/2014/main" id="{1D69ACB9-C121-79BC-E0AC-367C70B25660}"/>
              </a:ext>
            </a:extLst>
          </p:cNvPr>
          <p:cNvPicPr>
            <a:picLocks noChangeAspect="1"/>
          </p:cNvPicPr>
          <p:nvPr/>
        </p:nvPicPr>
        <p:blipFill>
          <a:blip r:embed="rId15">
            <a:duotone>
              <a:schemeClr val="accent2">
                <a:shade val="45000"/>
                <a:satMod val="135000"/>
              </a:schemeClr>
              <a:prstClr val="white"/>
            </a:duotone>
          </a:blip>
          <a:stretch>
            <a:fillRect/>
          </a:stretch>
        </p:blipFill>
        <p:spPr>
          <a:xfrm flipH="1">
            <a:off x="6333429" y="5767060"/>
            <a:ext cx="717615" cy="795505"/>
          </a:xfrm>
          <a:prstGeom prst="rect">
            <a:avLst/>
          </a:prstGeom>
        </p:spPr>
      </p:pic>
      <p:sp>
        <p:nvSpPr>
          <p:cNvPr id="76" name="TextBox 75">
            <a:extLst>
              <a:ext uri="{FF2B5EF4-FFF2-40B4-BE49-F238E27FC236}">
                <a16:creationId xmlns:a16="http://schemas.microsoft.com/office/drawing/2014/main" id="{06702F0E-DF93-1EDC-67F8-8A998C6FE04D}"/>
              </a:ext>
            </a:extLst>
          </p:cNvPr>
          <p:cNvSpPr txBox="1"/>
          <p:nvPr/>
        </p:nvSpPr>
        <p:spPr>
          <a:xfrm>
            <a:off x="6887112" y="1872828"/>
            <a:ext cx="2300181" cy="1077218"/>
          </a:xfrm>
          <a:prstGeom prst="rect">
            <a:avLst/>
          </a:prstGeom>
          <a:noFill/>
        </p:spPr>
        <p:txBody>
          <a:bodyPr wrap="none" rtlCol="0">
            <a:spAutoFit/>
          </a:bodyPr>
          <a:lstStyle/>
          <a:p>
            <a:r>
              <a:rPr lang="en-IN" sz="1600" b="1" dirty="0">
                <a:solidFill>
                  <a:srgbClr val="C00000"/>
                </a:solidFill>
              </a:rPr>
              <a:t>Limited Understanding:</a:t>
            </a:r>
            <a:r>
              <a:rPr lang="en-IN" sz="1600" dirty="0">
                <a:solidFill>
                  <a:srgbClr val="C00000"/>
                </a:solidFill>
              </a:rPr>
              <a:t> </a:t>
            </a:r>
          </a:p>
          <a:p>
            <a:r>
              <a:rPr lang="en-IN" sz="1600" dirty="0"/>
              <a:t>Difficulty interpreting </a:t>
            </a:r>
          </a:p>
          <a:p>
            <a:r>
              <a:rPr lang="en-IN" sz="1600" dirty="0"/>
              <a:t>vague, informal, and </a:t>
            </a:r>
          </a:p>
          <a:p>
            <a:r>
              <a:rPr lang="en-IN" sz="1600" dirty="0"/>
              <a:t>complex user complaints.</a:t>
            </a:r>
          </a:p>
        </p:txBody>
      </p:sp>
      <p:sp>
        <p:nvSpPr>
          <p:cNvPr id="80" name="TextBox 79">
            <a:extLst>
              <a:ext uri="{FF2B5EF4-FFF2-40B4-BE49-F238E27FC236}">
                <a16:creationId xmlns:a16="http://schemas.microsoft.com/office/drawing/2014/main" id="{59EF30C3-3F1E-9252-BF74-E7B5D6CE040A}"/>
              </a:ext>
            </a:extLst>
          </p:cNvPr>
          <p:cNvSpPr txBox="1"/>
          <p:nvPr/>
        </p:nvSpPr>
        <p:spPr>
          <a:xfrm>
            <a:off x="9973297" y="1749653"/>
            <a:ext cx="2279663" cy="1569660"/>
          </a:xfrm>
          <a:prstGeom prst="rect">
            <a:avLst/>
          </a:prstGeom>
          <a:noFill/>
        </p:spPr>
        <p:txBody>
          <a:bodyPr wrap="none" rtlCol="0">
            <a:spAutoFit/>
          </a:bodyPr>
          <a:lstStyle/>
          <a:p>
            <a:r>
              <a:rPr lang="en-IN" sz="1600" b="1" dirty="0">
                <a:solidFill>
                  <a:srgbClr val="C00000"/>
                </a:solidFill>
              </a:rPr>
              <a:t>Manual Effort:</a:t>
            </a:r>
            <a:r>
              <a:rPr lang="en-IN" sz="1600" dirty="0">
                <a:solidFill>
                  <a:srgbClr val="C00000"/>
                </a:solidFill>
              </a:rPr>
              <a:t> </a:t>
            </a:r>
          </a:p>
          <a:p>
            <a:r>
              <a:rPr lang="en-IN" sz="1600" dirty="0"/>
              <a:t>Users must search </a:t>
            </a:r>
          </a:p>
          <a:p>
            <a:r>
              <a:rPr lang="en-IN" sz="1600" dirty="0"/>
              <a:t>through multiple articles </a:t>
            </a:r>
          </a:p>
          <a:p>
            <a:r>
              <a:rPr lang="en-IN" sz="1600" dirty="0"/>
              <a:t>and navigate device </a:t>
            </a:r>
          </a:p>
          <a:p>
            <a:r>
              <a:rPr lang="en-IN" sz="1600" dirty="0"/>
              <a:t>settings themselves.</a:t>
            </a:r>
          </a:p>
          <a:p>
            <a:endParaRPr lang="en-IN" sz="1600" dirty="0"/>
          </a:p>
        </p:txBody>
      </p:sp>
      <p:sp>
        <p:nvSpPr>
          <p:cNvPr id="82" name="TextBox 81">
            <a:extLst>
              <a:ext uri="{FF2B5EF4-FFF2-40B4-BE49-F238E27FC236}">
                <a16:creationId xmlns:a16="http://schemas.microsoft.com/office/drawing/2014/main" id="{CB268F47-4FF0-AC93-77E4-31D6F20CC992}"/>
              </a:ext>
            </a:extLst>
          </p:cNvPr>
          <p:cNvSpPr txBox="1"/>
          <p:nvPr/>
        </p:nvSpPr>
        <p:spPr>
          <a:xfrm>
            <a:off x="6876952" y="3059890"/>
            <a:ext cx="2409057" cy="1569660"/>
          </a:xfrm>
          <a:prstGeom prst="rect">
            <a:avLst/>
          </a:prstGeom>
          <a:noFill/>
        </p:spPr>
        <p:txBody>
          <a:bodyPr wrap="none" rtlCol="0">
            <a:spAutoFit/>
          </a:bodyPr>
          <a:lstStyle/>
          <a:p>
            <a:r>
              <a:rPr lang="en-IN" sz="1600" b="1" dirty="0">
                <a:solidFill>
                  <a:srgbClr val="C00000"/>
                </a:solidFill>
              </a:rPr>
              <a:t>Lack of Personalization:</a:t>
            </a:r>
            <a:r>
              <a:rPr lang="en-IN" sz="1600" dirty="0">
                <a:solidFill>
                  <a:srgbClr val="C00000"/>
                </a:solidFill>
              </a:rPr>
              <a:t> </a:t>
            </a:r>
          </a:p>
          <a:p>
            <a:r>
              <a:rPr lang="en-IN" sz="1600" dirty="0"/>
              <a:t>Generic solutions may not </a:t>
            </a:r>
          </a:p>
          <a:p>
            <a:r>
              <a:rPr lang="en-IN" sz="1600" dirty="0"/>
              <a:t>address the user's specific </a:t>
            </a:r>
          </a:p>
          <a:p>
            <a:r>
              <a:rPr lang="en-IN" sz="1600" dirty="0"/>
              <a:t>symptoms or device </a:t>
            </a:r>
          </a:p>
          <a:p>
            <a:r>
              <a:rPr lang="en-IN" sz="1600" dirty="0"/>
              <a:t>context.</a:t>
            </a:r>
          </a:p>
          <a:p>
            <a:endParaRPr lang="en-IN" sz="1600" dirty="0"/>
          </a:p>
        </p:txBody>
      </p:sp>
      <p:sp>
        <p:nvSpPr>
          <p:cNvPr id="84" name="TextBox 83">
            <a:extLst>
              <a:ext uri="{FF2B5EF4-FFF2-40B4-BE49-F238E27FC236}">
                <a16:creationId xmlns:a16="http://schemas.microsoft.com/office/drawing/2014/main" id="{1C8A5D64-90FD-80CA-7681-61D7BEFDF4B7}"/>
              </a:ext>
            </a:extLst>
          </p:cNvPr>
          <p:cNvSpPr txBox="1"/>
          <p:nvPr/>
        </p:nvSpPr>
        <p:spPr>
          <a:xfrm>
            <a:off x="9938608" y="3172436"/>
            <a:ext cx="2260875" cy="1323439"/>
          </a:xfrm>
          <a:prstGeom prst="rect">
            <a:avLst/>
          </a:prstGeom>
          <a:noFill/>
        </p:spPr>
        <p:txBody>
          <a:bodyPr wrap="none" rtlCol="0">
            <a:spAutoFit/>
          </a:bodyPr>
          <a:lstStyle/>
          <a:p>
            <a:r>
              <a:rPr lang="en-IN" sz="1600" b="1" dirty="0">
                <a:solidFill>
                  <a:srgbClr val="C00000"/>
                </a:solidFill>
              </a:rPr>
              <a:t>Limited Actionability:</a:t>
            </a:r>
            <a:r>
              <a:rPr lang="en-IN" sz="1600" dirty="0">
                <a:solidFill>
                  <a:srgbClr val="C00000"/>
                </a:solidFill>
              </a:rPr>
              <a:t> </a:t>
            </a:r>
          </a:p>
          <a:p>
            <a:r>
              <a:rPr lang="en-IN" sz="1600" dirty="0"/>
              <a:t>Instructions may lack </a:t>
            </a:r>
          </a:p>
          <a:p>
            <a:r>
              <a:rPr lang="en-IN" sz="1600" dirty="0"/>
              <a:t>direct navigation links to </a:t>
            </a:r>
          </a:p>
          <a:p>
            <a:r>
              <a:rPr lang="en-IN" sz="1600" dirty="0"/>
              <a:t>relevant device settings.</a:t>
            </a:r>
          </a:p>
          <a:p>
            <a:endParaRPr lang="en-IN" sz="1600" dirty="0"/>
          </a:p>
        </p:txBody>
      </p:sp>
      <p:sp>
        <p:nvSpPr>
          <p:cNvPr id="86" name="TextBox 85">
            <a:extLst>
              <a:ext uri="{FF2B5EF4-FFF2-40B4-BE49-F238E27FC236}">
                <a16:creationId xmlns:a16="http://schemas.microsoft.com/office/drawing/2014/main" id="{E17AD901-5F7C-86EC-8642-64102FB6053A}"/>
              </a:ext>
            </a:extLst>
          </p:cNvPr>
          <p:cNvSpPr txBox="1"/>
          <p:nvPr/>
        </p:nvSpPr>
        <p:spPr>
          <a:xfrm>
            <a:off x="6824267" y="4403697"/>
            <a:ext cx="2489849" cy="1569660"/>
          </a:xfrm>
          <a:prstGeom prst="rect">
            <a:avLst/>
          </a:prstGeom>
          <a:noFill/>
        </p:spPr>
        <p:txBody>
          <a:bodyPr wrap="none" rtlCol="0">
            <a:spAutoFit/>
          </a:bodyPr>
          <a:lstStyle/>
          <a:p>
            <a:r>
              <a:rPr lang="en-IN" sz="1600" b="1" dirty="0">
                <a:solidFill>
                  <a:srgbClr val="C00000"/>
                </a:solidFill>
              </a:rPr>
              <a:t>Insufficient Grounding:</a:t>
            </a:r>
            <a:r>
              <a:rPr lang="en-IN" sz="1600" dirty="0">
                <a:solidFill>
                  <a:srgbClr val="C00000"/>
                </a:solidFill>
              </a:rPr>
              <a:t> </a:t>
            </a:r>
          </a:p>
          <a:p>
            <a:r>
              <a:rPr lang="en-IN" sz="1600" dirty="0"/>
              <a:t>Recommendations may </a:t>
            </a:r>
          </a:p>
          <a:p>
            <a:r>
              <a:rPr lang="en-IN" sz="1600" dirty="0"/>
              <a:t>not always be supported </a:t>
            </a:r>
          </a:p>
          <a:p>
            <a:r>
              <a:rPr lang="en-IN" sz="1600" dirty="0"/>
              <a:t>by verified troubleshooting </a:t>
            </a:r>
          </a:p>
          <a:p>
            <a:r>
              <a:rPr lang="en-IN" sz="1600" dirty="0"/>
              <a:t>information.</a:t>
            </a:r>
          </a:p>
          <a:p>
            <a:endParaRPr lang="en-IN" sz="1600" dirty="0"/>
          </a:p>
        </p:txBody>
      </p:sp>
      <p:sp>
        <p:nvSpPr>
          <p:cNvPr id="88" name="TextBox 87">
            <a:extLst>
              <a:ext uri="{FF2B5EF4-FFF2-40B4-BE49-F238E27FC236}">
                <a16:creationId xmlns:a16="http://schemas.microsoft.com/office/drawing/2014/main" id="{6AA5BE27-5699-1403-8E40-958A0AC5CB18}"/>
              </a:ext>
            </a:extLst>
          </p:cNvPr>
          <p:cNvSpPr txBox="1"/>
          <p:nvPr/>
        </p:nvSpPr>
        <p:spPr>
          <a:xfrm>
            <a:off x="9522424" y="4412466"/>
            <a:ext cx="2743572" cy="338554"/>
          </a:xfrm>
          <a:prstGeom prst="rect">
            <a:avLst/>
          </a:prstGeom>
          <a:noFill/>
        </p:spPr>
        <p:txBody>
          <a:bodyPr wrap="none" rtlCol="0">
            <a:spAutoFit/>
          </a:bodyPr>
          <a:lstStyle/>
          <a:p>
            <a:r>
              <a:rPr lang="en-IN" sz="1600" b="1" dirty="0">
                <a:solidFill>
                  <a:srgbClr val="C00000"/>
                </a:solidFill>
              </a:rPr>
              <a:t>Fragmented Troubleshooting:</a:t>
            </a:r>
            <a:r>
              <a:rPr lang="en-IN" sz="1600" dirty="0">
                <a:solidFill>
                  <a:srgbClr val="C00000"/>
                </a:solidFill>
              </a:rPr>
              <a:t> </a:t>
            </a:r>
          </a:p>
        </p:txBody>
      </p:sp>
      <p:sp>
        <p:nvSpPr>
          <p:cNvPr id="90" name="TextBox 89">
            <a:extLst>
              <a:ext uri="{FF2B5EF4-FFF2-40B4-BE49-F238E27FC236}">
                <a16:creationId xmlns:a16="http://schemas.microsoft.com/office/drawing/2014/main" id="{11DF5FA8-98E4-3FB9-385B-AE52DA2689D4}"/>
              </a:ext>
            </a:extLst>
          </p:cNvPr>
          <p:cNvSpPr txBox="1"/>
          <p:nvPr/>
        </p:nvSpPr>
        <p:spPr>
          <a:xfrm>
            <a:off x="9835434" y="4646019"/>
            <a:ext cx="2388667" cy="1323439"/>
          </a:xfrm>
          <a:prstGeom prst="rect">
            <a:avLst/>
          </a:prstGeom>
          <a:noFill/>
        </p:spPr>
        <p:txBody>
          <a:bodyPr wrap="none" rtlCol="0">
            <a:spAutoFit/>
          </a:bodyPr>
          <a:lstStyle/>
          <a:p>
            <a:r>
              <a:rPr lang="en-IN" sz="1600" dirty="0"/>
              <a:t>Relevant information may </a:t>
            </a:r>
          </a:p>
          <a:p>
            <a:r>
              <a:rPr lang="en-IN" sz="1600" dirty="0"/>
              <a:t>be spread across different </a:t>
            </a:r>
          </a:p>
          <a:p>
            <a:r>
              <a:rPr lang="en-IN" sz="1600" dirty="0"/>
              <a:t>support articles and </a:t>
            </a:r>
          </a:p>
          <a:p>
            <a:r>
              <a:rPr lang="en-IN" sz="1600" dirty="0"/>
              <a:t>resources.</a:t>
            </a:r>
          </a:p>
          <a:p>
            <a:endParaRPr lang="en-IN" sz="1600" dirty="0"/>
          </a:p>
        </p:txBody>
      </p:sp>
      <p:sp>
        <p:nvSpPr>
          <p:cNvPr id="92" name="TextBox 91">
            <a:extLst>
              <a:ext uri="{FF2B5EF4-FFF2-40B4-BE49-F238E27FC236}">
                <a16:creationId xmlns:a16="http://schemas.microsoft.com/office/drawing/2014/main" id="{D2EAB7F7-D8B8-4F53-DA46-6C372497E047}"/>
              </a:ext>
            </a:extLst>
          </p:cNvPr>
          <p:cNvSpPr txBox="1"/>
          <p:nvPr/>
        </p:nvSpPr>
        <p:spPr>
          <a:xfrm>
            <a:off x="7119386" y="5741910"/>
            <a:ext cx="4856716" cy="1077218"/>
          </a:xfrm>
          <a:prstGeom prst="rect">
            <a:avLst/>
          </a:prstGeom>
          <a:noFill/>
        </p:spPr>
        <p:txBody>
          <a:bodyPr wrap="square" rtlCol="0">
            <a:spAutoFit/>
          </a:bodyPr>
          <a:lstStyle/>
          <a:p>
            <a:r>
              <a:rPr lang="en-IN" sz="1600" b="1" dirty="0">
                <a:solidFill>
                  <a:srgbClr val="C00000"/>
                </a:solidFill>
              </a:rPr>
              <a:t>Difficulty Handling Complex Symptoms:</a:t>
            </a:r>
            <a:r>
              <a:rPr lang="en-IN" sz="1600" dirty="0">
                <a:solidFill>
                  <a:srgbClr val="C00000"/>
                </a:solidFill>
              </a:rPr>
              <a:t> </a:t>
            </a:r>
          </a:p>
          <a:p>
            <a:r>
              <a:rPr lang="en-IN" sz="1600" dirty="0"/>
              <a:t>Multiple symptoms occurring together can make it harder to identify the appropriate troubleshooting path.</a:t>
            </a:r>
          </a:p>
          <a:p>
            <a:endParaRPr lang="en-IN" sz="1600" dirty="0"/>
          </a:p>
        </p:txBody>
      </p:sp>
    </p:spTree>
    <p:extLst>
      <p:ext uri="{BB962C8B-B14F-4D97-AF65-F5344CB8AC3E}">
        <p14:creationId xmlns:p14="http://schemas.microsoft.com/office/powerpoint/2010/main" val="154997041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6" name="Rectangle 145">
            <a:extLst>
              <a:ext uri="{FF2B5EF4-FFF2-40B4-BE49-F238E27FC236}">
                <a16:creationId xmlns:a16="http://schemas.microsoft.com/office/drawing/2014/main" id="{2D8C8730-9413-E06C-AE40-EC0B60FE0AD9}"/>
              </a:ext>
            </a:extLst>
          </p:cNvPr>
          <p:cNvSpPr/>
          <p:nvPr/>
        </p:nvSpPr>
        <p:spPr>
          <a:xfrm>
            <a:off x="5640642" y="1236938"/>
            <a:ext cx="6454923" cy="5519462"/>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87331" y="-120"/>
            <a:ext cx="10515600" cy="1325563"/>
          </a:xfrm>
        </p:spPr>
        <p:txBody>
          <a:bodyPr/>
          <a:lstStyle/>
          <a:p>
            <a:r>
              <a:rPr lang="en-IN" b="1" dirty="0">
                <a:solidFill>
                  <a:schemeClr val="accent6">
                    <a:lumMod val="75000"/>
                  </a:schemeClr>
                </a:solidFill>
                <a:latin typeface="+mn-lt"/>
              </a:rPr>
              <a:t>Our Solutions &amp; Architecture Diagram</a:t>
            </a:r>
          </a:p>
        </p:txBody>
      </p:sp>
      <p:sp>
        <p:nvSpPr>
          <p:cNvPr id="4" name="Rectangle: Rounded Corners 3">
            <a:extLst>
              <a:ext uri="{FF2B5EF4-FFF2-40B4-BE49-F238E27FC236}">
                <a16:creationId xmlns:a16="http://schemas.microsoft.com/office/drawing/2014/main" id="{20566025-B17E-BC0E-5C62-6A059CA0223F}"/>
              </a:ext>
            </a:extLst>
          </p:cNvPr>
          <p:cNvSpPr/>
          <p:nvPr/>
        </p:nvSpPr>
        <p:spPr>
          <a:xfrm>
            <a:off x="6720455" y="1687176"/>
            <a:ext cx="3266655" cy="534423"/>
          </a:xfrm>
          <a:prstGeom prst="roundRect">
            <a:avLst/>
          </a:prstGeom>
          <a:solidFill>
            <a:schemeClr val="accent6">
              <a:lumMod val="75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r>
              <a:rPr lang="en-US" sz="1100" b="1" dirty="0">
                <a:ln w="0"/>
                <a:solidFill>
                  <a:schemeClr val="bg1"/>
                </a:solidFill>
                <a:effectLst>
                  <a:outerShdw blurRad="38100" dist="19050" dir="2700000" algn="tl" rotWithShape="0">
                    <a:schemeClr val="dk1">
                      <a:alpha val="40000"/>
                    </a:schemeClr>
                  </a:outerShdw>
                </a:effectLst>
              </a:rPr>
              <a:t>USER/UI</a:t>
            </a:r>
          </a:p>
          <a:p>
            <a:pPr lvl="1"/>
            <a:r>
              <a:rPr lang="en-US" sz="1100" dirty="0">
                <a:ln w="0"/>
                <a:solidFill>
                  <a:schemeClr val="bg1"/>
                </a:solidFill>
                <a:effectLst>
                  <a:outerShdw blurRad="38100" dist="19050" dir="2700000" algn="tl" rotWithShape="0">
                    <a:schemeClr val="dk1">
                      <a:alpha val="40000"/>
                    </a:schemeClr>
                  </a:outerShdw>
                </a:effectLst>
              </a:rPr>
              <a:t>Enters device issue in natural language</a:t>
            </a:r>
            <a:endParaRPr lang="en-IN" sz="1100" dirty="0">
              <a:ln w="0"/>
              <a:solidFill>
                <a:schemeClr val="bg1"/>
              </a:solidFill>
              <a:effectLst>
                <a:outerShdw blurRad="38100" dist="19050" dir="2700000" algn="tl" rotWithShape="0">
                  <a:schemeClr val="dk1">
                    <a:alpha val="40000"/>
                  </a:schemeClr>
                </a:outerShdw>
              </a:effectLst>
            </a:endParaRPr>
          </a:p>
        </p:txBody>
      </p:sp>
      <p:sp>
        <p:nvSpPr>
          <p:cNvPr id="7" name="Rectangle: Rounded Corners 6">
            <a:extLst>
              <a:ext uri="{FF2B5EF4-FFF2-40B4-BE49-F238E27FC236}">
                <a16:creationId xmlns:a16="http://schemas.microsoft.com/office/drawing/2014/main" id="{77D0E597-C34D-D7E9-7939-DC6FF2B49449}"/>
              </a:ext>
            </a:extLst>
          </p:cNvPr>
          <p:cNvSpPr/>
          <p:nvPr/>
        </p:nvSpPr>
        <p:spPr>
          <a:xfrm>
            <a:off x="5779320" y="2408618"/>
            <a:ext cx="4261768" cy="601419"/>
          </a:xfrm>
          <a:prstGeom prst="round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ln w="0"/>
                <a:solidFill>
                  <a:schemeClr val="tx1"/>
                </a:solidFill>
                <a:effectLst>
                  <a:outerShdw blurRad="38100" dist="19050" dir="2700000" algn="tl" rotWithShape="0">
                    <a:schemeClr val="dk1">
                      <a:alpha val="40000"/>
                    </a:schemeClr>
                  </a:outerShdw>
                </a:effectLst>
              </a:rPr>
              <a:t>QUERY ENRICHMENT	Text normalization</a:t>
            </a:r>
          </a:p>
          <a:p>
            <a:pPr algn="ctr"/>
            <a:r>
              <a:rPr lang="en-US" sz="1100" b="1" dirty="0">
                <a:ln w="0"/>
                <a:solidFill>
                  <a:schemeClr val="tx1"/>
                </a:solidFill>
                <a:effectLst>
                  <a:outerShdw blurRad="38100" dist="19050" dir="2700000" algn="tl" rotWithShape="0">
                    <a:schemeClr val="dk1">
                      <a:alpha val="40000"/>
                    </a:schemeClr>
                  </a:outerShdw>
                </a:effectLst>
              </a:rPr>
              <a:t>		                Generate query paraphrases</a:t>
            </a:r>
          </a:p>
          <a:p>
            <a:pPr algn="ctr"/>
            <a:r>
              <a:rPr lang="en-US" sz="1100" b="1" dirty="0">
                <a:ln w="0"/>
                <a:solidFill>
                  <a:schemeClr val="tx1"/>
                </a:solidFill>
                <a:effectLst>
                  <a:outerShdw blurRad="38100" dist="19050" dir="2700000" algn="tl" rotWithShape="0">
                    <a:schemeClr val="dk1">
                      <a:alpha val="40000"/>
                    </a:schemeClr>
                  </a:outerShdw>
                </a:effectLst>
              </a:rPr>
              <a:t>		             Create semantic cache key</a:t>
            </a:r>
            <a:endParaRPr lang="en-IN" sz="1100" dirty="0">
              <a:ln w="0"/>
              <a:solidFill>
                <a:schemeClr val="tx1"/>
              </a:solidFill>
              <a:effectLst>
                <a:outerShdw blurRad="38100" dist="19050" dir="2700000" algn="tl" rotWithShape="0">
                  <a:schemeClr val="dk1">
                    <a:alpha val="40000"/>
                  </a:schemeClr>
                </a:outerShdw>
              </a:effectLst>
            </a:endParaRPr>
          </a:p>
        </p:txBody>
      </p:sp>
      <p:cxnSp>
        <p:nvCxnSpPr>
          <p:cNvPr id="9" name="Straight Arrow Connector 8">
            <a:extLst>
              <a:ext uri="{FF2B5EF4-FFF2-40B4-BE49-F238E27FC236}">
                <a16:creationId xmlns:a16="http://schemas.microsoft.com/office/drawing/2014/main" id="{1548FD36-0151-37F8-721E-B4B05E37897A}"/>
              </a:ext>
            </a:extLst>
          </p:cNvPr>
          <p:cNvCxnSpPr>
            <a:cxnSpLocks/>
          </p:cNvCxnSpPr>
          <p:nvPr/>
        </p:nvCxnSpPr>
        <p:spPr>
          <a:xfrm>
            <a:off x="8239746" y="2223109"/>
            <a:ext cx="0" cy="2005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1" name="Rectangle: Rounded Corners 10">
            <a:extLst>
              <a:ext uri="{FF2B5EF4-FFF2-40B4-BE49-F238E27FC236}">
                <a16:creationId xmlns:a16="http://schemas.microsoft.com/office/drawing/2014/main" id="{9DC9A884-99F8-F1C8-80AA-D9FE2C4A63BE}"/>
              </a:ext>
            </a:extLst>
          </p:cNvPr>
          <p:cNvSpPr/>
          <p:nvPr/>
        </p:nvSpPr>
        <p:spPr>
          <a:xfrm>
            <a:off x="7965590" y="4362044"/>
            <a:ext cx="3783383" cy="736917"/>
          </a:xfrm>
          <a:prstGeom prst="roundRect">
            <a:avLst/>
          </a:prstGeom>
          <a:solidFill>
            <a:schemeClr val="accent6">
              <a:lumMod val="40000"/>
              <a:lumOff val="6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b="1" dirty="0">
              <a:ln w="0"/>
              <a:solidFill>
                <a:schemeClr val="tx1"/>
              </a:solidFill>
              <a:effectLst>
                <a:outerShdw blurRad="38100" dist="19050" dir="2700000" algn="tl" rotWithShape="0">
                  <a:schemeClr val="dk1">
                    <a:alpha val="40000"/>
                  </a:schemeClr>
                </a:outerShdw>
              </a:effectLst>
            </a:endParaRPr>
          </a:p>
          <a:p>
            <a:pPr algn="ctr"/>
            <a:r>
              <a:rPr lang="en-US" sz="1100" b="1" dirty="0">
                <a:ln w="0"/>
                <a:solidFill>
                  <a:schemeClr val="tx1"/>
                </a:solidFill>
                <a:effectLst>
                  <a:outerShdw blurRad="38100" dist="19050" dir="2700000" algn="tl" rotWithShape="0">
                    <a:schemeClr val="dk1">
                      <a:alpha val="40000"/>
                    </a:schemeClr>
                  </a:outerShdw>
                </a:effectLst>
              </a:rPr>
              <a:t>STRUCTURE EXTRACTION	</a:t>
            </a:r>
            <a:r>
              <a:rPr lang="en-US" sz="1100" dirty="0">
                <a:ln w="0"/>
                <a:solidFill>
                  <a:schemeClr val="tx1"/>
                </a:solidFill>
                <a:effectLst>
                  <a:outerShdw blurRad="38100" dist="19050" dir="2700000" algn="tl" rotWithShape="0">
                    <a:schemeClr val="dk1">
                      <a:alpha val="40000"/>
                    </a:schemeClr>
                  </a:outerShdw>
                </a:effectLst>
              </a:rPr>
              <a:t>LLM/Parsing</a:t>
            </a:r>
          </a:p>
          <a:p>
            <a:pPr algn="ctr"/>
            <a:r>
              <a:rPr lang="en-US" sz="1100" dirty="0">
                <a:ln w="0"/>
                <a:solidFill>
                  <a:schemeClr val="tx1"/>
                </a:solidFill>
                <a:effectLst>
                  <a:outerShdw blurRad="38100" dist="19050" dir="2700000" algn="tl" rotWithShape="0">
                    <a:schemeClr val="dk1">
                      <a:alpha val="40000"/>
                    </a:schemeClr>
                  </a:outerShdw>
                </a:effectLst>
              </a:rPr>
              <a:t>		          Goal identification</a:t>
            </a:r>
          </a:p>
          <a:p>
            <a:pPr algn="ctr"/>
            <a:r>
              <a:rPr lang="en-US" sz="1100" dirty="0">
                <a:ln w="0"/>
                <a:solidFill>
                  <a:schemeClr val="tx1"/>
                </a:solidFill>
                <a:effectLst>
                  <a:outerShdw blurRad="38100" dist="19050" dir="2700000" algn="tl" rotWithShape="0">
                    <a:schemeClr val="dk1">
                      <a:alpha val="40000"/>
                    </a:schemeClr>
                  </a:outerShdw>
                </a:effectLst>
              </a:rPr>
              <a:t>		        Action extraction</a:t>
            </a:r>
          </a:p>
          <a:p>
            <a:pPr algn="ctr"/>
            <a:r>
              <a:rPr lang="en-US" sz="1100" dirty="0">
                <a:ln w="0"/>
                <a:solidFill>
                  <a:schemeClr val="tx1"/>
                </a:solidFill>
                <a:effectLst>
                  <a:outerShdw blurRad="38100" dist="19050" dir="2700000" algn="tl" rotWithShape="0">
                    <a:schemeClr val="dk1">
                      <a:alpha val="40000"/>
                    </a:schemeClr>
                  </a:outerShdw>
                </a:effectLst>
              </a:rPr>
              <a:t>		           UI step generation</a:t>
            </a:r>
            <a:endParaRPr lang="en-IN" sz="1100" dirty="0">
              <a:ln w="0"/>
              <a:solidFill>
                <a:schemeClr val="tx1"/>
              </a:solidFill>
              <a:effectLst>
                <a:outerShdw blurRad="38100" dist="19050" dir="2700000" algn="tl" rotWithShape="0">
                  <a:schemeClr val="dk1">
                    <a:alpha val="40000"/>
                  </a:schemeClr>
                </a:outerShdw>
              </a:effectLst>
            </a:endParaRPr>
          </a:p>
          <a:p>
            <a:pPr algn="ctr"/>
            <a:endParaRPr lang="en-US" sz="1100" b="1" dirty="0">
              <a:ln w="0"/>
              <a:solidFill>
                <a:schemeClr val="tx1"/>
              </a:solidFill>
              <a:effectLst>
                <a:outerShdw blurRad="38100" dist="19050" dir="2700000" algn="tl" rotWithShape="0">
                  <a:schemeClr val="dk1">
                    <a:alpha val="40000"/>
                  </a:schemeClr>
                </a:outerShdw>
              </a:effectLst>
            </a:endParaRPr>
          </a:p>
        </p:txBody>
      </p:sp>
      <p:sp>
        <p:nvSpPr>
          <p:cNvPr id="30" name="Rectangle: Rounded Corners 29">
            <a:extLst>
              <a:ext uri="{FF2B5EF4-FFF2-40B4-BE49-F238E27FC236}">
                <a16:creationId xmlns:a16="http://schemas.microsoft.com/office/drawing/2014/main" id="{6AABF880-7D0E-6407-6855-5C0FE1BC7E4A}"/>
              </a:ext>
            </a:extLst>
          </p:cNvPr>
          <p:cNvSpPr/>
          <p:nvPr/>
        </p:nvSpPr>
        <p:spPr>
          <a:xfrm>
            <a:off x="6889798" y="3235978"/>
            <a:ext cx="2737446" cy="437474"/>
          </a:xfrm>
          <a:prstGeom prst="roundRect">
            <a:avLst/>
          </a:prstGeom>
          <a:solidFill>
            <a:schemeClr val="accent6">
              <a:lumMod val="40000"/>
              <a:lumOff val="6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ln w="0"/>
                <a:solidFill>
                  <a:schemeClr val="tx1"/>
                </a:solidFill>
                <a:effectLst>
                  <a:outerShdw blurRad="38100" dist="19050" dir="2700000" algn="tl" rotWithShape="0">
                    <a:schemeClr val="dk1">
                      <a:alpha val="40000"/>
                    </a:schemeClr>
                  </a:outerShdw>
                </a:effectLst>
              </a:rPr>
              <a:t>SEMANTIC CACHE</a:t>
            </a:r>
          </a:p>
          <a:p>
            <a:pPr algn="ctr"/>
            <a:r>
              <a:rPr lang="en-US" sz="1100" dirty="0">
                <a:ln w="0"/>
                <a:solidFill>
                  <a:schemeClr val="tx1"/>
                </a:solidFill>
                <a:effectLst>
                  <a:outerShdw blurRad="38100" dist="19050" dir="2700000" algn="tl" rotWithShape="0">
                    <a:schemeClr val="dk1">
                      <a:alpha val="40000"/>
                    </a:schemeClr>
                  </a:outerShdw>
                </a:effectLst>
              </a:rPr>
              <a:t>Fast path retrieval</a:t>
            </a:r>
            <a:endParaRPr lang="en-IN" sz="1100" dirty="0">
              <a:ln w="0"/>
              <a:solidFill>
                <a:schemeClr val="tx1"/>
              </a:solidFill>
              <a:effectLst>
                <a:outerShdw blurRad="38100" dist="19050" dir="2700000" algn="tl" rotWithShape="0">
                  <a:schemeClr val="dk1">
                    <a:alpha val="40000"/>
                  </a:schemeClr>
                </a:outerShdw>
              </a:effectLst>
            </a:endParaRPr>
          </a:p>
        </p:txBody>
      </p:sp>
      <p:sp>
        <p:nvSpPr>
          <p:cNvPr id="44" name="Rectangle: Rounded Corners 43">
            <a:extLst>
              <a:ext uri="{FF2B5EF4-FFF2-40B4-BE49-F238E27FC236}">
                <a16:creationId xmlns:a16="http://schemas.microsoft.com/office/drawing/2014/main" id="{F99A0C09-3AD9-BEB4-5FA0-0161F134A40C}"/>
              </a:ext>
            </a:extLst>
          </p:cNvPr>
          <p:cNvSpPr/>
          <p:nvPr/>
        </p:nvSpPr>
        <p:spPr>
          <a:xfrm>
            <a:off x="5905734" y="3760013"/>
            <a:ext cx="1492633" cy="431158"/>
          </a:xfrm>
          <a:prstGeom prst="roundRect">
            <a:avLst/>
          </a:prstGeom>
          <a:solidFill>
            <a:schemeClr val="accent6">
              <a:lumMod val="40000"/>
              <a:lumOff val="6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ln w="0"/>
                <a:solidFill>
                  <a:schemeClr val="tx1"/>
                </a:solidFill>
                <a:effectLst>
                  <a:outerShdw blurRad="38100" dist="19050" dir="2700000" algn="tl" rotWithShape="0">
                    <a:schemeClr val="dk1">
                      <a:alpha val="40000"/>
                    </a:schemeClr>
                  </a:outerShdw>
                </a:effectLst>
              </a:rPr>
              <a:t>CACHE HIT</a:t>
            </a:r>
          </a:p>
          <a:p>
            <a:pPr algn="ctr"/>
            <a:r>
              <a:rPr lang="en-US" sz="1100" dirty="0">
                <a:ln w="0"/>
                <a:solidFill>
                  <a:schemeClr val="tx1"/>
                </a:solidFill>
                <a:effectLst>
                  <a:outerShdw blurRad="38100" dist="19050" dir="2700000" algn="tl" rotWithShape="0">
                    <a:schemeClr val="dk1">
                      <a:alpha val="40000"/>
                    </a:schemeClr>
                  </a:outerShdw>
                </a:effectLst>
              </a:rPr>
              <a:t>Return validated plan</a:t>
            </a:r>
            <a:endParaRPr lang="en-IN" sz="1100" dirty="0">
              <a:ln w="0"/>
              <a:solidFill>
                <a:schemeClr val="tx1"/>
              </a:solidFill>
              <a:effectLst>
                <a:outerShdw blurRad="38100" dist="19050" dir="2700000" algn="tl" rotWithShape="0">
                  <a:schemeClr val="dk1">
                    <a:alpha val="40000"/>
                  </a:schemeClr>
                </a:outerShdw>
              </a:effectLst>
            </a:endParaRPr>
          </a:p>
        </p:txBody>
      </p:sp>
      <p:sp>
        <p:nvSpPr>
          <p:cNvPr id="46" name="Rectangle: Rounded Corners 45">
            <a:extLst>
              <a:ext uri="{FF2B5EF4-FFF2-40B4-BE49-F238E27FC236}">
                <a16:creationId xmlns:a16="http://schemas.microsoft.com/office/drawing/2014/main" id="{198F5116-4033-2E7B-CE20-C97C6E299FC4}"/>
              </a:ext>
            </a:extLst>
          </p:cNvPr>
          <p:cNvSpPr/>
          <p:nvPr/>
        </p:nvSpPr>
        <p:spPr>
          <a:xfrm>
            <a:off x="9435678" y="3769368"/>
            <a:ext cx="2138291" cy="444272"/>
          </a:xfrm>
          <a:prstGeom prst="roundRect">
            <a:avLst/>
          </a:prstGeom>
          <a:solidFill>
            <a:schemeClr val="accent6">
              <a:lumMod val="40000"/>
              <a:lumOff val="6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ln w="0"/>
                <a:solidFill>
                  <a:schemeClr val="tx1"/>
                </a:solidFill>
                <a:effectLst>
                  <a:outerShdw blurRad="38100" dist="19050" dir="2700000" algn="tl" rotWithShape="0">
                    <a:schemeClr val="dk1">
                      <a:alpha val="40000"/>
                    </a:schemeClr>
                  </a:outerShdw>
                </a:effectLst>
              </a:rPr>
              <a:t>CACHE MISS</a:t>
            </a:r>
          </a:p>
          <a:p>
            <a:pPr algn="ctr"/>
            <a:r>
              <a:rPr lang="en-US" sz="1100" dirty="0">
                <a:ln w="0"/>
                <a:solidFill>
                  <a:schemeClr val="tx1"/>
                </a:solidFill>
                <a:effectLst>
                  <a:outerShdw blurRad="38100" dist="19050" dir="2700000" algn="tl" rotWithShape="0">
                    <a:schemeClr val="dk1">
                      <a:alpha val="40000"/>
                    </a:schemeClr>
                  </a:outerShdw>
                </a:effectLst>
              </a:rPr>
              <a:t>Process, validate and cache plan</a:t>
            </a:r>
            <a:endParaRPr lang="en-IN" sz="1100" dirty="0">
              <a:ln w="0"/>
              <a:solidFill>
                <a:schemeClr val="tx1"/>
              </a:solidFill>
              <a:effectLst>
                <a:outerShdw blurRad="38100" dist="19050" dir="2700000" algn="tl" rotWithShape="0">
                  <a:schemeClr val="dk1">
                    <a:alpha val="40000"/>
                  </a:schemeClr>
                </a:outerShdw>
              </a:effectLst>
            </a:endParaRPr>
          </a:p>
        </p:txBody>
      </p:sp>
      <p:cxnSp>
        <p:nvCxnSpPr>
          <p:cNvPr id="56" name="Straight Connector 55">
            <a:extLst>
              <a:ext uri="{FF2B5EF4-FFF2-40B4-BE49-F238E27FC236}">
                <a16:creationId xmlns:a16="http://schemas.microsoft.com/office/drawing/2014/main" id="{B42BCCCB-C731-A4DB-9262-0984F58921E1}"/>
              </a:ext>
            </a:extLst>
          </p:cNvPr>
          <p:cNvCxnSpPr>
            <a:cxnSpLocks/>
          </p:cNvCxnSpPr>
          <p:nvPr/>
        </p:nvCxnSpPr>
        <p:spPr>
          <a:xfrm>
            <a:off x="9643096" y="3422838"/>
            <a:ext cx="80004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8" name="Straight Arrow Connector 57">
            <a:extLst>
              <a:ext uri="{FF2B5EF4-FFF2-40B4-BE49-F238E27FC236}">
                <a16:creationId xmlns:a16="http://schemas.microsoft.com/office/drawing/2014/main" id="{07796745-4936-7931-FB48-26DD82618119}"/>
              </a:ext>
            </a:extLst>
          </p:cNvPr>
          <p:cNvCxnSpPr>
            <a:cxnSpLocks/>
          </p:cNvCxnSpPr>
          <p:nvPr/>
        </p:nvCxnSpPr>
        <p:spPr>
          <a:xfrm>
            <a:off x="6614146" y="6101910"/>
            <a:ext cx="50798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0" name="Rectangle: Rounded Corners 59">
            <a:extLst>
              <a:ext uri="{FF2B5EF4-FFF2-40B4-BE49-F238E27FC236}">
                <a16:creationId xmlns:a16="http://schemas.microsoft.com/office/drawing/2014/main" id="{9704B55E-AF3B-905D-F33A-29FAE422D21C}"/>
              </a:ext>
            </a:extLst>
          </p:cNvPr>
          <p:cNvSpPr/>
          <p:nvPr/>
        </p:nvSpPr>
        <p:spPr>
          <a:xfrm>
            <a:off x="7122126" y="5913578"/>
            <a:ext cx="4091974" cy="376664"/>
          </a:xfrm>
          <a:prstGeom prst="roundRect">
            <a:avLst/>
          </a:prstGeom>
          <a:solidFill>
            <a:schemeClr val="accent6">
              <a:lumMod val="40000"/>
              <a:lumOff val="6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lgn="ctr"/>
            <a:r>
              <a:rPr lang="en-US" sz="1100" b="1" dirty="0">
                <a:ln w="0"/>
                <a:solidFill>
                  <a:schemeClr val="tx1"/>
                </a:solidFill>
                <a:effectLst>
                  <a:outerShdw blurRad="38100" dist="19050" dir="2700000" algn="tl" rotWithShape="0">
                    <a:schemeClr val="dk1">
                      <a:alpha val="40000"/>
                    </a:schemeClr>
                  </a:outerShdw>
                </a:effectLst>
              </a:rPr>
              <a:t>FASTAPI REST API</a:t>
            </a:r>
            <a:r>
              <a:rPr lang="en-IN" sz="1100" b="1" dirty="0">
                <a:ln w="0"/>
                <a:solidFill>
                  <a:schemeClr val="tx1"/>
                </a:solidFill>
                <a:effectLst>
                  <a:outerShdw blurRad="38100" dist="19050" dir="2700000" algn="tl" rotWithShape="0">
                    <a:schemeClr val="dk1">
                      <a:alpha val="40000"/>
                    </a:schemeClr>
                  </a:outerShdw>
                </a:effectLst>
              </a:rPr>
              <a:t>	</a:t>
            </a:r>
            <a:r>
              <a:rPr lang="en-US" sz="1100" dirty="0">
                <a:ln w="0"/>
                <a:solidFill>
                  <a:schemeClr val="tx1"/>
                </a:solidFill>
                <a:effectLst>
                  <a:outerShdw blurRad="38100" dist="19050" dir="2700000" algn="tl" rotWithShape="0">
                    <a:schemeClr val="dk1">
                      <a:alpha val="40000"/>
                    </a:schemeClr>
                  </a:outerShdw>
                </a:effectLst>
              </a:rPr>
              <a:t> Structured response</a:t>
            </a:r>
          </a:p>
          <a:p>
            <a:pPr lvl="4" algn="ctr"/>
            <a:r>
              <a:rPr lang="en-US" sz="1100" dirty="0">
                <a:ln w="0"/>
                <a:solidFill>
                  <a:schemeClr val="tx1"/>
                </a:solidFill>
                <a:effectLst>
                  <a:outerShdw blurRad="38100" dist="19050" dir="2700000" algn="tl" rotWithShape="0">
                    <a:schemeClr val="dk1">
                      <a:alpha val="40000"/>
                    </a:schemeClr>
                  </a:outerShdw>
                </a:effectLst>
              </a:rPr>
              <a:t>     Operational metadata</a:t>
            </a:r>
            <a:endParaRPr lang="en-US" sz="1100" b="1" dirty="0">
              <a:ln w="0"/>
              <a:solidFill>
                <a:schemeClr val="tx1"/>
              </a:solidFill>
              <a:effectLst>
                <a:outerShdw blurRad="38100" dist="19050" dir="2700000" algn="tl" rotWithShape="0">
                  <a:schemeClr val="dk1">
                    <a:alpha val="40000"/>
                  </a:schemeClr>
                </a:outerShdw>
              </a:effectLst>
            </a:endParaRPr>
          </a:p>
        </p:txBody>
      </p:sp>
      <p:cxnSp>
        <p:nvCxnSpPr>
          <p:cNvPr id="87" name="Straight Arrow Connector 86">
            <a:extLst>
              <a:ext uri="{FF2B5EF4-FFF2-40B4-BE49-F238E27FC236}">
                <a16:creationId xmlns:a16="http://schemas.microsoft.com/office/drawing/2014/main" id="{193C1FCD-ADD0-16DD-767E-1614DE4E43C5}"/>
              </a:ext>
            </a:extLst>
          </p:cNvPr>
          <p:cNvCxnSpPr>
            <a:cxnSpLocks/>
          </p:cNvCxnSpPr>
          <p:nvPr/>
        </p:nvCxnSpPr>
        <p:spPr>
          <a:xfrm>
            <a:off x="10474959" y="4175760"/>
            <a:ext cx="0" cy="19090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9" name="Rectangle: Rounded Corners 88">
            <a:extLst>
              <a:ext uri="{FF2B5EF4-FFF2-40B4-BE49-F238E27FC236}">
                <a16:creationId xmlns:a16="http://schemas.microsoft.com/office/drawing/2014/main" id="{54346D99-CA92-6FE0-B830-162D250C990B}"/>
              </a:ext>
            </a:extLst>
          </p:cNvPr>
          <p:cNvSpPr/>
          <p:nvPr/>
        </p:nvSpPr>
        <p:spPr>
          <a:xfrm>
            <a:off x="7122126" y="6390640"/>
            <a:ext cx="4134441" cy="332503"/>
          </a:xfrm>
          <a:prstGeom prst="roundRect">
            <a:avLst/>
          </a:prstGeom>
          <a:solidFill>
            <a:schemeClr val="accent6">
              <a:lumMod val="75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1" algn="ctr"/>
            <a:r>
              <a:rPr lang="en-US" sz="1100" b="1" dirty="0">
                <a:ln w="0"/>
                <a:solidFill>
                  <a:schemeClr val="bg1"/>
                </a:solidFill>
                <a:effectLst>
                  <a:outerShdw blurRad="38100" dist="19050" dir="2700000" algn="tl" rotWithShape="0">
                    <a:schemeClr val="dk1">
                      <a:alpha val="40000"/>
                    </a:schemeClr>
                  </a:outerShdw>
                </a:effectLst>
              </a:rPr>
              <a:t>REACT UI             </a:t>
            </a:r>
            <a:r>
              <a:rPr lang="en-US" sz="1100" dirty="0">
                <a:ln w="0"/>
                <a:solidFill>
                  <a:schemeClr val="bg1"/>
                </a:solidFill>
                <a:effectLst>
                  <a:outerShdw blurRad="38100" dist="19050" dir="2700000" algn="tl" rotWithShape="0">
                    <a:schemeClr val="dk1">
                      <a:alpha val="40000"/>
                    </a:schemeClr>
                  </a:outerShdw>
                </a:effectLst>
              </a:rPr>
              <a:t>Troubleshooting steps</a:t>
            </a:r>
          </a:p>
          <a:p>
            <a:pPr lvl="3" algn="ctr"/>
            <a:r>
              <a:rPr lang="en-US" sz="1100" dirty="0">
                <a:ln w="0"/>
                <a:solidFill>
                  <a:schemeClr val="bg1"/>
                </a:solidFill>
                <a:effectLst>
                  <a:outerShdw blurRad="38100" dist="19050" dir="2700000" algn="tl" rotWithShape="0">
                    <a:schemeClr val="dk1">
                      <a:alpha val="40000"/>
                    </a:schemeClr>
                  </a:outerShdw>
                </a:effectLst>
              </a:rPr>
              <a:t>   Available links</a:t>
            </a:r>
            <a:r>
              <a:rPr lang="en-US" sz="1100" b="1" dirty="0">
                <a:ln w="0"/>
                <a:solidFill>
                  <a:schemeClr val="bg1"/>
                </a:solidFill>
                <a:effectLst>
                  <a:outerShdw blurRad="38100" dist="19050" dir="2700000" algn="tl" rotWithShape="0">
                    <a:schemeClr val="dk1">
                      <a:alpha val="40000"/>
                    </a:schemeClr>
                  </a:outerShdw>
                </a:effectLst>
              </a:rPr>
              <a:t>	</a:t>
            </a:r>
          </a:p>
        </p:txBody>
      </p:sp>
      <p:sp>
        <p:nvSpPr>
          <p:cNvPr id="92" name="Rectangle 91">
            <a:extLst>
              <a:ext uri="{FF2B5EF4-FFF2-40B4-BE49-F238E27FC236}">
                <a16:creationId xmlns:a16="http://schemas.microsoft.com/office/drawing/2014/main" id="{2728D798-F4A6-2ADF-008B-F40135FD7D18}"/>
              </a:ext>
            </a:extLst>
          </p:cNvPr>
          <p:cNvSpPr/>
          <p:nvPr/>
        </p:nvSpPr>
        <p:spPr>
          <a:xfrm>
            <a:off x="153663" y="1239827"/>
            <a:ext cx="5405179" cy="5483316"/>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4" name="TextBox 93">
            <a:extLst>
              <a:ext uri="{FF2B5EF4-FFF2-40B4-BE49-F238E27FC236}">
                <a16:creationId xmlns:a16="http://schemas.microsoft.com/office/drawing/2014/main" id="{BDF24E75-CDB2-C3A1-9A79-41E1BD519A42}"/>
              </a:ext>
            </a:extLst>
          </p:cNvPr>
          <p:cNvSpPr txBox="1"/>
          <p:nvPr/>
        </p:nvSpPr>
        <p:spPr>
          <a:xfrm>
            <a:off x="185621" y="1310947"/>
            <a:ext cx="5355642" cy="1169551"/>
          </a:xfrm>
          <a:prstGeom prst="rect">
            <a:avLst/>
          </a:prstGeom>
          <a:noFill/>
        </p:spPr>
        <p:txBody>
          <a:bodyPr wrap="square" rtlCol="0">
            <a:spAutoFit/>
          </a:bodyPr>
          <a:lstStyle/>
          <a:p>
            <a:r>
              <a:rPr lang="en-US" sz="2800" b="1" dirty="0"/>
              <a:t>Solution</a:t>
            </a:r>
          </a:p>
          <a:p>
            <a:r>
              <a:rPr lang="en-US" sz="1400" dirty="0"/>
              <a:t>SGTE is an AI-assisted troubleshooting platform that understands user complaints, generates structured troubleshooting plans and provides relevant navigation links.</a:t>
            </a:r>
            <a:endParaRPr lang="en-IN" sz="1400" dirty="0"/>
          </a:p>
        </p:txBody>
      </p:sp>
      <p:sp>
        <p:nvSpPr>
          <p:cNvPr id="95" name="Rectangle 94">
            <a:extLst>
              <a:ext uri="{FF2B5EF4-FFF2-40B4-BE49-F238E27FC236}">
                <a16:creationId xmlns:a16="http://schemas.microsoft.com/office/drawing/2014/main" id="{06F87AFF-DA73-BE8E-A0FF-34A2F5894241}"/>
              </a:ext>
            </a:extLst>
          </p:cNvPr>
          <p:cNvSpPr/>
          <p:nvPr/>
        </p:nvSpPr>
        <p:spPr>
          <a:xfrm>
            <a:off x="233795" y="2582822"/>
            <a:ext cx="5218107" cy="859500"/>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sz="1600" dirty="0">
                <a:ln w="0"/>
                <a:solidFill>
                  <a:schemeClr val="tx1"/>
                </a:solidFill>
                <a:effectLst>
                  <a:outerShdw blurRad="38100" dist="19050" dir="2700000" algn="tl" rotWithShape="0">
                    <a:schemeClr val="dk1">
                      <a:alpha val="40000"/>
                    </a:schemeClr>
                  </a:outerShdw>
                </a:effectLst>
              </a:rPr>
              <a:t>	</a:t>
            </a:r>
            <a:r>
              <a:rPr lang="en-US" sz="1600" b="1" dirty="0">
                <a:ln w="0"/>
                <a:solidFill>
                  <a:schemeClr val="tx1"/>
                </a:solidFill>
                <a:effectLst>
                  <a:outerShdw blurRad="38100" dist="19050" dir="2700000" algn="tl" rotWithShape="0">
                    <a:schemeClr val="dk1">
                      <a:alpha val="40000"/>
                    </a:schemeClr>
                  </a:outerShdw>
                </a:effectLst>
              </a:rPr>
              <a:t>Understand</a:t>
            </a:r>
          </a:p>
          <a:p>
            <a:pPr lvl="0"/>
            <a:r>
              <a:rPr lang="en-IN" sz="1600" dirty="0">
                <a:ln w="0"/>
                <a:solidFill>
                  <a:schemeClr val="tx1"/>
                </a:solidFill>
                <a:effectLst>
                  <a:outerShdw blurRad="38100" dist="19050" dir="2700000" algn="tl" rotWithShape="0">
                    <a:schemeClr val="dk1">
                      <a:alpha val="40000"/>
                    </a:schemeClr>
                  </a:outerShdw>
                </a:effectLst>
              </a:rPr>
              <a:t>	Accepts natural-language complaints </a:t>
            </a:r>
          </a:p>
          <a:p>
            <a:pPr lvl="0"/>
            <a:r>
              <a:rPr lang="en-IN" sz="1600" dirty="0">
                <a:ln w="0"/>
                <a:solidFill>
                  <a:schemeClr val="tx1"/>
                </a:solidFill>
                <a:effectLst>
                  <a:outerShdw blurRad="38100" dist="19050" dir="2700000" algn="tl" rotWithShape="0">
                    <a:schemeClr val="dk1">
                      <a:alpha val="40000"/>
                    </a:schemeClr>
                  </a:outerShdw>
                </a:effectLst>
              </a:rPr>
              <a:t>	Normalizes informal queries into technical format </a:t>
            </a:r>
          </a:p>
        </p:txBody>
      </p:sp>
      <p:sp>
        <p:nvSpPr>
          <p:cNvPr id="97" name="Rectangle 96">
            <a:extLst>
              <a:ext uri="{FF2B5EF4-FFF2-40B4-BE49-F238E27FC236}">
                <a16:creationId xmlns:a16="http://schemas.microsoft.com/office/drawing/2014/main" id="{4529A5B7-F12A-8FF2-C4D5-3B45CD46173D}"/>
              </a:ext>
            </a:extLst>
          </p:cNvPr>
          <p:cNvSpPr/>
          <p:nvPr/>
        </p:nvSpPr>
        <p:spPr>
          <a:xfrm>
            <a:off x="266485" y="3524295"/>
            <a:ext cx="5218107" cy="859500"/>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IN" sz="1600" dirty="0">
                <a:ln w="0"/>
                <a:solidFill>
                  <a:schemeClr val="tx1"/>
                </a:solidFill>
                <a:effectLst>
                  <a:outerShdw blurRad="38100" dist="19050" dir="2700000" algn="tl" rotWithShape="0">
                    <a:schemeClr val="dk1">
                      <a:alpha val="40000"/>
                    </a:schemeClr>
                  </a:outerShdw>
                </a:effectLst>
              </a:rPr>
              <a:t>	</a:t>
            </a:r>
            <a:r>
              <a:rPr lang="en-IN" sz="1600" b="1" dirty="0">
                <a:ln w="0"/>
                <a:solidFill>
                  <a:schemeClr val="tx1"/>
                </a:solidFill>
                <a:effectLst>
                  <a:outerShdw blurRad="38100" dist="19050" dir="2700000" algn="tl" rotWithShape="0">
                    <a:schemeClr val="dk1">
                      <a:alpha val="40000"/>
                    </a:schemeClr>
                  </a:outerShdw>
                </a:effectLst>
              </a:rPr>
              <a:t>ANALYZE</a:t>
            </a:r>
          </a:p>
          <a:p>
            <a:pPr lvl="0"/>
            <a:r>
              <a:rPr lang="en-IN" sz="1600" dirty="0">
                <a:ln w="0"/>
                <a:solidFill>
                  <a:schemeClr val="tx1"/>
                </a:solidFill>
                <a:effectLst>
                  <a:outerShdw blurRad="38100" dist="19050" dir="2700000" algn="tl" rotWithShape="0">
                    <a:schemeClr val="dk1">
                      <a:alpha val="40000"/>
                    </a:schemeClr>
                  </a:outerShdw>
                </a:effectLst>
              </a:rPr>
              <a:t>	Identifies troubleshooting goals. </a:t>
            </a:r>
          </a:p>
          <a:p>
            <a:pPr lvl="0"/>
            <a:r>
              <a:rPr lang="en-IN" sz="1600" dirty="0">
                <a:ln w="0"/>
                <a:solidFill>
                  <a:schemeClr val="tx1"/>
                </a:solidFill>
                <a:effectLst>
                  <a:outerShdw blurRad="38100" dist="19050" dir="2700000" algn="tl" rotWithShape="0">
                    <a:schemeClr val="dk1">
                      <a:alpha val="40000"/>
                    </a:schemeClr>
                  </a:outerShdw>
                </a:effectLst>
              </a:rPr>
              <a:t>	Extracts relevant actions and generates UI steps.</a:t>
            </a:r>
          </a:p>
        </p:txBody>
      </p:sp>
      <p:sp>
        <p:nvSpPr>
          <p:cNvPr id="99" name="Rectangle 98">
            <a:extLst>
              <a:ext uri="{FF2B5EF4-FFF2-40B4-BE49-F238E27FC236}">
                <a16:creationId xmlns:a16="http://schemas.microsoft.com/office/drawing/2014/main" id="{6CD7F2CD-771D-F1FD-C274-4475DD6271B4}"/>
              </a:ext>
            </a:extLst>
          </p:cNvPr>
          <p:cNvSpPr/>
          <p:nvPr/>
        </p:nvSpPr>
        <p:spPr>
          <a:xfrm>
            <a:off x="264549" y="4468732"/>
            <a:ext cx="5218107" cy="859500"/>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2"/>
            <a:endParaRPr lang="en-IN" sz="1600" dirty="0">
              <a:ln w="0"/>
              <a:solidFill>
                <a:schemeClr val="tx1"/>
              </a:solidFill>
              <a:effectLst>
                <a:outerShdw blurRad="38100" dist="19050" dir="2700000" algn="tl" rotWithShape="0">
                  <a:schemeClr val="dk1">
                    <a:alpha val="40000"/>
                  </a:schemeClr>
                </a:outerShdw>
              </a:effectLst>
            </a:endParaRPr>
          </a:p>
        </p:txBody>
      </p:sp>
      <p:sp>
        <p:nvSpPr>
          <p:cNvPr id="101" name="Rectangle 100">
            <a:extLst>
              <a:ext uri="{FF2B5EF4-FFF2-40B4-BE49-F238E27FC236}">
                <a16:creationId xmlns:a16="http://schemas.microsoft.com/office/drawing/2014/main" id="{E8BC3477-1B4B-A486-A985-CF7C01019BA4}"/>
              </a:ext>
            </a:extLst>
          </p:cNvPr>
          <p:cNvSpPr/>
          <p:nvPr/>
        </p:nvSpPr>
        <p:spPr>
          <a:xfrm>
            <a:off x="274709" y="5407909"/>
            <a:ext cx="5218107" cy="1149683"/>
          </a:xfrm>
          <a:prstGeom prst="rect">
            <a:avLst/>
          </a:prstGeom>
          <a:solidFill>
            <a:schemeClr val="accent6">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lvl="2"/>
            <a:r>
              <a:rPr lang="en-IN" sz="1600" b="1" dirty="0">
                <a:ln w="0"/>
                <a:solidFill>
                  <a:schemeClr val="tx1"/>
                </a:solidFill>
                <a:effectLst>
                  <a:outerShdw blurRad="38100" dist="19050" dir="2700000" algn="tl" rotWithShape="0">
                    <a:schemeClr val="dk1">
                      <a:alpha val="40000"/>
                    </a:schemeClr>
                  </a:outerShdw>
                </a:effectLst>
              </a:rPr>
              <a:t>OPTIMIZE</a:t>
            </a:r>
          </a:p>
          <a:p>
            <a:pPr lvl="2"/>
            <a:r>
              <a:rPr lang="en-IN" sz="1600" dirty="0">
                <a:ln w="0"/>
                <a:solidFill>
                  <a:schemeClr val="tx1"/>
                </a:solidFill>
                <a:effectLst>
                  <a:outerShdw blurRad="38100" dist="19050" dir="2700000" algn="tl" rotWithShape="0">
                    <a:schemeClr val="dk1">
                      <a:alpha val="40000"/>
                    </a:schemeClr>
                  </a:outerShdw>
                </a:effectLst>
              </a:rPr>
              <a:t>Uses semantic caching to reuse validated plans. </a:t>
            </a:r>
          </a:p>
          <a:p>
            <a:pPr lvl="2"/>
            <a:r>
              <a:rPr lang="en-IN" sz="1600" dirty="0">
                <a:ln w="0"/>
                <a:solidFill>
                  <a:schemeClr val="tx1"/>
                </a:solidFill>
                <a:effectLst>
                  <a:outerShdw blurRad="38100" dist="19050" dir="2700000" algn="tl" rotWithShape="0">
                    <a:schemeClr val="dk1">
                      <a:alpha val="40000"/>
                    </a:schemeClr>
                  </a:outerShdw>
                </a:effectLst>
              </a:rPr>
              <a:t>Reduces repeated LLM processing and improves response time.</a:t>
            </a:r>
          </a:p>
        </p:txBody>
      </p:sp>
      <p:pic>
        <p:nvPicPr>
          <p:cNvPr id="105" name="Picture 104">
            <a:extLst>
              <a:ext uri="{FF2B5EF4-FFF2-40B4-BE49-F238E27FC236}">
                <a16:creationId xmlns:a16="http://schemas.microsoft.com/office/drawing/2014/main" id="{A1401D00-C802-F836-C8B9-9BF344EE6571}"/>
              </a:ext>
            </a:extLst>
          </p:cNvPr>
          <p:cNvPicPr>
            <a:picLocks noChangeAspect="1"/>
          </p:cNvPicPr>
          <p:nvPr/>
        </p:nvPicPr>
        <p:blipFill>
          <a:blip r:embed="rId3"/>
          <a:stretch>
            <a:fillRect/>
          </a:stretch>
        </p:blipFill>
        <p:spPr>
          <a:xfrm>
            <a:off x="379954" y="2718798"/>
            <a:ext cx="625800" cy="625800"/>
          </a:xfrm>
          <a:prstGeom prst="rect">
            <a:avLst/>
          </a:prstGeom>
        </p:spPr>
      </p:pic>
      <p:pic>
        <p:nvPicPr>
          <p:cNvPr id="107" name="Picture 106">
            <a:extLst>
              <a:ext uri="{FF2B5EF4-FFF2-40B4-BE49-F238E27FC236}">
                <a16:creationId xmlns:a16="http://schemas.microsoft.com/office/drawing/2014/main" id="{0D1709DB-69A5-C622-A2F4-606C0ED2CE01}"/>
              </a:ext>
            </a:extLst>
          </p:cNvPr>
          <p:cNvPicPr>
            <a:picLocks noChangeAspect="1"/>
          </p:cNvPicPr>
          <p:nvPr/>
        </p:nvPicPr>
        <p:blipFill>
          <a:blip r:embed="rId4"/>
          <a:stretch>
            <a:fillRect/>
          </a:stretch>
        </p:blipFill>
        <p:spPr>
          <a:xfrm>
            <a:off x="379954" y="3593365"/>
            <a:ext cx="721360" cy="721360"/>
          </a:xfrm>
          <a:prstGeom prst="rect">
            <a:avLst/>
          </a:prstGeom>
        </p:spPr>
      </p:pic>
      <p:pic>
        <p:nvPicPr>
          <p:cNvPr id="109" name="Picture 108">
            <a:extLst>
              <a:ext uri="{FF2B5EF4-FFF2-40B4-BE49-F238E27FC236}">
                <a16:creationId xmlns:a16="http://schemas.microsoft.com/office/drawing/2014/main" id="{5BD39847-F1CE-B60A-ECF6-AF1351B41AAC}"/>
              </a:ext>
            </a:extLst>
          </p:cNvPr>
          <p:cNvPicPr>
            <a:picLocks noChangeAspect="1"/>
          </p:cNvPicPr>
          <p:nvPr/>
        </p:nvPicPr>
        <p:blipFill>
          <a:blip r:embed="rId5"/>
          <a:stretch>
            <a:fillRect/>
          </a:stretch>
        </p:blipFill>
        <p:spPr>
          <a:xfrm>
            <a:off x="462806" y="4658626"/>
            <a:ext cx="441694" cy="441694"/>
          </a:xfrm>
          <a:prstGeom prst="rect">
            <a:avLst/>
          </a:prstGeom>
        </p:spPr>
      </p:pic>
      <p:sp>
        <p:nvSpPr>
          <p:cNvPr id="110" name="TextBox 109">
            <a:extLst>
              <a:ext uri="{FF2B5EF4-FFF2-40B4-BE49-F238E27FC236}">
                <a16:creationId xmlns:a16="http://schemas.microsoft.com/office/drawing/2014/main" id="{70BFEF28-0F84-F025-5FD8-9C8115C16999}"/>
              </a:ext>
            </a:extLst>
          </p:cNvPr>
          <p:cNvSpPr txBox="1"/>
          <p:nvPr/>
        </p:nvSpPr>
        <p:spPr>
          <a:xfrm>
            <a:off x="196248" y="4469537"/>
            <a:ext cx="5452005" cy="1107996"/>
          </a:xfrm>
          <a:prstGeom prst="rect">
            <a:avLst/>
          </a:prstGeom>
          <a:noFill/>
        </p:spPr>
        <p:txBody>
          <a:bodyPr wrap="square" rtlCol="0">
            <a:spAutoFit/>
          </a:bodyPr>
          <a:lstStyle/>
          <a:p>
            <a:pPr lvl="2"/>
            <a:r>
              <a:rPr lang="en-IN" sz="1600" b="1" dirty="0">
                <a:ln w="0"/>
                <a:effectLst>
                  <a:outerShdw blurRad="38100" dist="19050" dir="2700000" algn="tl" rotWithShape="0">
                    <a:schemeClr val="dk1">
                      <a:alpha val="40000"/>
                    </a:schemeClr>
                  </a:outerShdw>
                </a:effectLst>
              </a:rPr>
              <a:t>NAVIGATE</a:t>
            </a:r>
          </a:p>
          <a:p>
            <a:pPr lvl="2"/>
            <a:r>
              <a:rPr lang="en-IN" sz="1600" dirty="0">
                <a:ln w="0"/>
                <a:effectLst>
                  <a:outerShdw blurRad="38100" dist="19050" dir="2700000" algn="tl" rotWithShape="0">
                    <a:schemeClr val="dk1">
                      <a:alpha val="40000"/>
                    </a:schemeClr>
                  </a:outerShdw>
                </a:effectLst>
              </a:rPr>
              <a:t>Maps device screens to available deep links. </a:t>
            </a:r>
          </a:p>
          <a:p>
            <a:pPr lvl="2"/>
            <a:r>
              <a:rPr lang="en-IN" sz="1600" dirty="0">
                <a:ln w="0"/>
                <a:effectLst>
                  <a:outerShdw blurRad="38100" dist="19050" dir="2700000" algn="tl" rotWithShape="0">
                    <a:schemeClr val="dk1">
                      <a:alpha val="40000"/>
                    </a:schemeClr>
                  </a:outerShdw>
                </a:effectLst>
              </a:rPr>
              <a:t>Organizes actions from non-invasive to critical steps</a:t>
            </a:r>
          </a:p>
          <a:p>
            <a:endParaRPr lang="en-IN" dirty="0"/>
          </a:p>
        </p:txBody>
      </p:sp>
      <p:pic>
        <p:nvPicPr>
          <p:cNvPr id="112" name="Picture 111">
            <a:extLst>
              <a:ext uri="{FF2B5EF4-FFF2-40B4-BE49-F238E27FC236}">
                <a16:creationId xmlns:a16="http://schemas.microsoft.com/office/drawing/2014/main" id="{A12A19A7-06A2-2573-E72B-540AF080082A}"/>
              </a:ext>
            </a:extLst>
          </p:cNvPr>
          <p:cNvPicPr>
            <a:picLocks noChangeAspect="1"/>
          </p:cNvPicPr>
          <p:nvPr/>
        </p:nvPicPr>
        <p:blipFill>
          <a:blip r:embed="rId6"/>
          <a:stretch>
            <a:fillRect/>
          </a:stretch>
        </p:blipFill>
        <p:spPr>
          <a:xfrm>
            <a:off x="379954" y="5648960"/>
            <a:ext cx="655802" cy="655802"/>
          </a:xfrm>
          <a:prstGeom prst="rect">
            <a:avLst/>
          </a:prstGeom>
        </p:spPr>
      </p:pic>
      <p:pic>
        <p:nvPicPr>
          <p:cNvPr id="118" name="Picture 117">
            <a:extLst>
              <a:ext uri="{FF2B5EF4-FFF2-40B4-BE49-F238E27FC236}">
                <a16:creationId xmlns:a16="http://schemas.microsoft.com/office/drawing/2014/main" id="{F30AA413-284B-613F-B397-FF9E571B717D}"/>
              </a:ext>
            </a:extLst>
          </p:cNvPr>
          <p:cNvPicPr>
            <a:picLocks noChangeAspect="1"/>
          </p:cNvPicPr>
          <p:nvPr/>
        </p:nvPicPr>
        <p:blipFill>
          <a:blip r:embed="rId7"/>
          <a:stretch>
            <a:fillRect/>
          </a:stretch>
        </p:blipFill>
        <p:spPr>
          <a:xfrm>
            <a:off x="6779080" y="1739489"/>
            <a:ext cx="438933" cy="438933"/>
          </a:xfrm>
          <a:prstGeom prst="rect">
            <a:avLst/>
          </a:prstGeom>
        </p:spPr>
      </p:pic>
      <p:pic>
        <p:nvPicPr>
          <p:cNvPr id="121" name="Picture 120">
            <a:extLst>
              <a:ext uri="{FF2B5EF4-FFF2-40B4-BE49-F238E27FC236}">
                <a16:creationId xmlns:a16="http://schemas.microsoft.com/office/drawing/2014/main" id="{4F3815F4-29AC-D4C5-E16D-75A3B26AC383}"/>
              </a:ext>
            </a:extLst>
          </p:cNvPr>
          <p:cNvPicPr>
            <a:picLocks noChangeAspect="1"/>
          </p:cNvPicPr>
          <p:nvPr/>
        </p:nvPicPr>
        <p:blipFill>
          <a:blip r:embed="rId8"/>
          <a:stretch>
            <a:fillRect/>
          </a:stretch>
        </p:blipFill>
        <p:spPr>
          <a:xfrm>
            <a:off x="5832808" y="2504824"/>
            <a:ext cx="449289" cy="449289"/>
          </a:xfrm>
          <a:prstGeom prst="rect">
            <a:avLst/>
          </a:prstGeom>
        </p:spPr>
      </p:pic>
      <p:cxnSp>
        <p:nvCxnSpPr>
          <p:cNvPr id="122" name="Straight Arrow Connector 121">
            <a:extLst>
              <a:ext uri="{FF2B5EF4-FFF2-40B4-BE49-F238E27FC236}">
                <a16:creationId xmlns:a16="http://schemas.microsoft.com/office/drawing/2014/main" id="{CEA9B3C6-1E87-D4D3-42D4-55B81A99D203}"/>
              </a:ext>
            </a:extLst>
          </p:cNvPr>
          <p:cNvCxnSpPr>
            <a:cxnSpLocks/>
          </p:cNvCxnSpPr>
          <p:nvPr/>
        </p:nvCxnSpPr>
        <p:spPr>
          <a:xfrm>
            <a:off x="8239746" y="3017451"/>
            <a:ext cx="0" cy="20052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pic>
        <p:nvPicPr>
          <p:cNvPr id="124" name="Picture 123">
            <a:extLst>
              <a:ext uri="{FF2B5EF4-FFF2-40B4-BE49-F238E27FC236}">
                <a16:creationId xmlns:a16="http://schemas.microsoft.com/office/drawing/2014/main" id="{6EE74DEF-8D57-CB0B-9B16-4CF5E7162920}"/>
              </a:ext>
            </a:extLst>
          </p:cNvPr>
          <p:cNvPicPr>
            <a:picLocks noChangeAspect="1"/>
          </p:cNvPicPr>
          <p:nvPr/>
        </p:nvPicPr>
        <p:blipFill>
          <a:blip r:embed="rId9"/>
          <a:stretch>
            <a:fillRect/>
          </a:stretch>
        </p:blipFill>
        <p:spPr>
          <a:xfrm>
            <a:off x="8066931" y="4471422"/>
            <a:ext cx="518160" cy="518160"/>
          </a:xfrm>
          <a:prstGeom prst="rect">
            <a:avLst/>
          </a:prstGeom>
        </p:spPr>
      </p:pic>
      <p:cxnSp>
        <p:nvCxnSpPr>
          <p:cNvPr id="125" name="Straight Arrow Connector 124">
            <a:extLst>
              <a:ext uri="{FF2B5EF4-FFF2-40B4-BE49-F238E27FC236}">
                <a16:creationId xmlns:a16="http://schemas.microsoft.com/office/drawing/2014/main" id="{B7D5768B-DF3D-21C7-8D77-0AAD31F7FB6F}"/>
              </a:ext>
            </a:extLst>
          </p:cNvPr>
          <p:cNvCxnSpPr>
            <a:cxnSpLocks/>
          </p:cNvCxnSpPr>
          <p:nvPr/>
        </p:nvCxnSpPr>
        <p:spPr>
          <a:xfrm>
            <a:off x="10037876" y="5114872"/>
            <a:ext cx="0" cy="15413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28" name="Straight Arrow Connector 127">
            <a:extLst>
              <a:ext uri="{FF2B5EF4-FFF2-40B4-BE49-F238E27FC236}">
                <a16:creationId xmlns:a16="http://schemas.microsoft.com/office/drawing/2014/main" id="{3F7B3E4C-FAEC-CE33-499A-DE86F68B8841}"/>
              </a:ext>
            </a:extLst>
          </p:cNvPr>
          <p:cNvCxnSpPr>
            <a:cxnSpLocks/>
          </p:cNvCxnSpPr>
          <p:nvPr/>
        </p:nvCxnSpPr>
        <p:spPr>
          <a:xfrm>
            <a:off x="7122126" y="5624540"/>
            <a:ext cx="0" cy="20052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pic>
        <p:nvPicPr>
          <p:cNvPr id="130" name="Picture 129">
            <a:extLst>
              <a:ext uri="{FF2B5EF4-FFF2-40B4-BE49-F238E27FC236}">
                <a16:creationId xmlns:a16="http://schemas.microsoft.com/office/drawing/2014/main" id="{567092E1-8562-293D-A534-DB40A07B5DE0}"/>
              </a:ext>
            </a:extLst>
          </p:cNvPr>
          <p:cNvPicPr>
            <a:picLocks noChangeAspect="1"/>
          </p:cNvPicPr>
          <p:nvPr/>
        </p:nvPicPr>
        <p:blipFill>
          <a:blip r:embed="rId6"/>
          <a:stretch>
            <a:fillRect/>
          </a:stretch>
        </p:blipFill>
        <p:spPr>
          <a:xfrm>
            <a:off x="7039192" y="3304838"/>
            <a:ext cx="319737" cy="319737"/>
          </a:xfrm>
          <a:prstGeom prst="rect">
            <a:avLst/>
          </a:prstGeom>
        </p:spPr>
      </p:pic>
      <p:pic>
        <p:nvPicPr>
          <p:cNvPr id="139" name="Picture 138">
            <a:extLst>
              <a:ext uri="{FF2B5EF4-FFF2-40B4-BE49-F238E27FC236}">
                <a16:creationId xmlns:a16="http://schemas.microsoft.com/office/drawing/2014/main" id="{747F57E6-D0EC-A6B8-FFC3-604C8542DAF0}"/>
              </a:ext>
            </a:extLst>
          </p:cNvPr>
          <p:cNvPicPr>
            <a:picLocks noChangeAspect="1"/>
          </p:cNvPicPr>
          <p:nvPr/>
        </p:nvPicPr>
        <p:blipFill>
          <a:blip r:embed="rId10"/>
          <a:stretch>
            <a:fillRect/>
          </a:stretch>
        </p:blipFill>
        <p:spPr>
          <a:xfrm>
            <a:off x="5996097" y="3795299"/>
            <a:ext cx="207344" cy="207344"/>
          </a:xfrm>
          <a:prstGeom prst="rect">
            <a:avLst/>
          </a:prstGeom>
        </p:spPr>
      </p:pic>
      <p:pic>
        <p:nvPicPr>
          <p:cNvPr id="141" name="Picture 140">
            <a:extLst>
              <a:ext uri="{FF2B5EF4-FFF2-40B4-BE49-F238E27FC236}">
                <a16:creationId xmlns:a16="http://schemas.microsoft.com/office/drawing/2014/main" id="{D67507F9-C8B2-D15C-106B-3C84ECCF704C}"/>
              </a:ext>
            </a:extLst>
          </p:cNvPr>
          <p:cNvPicPr>
            <a:picLocks noChangeAspect="1"/>
          </p:cNvPicPr>
          <p:nvPr/>
        </p:nvPicPr>
        <p:blipFill>
          <a:blip r:embed="rId11"/>
          <a:stretch>
            <a:fillRect/>
          </a:stretch>
        </p:blipFill>
        <p:spPr>
          <a:xfrm>
            <a:off x="9551881" y="3806744"/>
            <a:ext cx="201867" cy="201867"/>
          </a:xfrm>
          <a:prstGeom prst="rect">
            <a:avLst/>
          </a:prstGeom>
        </p:spPr>
      </p:pic>
      <p:pic>
        <p:nvPicPr>
          <p:cNvPr id="143" name="Picture 142">
            <a:extLst>
              <a:ext uri="{FF2B5EF4-FFF2-40B4-BE49-F238E27FC236}">
                <a16:creationId xmlns:a16="http://schemas.microsoft.com/office/drawing/2014/main" id="{C349E2E6-62CC-78BC-6858-4DC6D7CEB049}"/>
              </a:ext>
            </a:extLst>
          </p:cNvPr>
          <p:cNvPicPr>
            <a:picLocks noChangeAspect="1"/>
          </p:cNvPicPr>
          <p:nvPr/>
        </p:nvPicPr>
        <p:blipFill>
          <a:blip r:embed="rId12"/>
          <a:stretch>
            <a:fillRect/>
          </a:stretch>
        </p:blipFill>
        <p:spPr>
          <a:xfrm>
            <a:off x="7286853" y="5887268"/>
            <a:ext cx="429283" cy="429283"/>
          </a:xfrm>
          <a:prstGeom prst="rect">
            <a:avLst/>
          </a:prstGeom>
        </p:spPr>
      </p:pic>
      <p:pic>
        <p:nvPicPr>
          <p:cNvPr id="145" name="Picture 144">
            <a:extLst>
              <a:ext uri="{FF2B5EF4-FFF2-40B4-BE49-F238E27FC236}">
                <a16:creationId xmlns:a16="http://schemas.microsoft.com/office/drawing/2014/main" id="{329EF32C-6889-4CCC-1FAB-4AAFEDD57539}"/>
              </a:ext>
            </a:extLst>
          </p:cNvPr>
          <p:cNvPicPr>
            <a:picLocks noChangeAspect="1"/>
          </p:cNvPicPr>
          <p:nvPr/>
        </p:nvPicPr>
        <p:blipFill>
          <a:blip r:embed="rId13"/>
          <a:stretch>
            <a:fillRect/>
          </a:stretch>
        </p:blipFill>
        <p:spPr>
          <a:xfrm>
            <a:off x="7359254" y="6407829"/>
            <a:ext cx="332503" cy="332503"/>
          </a:xfrm>
          <a:prstGeom prst="rect">
            <a:avLst/>
          </a:prstGeom>
        </p:spPr>
      </p:pic>
      <p:sp>
        <p:nvSpPr>
          <p:cNvPr id="147" name="TextBox 146">
            <a:extLst>
              <a:ext uri="{FF2B5EF4-FFF2-40B4-BE49-F238E27FC236}">
                <a16:creationId xmlns:a16="http://schemas.microsoft.com/office/drawing/2014/main" id="{A128A259-074E-4B08-542F-92F31186E8D6}"/>
              </a:ext>
            </a:extLst>
          </p:cNvPr>
          <p:cNvSpPr txBox="1"/>
          <p:nvPr/>
        </p:nvSpPr>
        <p:spPr>
          <a:xfrm>
            <a:off x="5699925" y="1228365"/>
            <a:ext cx="2905860" cy="461665"/>
          </a:xfrm>
          <a:prstGeom prst="rect">
            <a:avLst/>
          </a:prstGeom>
          <a:noFill/>
        </p:spPr>
        <p:txBody>
          <a:bodyPr wrap="none" rtlCol="0">
            <a:spAutoFit/>
          </a:bodyPr>
          <a:lstStyle/>
          <a:p>
            <a:r>
              <a:rPr lang="en-US" sz="2400" b="1" dirty="0"/>
              <a:t>Architecture Diagram</a:t>
            </a:r>
            <a:endParaRPr lang="en-IN" sz="2400" b="1" dirty="0"/>
          </a:p>
        </p:txBody>
      </p:sp>
      <p:cxnSp>
        <p:nvCxnSpPr>
          <p:cNvPr id="149" name="Straight Connector 148">
            <a:extLst>
              <a:ext uri="{FF2B5EF4-FFF2-40B4-BE49-F238E27FC236}">
                <a16:creationId xmlns:a16="http://schemas.microsoft.com/office/drawing/2014/main" id="{15BDDC13-11F4-B664-64CB-99DD45B373DC}"/>
              </a:ext>
            </a:extLst>
          </p:cNvPr>
          <p:cNvCxnSpPr>
            <a:cxnSpLocks/>
            <a:stCxn id="30" idx="1"/>
          </p:cNvCxnSpPr>
          <p:nvPr/>
        </p:nvCxnSpPr>
        <p:spPr>
          <a:xfrm flipH="1">
            <a:off x="6622978" y="3454715"/>
            <a:ext cx="26682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1" name="Straight Arrow Connector 150">
            <a:extLst>
              <a:ext uri="{FF2B5EF4-FFF2-40B4-BE49-F238E27FC236}">
                <a16:creationId xmlns:a16="http://schemas.microsoft.com/office/drawing/2014/main" id="{4F2E2BEB-A942-42F4-08A9-0DE4D663252A}"/>
              </a:ext>
            </a:extLst>
          </p:cNvPr>
          <p:cNvCxnSpPr>
            <a:cxnSpLocks/>
          </p:cNvCxnSpPr>
          <p:nvPr/>
        </p:nvCxnSpPr>
        <p:spPr>
          <a:xfrm>
            <a:off x="6614146" y="3444171"/>
            <a:ext cx="8832" cy="32699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3" name="Straight Arrow Connector 152">
            <a:extLst>
              <a:ext uri="{FF2B5EF4-FFF2-40B4-BE49-F238E27FC236}">
                <a16:creationId xmlns:a16="http://schemas.microsoft.com/office/drawing/2014/main" id="{7FBB6260-D366-8B79-0262-D4D430321D7F}"/>
              </a:ext>
            </a:extLst>
          </p:cNvPr>
          <p:cNvCxnSpPr>
            <a:cxnSpLocks/>
          </p:cNvCxnSpPr>
          <p:nvPr/>
        </p:nvCxnSpPr>
        <p:spPr>
          <a:xfrm>
            <a:off x="10434306" y="3434011"/>
            <a:ext cx="8832" cy="32699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159" name="Rectangle: Rounded Corners 158">
            <a:extLst>
              <a:ext uri="{FF2B5EF4-FFF2-40B4-BE49-F238E27FC236}">
                <a16:creationId xmlns:a16="http://schemas.microsoft.com/office/drawing/2014/main" id="{32CB9CB9-D803-945B-D6C5-0D44475D6C06}"/>
              </a:ext>
            </a:extLst>
          </p:cNvPr>
          <p:cNvSpPr/>
          <p:nvPr/>
        </p:nvSpPr>
        <p:spPr>
          <a:xfrm>
            <a:off x="6779080" y="5271151"/>
            <a:ext cx="5212076" cy="517750"/>
          </a:xfrm>
          <a:prstGeom prst="roundRect">
            <a:avLst/>
          </a:prstGeom>
          <a:solidFill>
            <a:schemeClr val="accent6">
              <a:lumMod val="40000"/>
              <a:lumOff val="60000"/>
            </a:schemeClr>
          </a:solidFill>
          <a:ln>
            <a:solidFill>
              <a:schemeClr val="accent4">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b="1" dirty="0">
                <a:ln w="0"/>
                <a:solidFill>
                  <a:schemeClr val="tx1"/>
                </a:solidFill>
                <a:effectLst>
                  <a:outerShdw blurRad="38100" dist="19050" dir="2700000" algn="tl" rotWithShape="0">
                    <a:schemeClr val="dk1">
                      <a:alpha val="40000"/>
                    </a:schemeClr>
                  </a:outerShdw>
                </a:effectLst>
              </a:rPr>
              <a:t>DEEPLINK MAPPING AND ACTION ORDERING	</a:t>
            </a:r>
            <a:r>
              <a:rPr lang="en-US" sz="1100" dirty="0">
                <a:ln w="0"/>
                <a:solidFill>
                  <a:schemeClr val="tx1"/>
                </a:solidFill>
                <a:effectLst>
                  <a:outerShdw blurRad="38100" dist="19050" dir="2700000" algn="tl" rotWithShape="0">
                    <a:schemeClr val="dk1">
                      <a:alpha val="40000"/>
                    </a:schemeClr>
                  </a:outerShdw>
                </a:effectLst>
              </a:rPr>
              <a:t>Match device screens to catalog</a:t>
            </a:r>
          </a:p>
          <a:p>
            <a:pPr algn="ctr"/>
            <a:r>
              <a:rPr lang="en-US" sz="1100" dirty="0">
                <a:ln w="0"/>
                <a:solidFill>
                  <a:schemeClr val="tx1"/>
                </a:solidFill>
                <a:effectLst>
                  <a:outerShdw blurRad="38100" dist="19050" dir="2700000" algn="tl" rotWithShape="0">
                    <a:schemeClr val="dk1">
                      <a:alpha val="40000"/>
                    </a:schemeClr>
                  </a:outerShdw>
                </a:effectLst>
              </a:rPr>
              <a:t>		Screen mapping</a:t>
            </a:r>
          </a:p>
          <a:p>
            <a:pPr algn="ctr"/>
            <a:r>
              <a:rPr lang="en-US" sz="1100" dirty="0">
                <a:ln w="0"/>
                <a:solidFill>
                  <a:schemeClr val="tx1"/>
                </a:solidFill>
                <a:effectLst>
                  <a:outerShdw blurRad="38100" dist="19050" dir="2700000" algn="tl" rotWithShape="0">
                    <a:schemeClr val="dk1">
                      <a:alpha val="40000"/>
                    </a:schemeClr>
                  </a:outerShdw>
                </a:effectLst>
              </a:rPr>
              <a:t>		                                 Order actions(non-invasive-&gt;critical)</a:t>
            </a:r>
          </a:p>
        </p:txBody>
      </p:sp>
      <p:cxnSp>
        <p:nvCxnSpPr>
          <p:cNvPr id="161" name="Straight Arrow Connector 160">
            <a:extLst>
              <a:ext uri="{FF2B5EF4-FFF2-40B4-BE49-F238E27FC236}">
                <a16:creationId xmlns:a16="http://schemas.microsoft.com/office/drawing/2014/main" id="{4C85E049-67F6-3634-A160-F388F46E1185}"/>
              </a:ext>
            </a:extLst>
          </p:cNvPr>
          <p:cNvCxnSpPr>
            <a:cxnSpLocks/>
          </p:cNvCxnSpPr>
          <p:nvPr/>
        </p:nvCxnSpPr>
        <p:spPr>
          <a:xfrm>
            <a:off x="9225076" y="5764160"/>
            <a:ext cx="0" cy="1494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5" name="Straight Arrow Connector 164">
            <a:extLst>
              <a:ext uri="{FF2B5EF4-FFF2-40B4-BE49-F238E27FC236}">
                <a16:creationId xmlns:a16="http://schemas.microsoft.com/office/drawing/2014/main" id="{EEA34049-CE57-BE6A-F2CF-F69FA082876D}"/>
              </a:ext>
            </a:extLst>
          </p:cNvPr>
          <p:cNvCxnSpPr>
            <a:cxnSpLocks/>
          </p:cNvCxnSpPr>
          <p:nvPr/>
        </p:nvCxnSpPr>
        <p:spPr>
          <a:xfrm>
            <a:off x="9275876" y="6251840"/>
            <a:ext cx="0" cy="14941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66" name="Straight Connector 165">
            <a:extLst>
              <a:ext uri="{FF2B5EF4-FFF2-40B4-BE49-F238E27FC236}">
                <a16:creationId xmlns:a16="http://schemas.microsoft.com/office/drawing/2014/main" id="{F028953B-BBC0-2A28-D7F3-8FA8B24D847C}"/>
              </a:ext>
            </a:extLst>
          </p:cNvPr>
          <p:cNvCxnSpPr>
            <a:cxnSpLocks/>
          </p:cNvCxnSpPr>
          <p:nvPr/>
        </p:nvCxnSpPr>
        <p:spPr>
          <a:xfrm>
            <a:off x="6614146" y="4191797"/>
            <a:ext cx="0" cy="191011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pic>
        <p:nvPicPr>
          <p:cNvPr id="127" name="Picture 126">
            <a:extLst>
              <a:ext uri="{FF2B5EF4-FFF2-40B4-BE49-F238E27FC236}">
                <a16:creationId xmlns:a16="http://schemas.microsoft.com/office/drawing/2014/main" id="{55DA475C-8D4E-F0AB-CEE9-69BB6DE8353B}"/>
              </a:ext>
            </a:extLst>
          </p:cNvPr>
          <p:cNvPicPr>
            <a:picLocks noChangeAspect="1"/>
          </p:cNvPicPr>
          <p:nvPr/>
        </p:nvPicPr>
        <p:blipFill>
          <a:blip r:embed="rId14"/>
          <a:stretch>
            <a:fillRect/>
          </a:stretch>
        </p:blipFill>
        <p:spPr>
          <a:xfrm>
            <a:off x="7245530" y="5455920"/>
            <a:ext cx="323220" cy="323220"/>
          </a:xfrm>
          <a:prstGeom prst="rect">
            <a:avLst/>
          </a:prstGeom>
        </p:spPr>
      </p:pic>
    </p:spTree>
    <p:extLst>
      <p:ext uri="{BB962C8B-B14F-4D97-AF65-F5344CB8AC3E}">
        <p14:creationId xmlns:p14="http://schemas.microsoft.com/office/powerpoint/2010/main" val="2579789072"/>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0" y="1"/>
            <a:ext cx="10515600" cy="1056640"/>
          </a:xfrm>
        </p:spPr>
        <p:txBody>
          <a:bodyPr/>
          <a:lstStyle/>
          <a:p>
            <a:r>
              <a:rPr lang="en-IN" b="1" dirty="0">
                <a:solidFill>
                  <a:schemeClr val="accent6">
                    <a:lumMod val="50000"/>
                  </a:schemeClr>
                </a:solidFill>
                <a:latin typeface="+mn-lt"/>
              </a:rPr>
              <a:t>Demo &amp; Product Walkthrough</a:t>
            </a:r>
          </a:p>
        </p:txBody>
      </p:sp>
      <p:sp>
        <p:nvSpPr>
          <p:cNvPr id="4" name="Rectangle 3">
            <a:extLst>
              <a:ext uri="{FF2B5EF4-FFF2-40B4-BE49-F238E27FC236}">
                <a16:creationId xmlns:a16="http://schemas.microsoft.com/office/drawing/2014/main" id="{96C2493C-C7C9-5EC6-7E29-0D9DCDB39827}"/>
              </a:ext>
            </a:extLst>
          </p:cNvPr>
          <p:cNvSpPr/>
          <p:nvPr/>
        </p:nvSpPr>
        <p:spPr>
          <a:xfrm>
            <a:off x="487680" y="1056640"/>
            <a:ext cx="3210560" cy="5598159"/>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D5A7E70D-C914-25DF-7F31-494E30AC4B0C}"/>
              </a:ext>
            </a:extLst>
          </p:cNvPr>
          <p:cNvPicPr>
            <a:picLocks noChangeAspect="1"/>
          </p:cNvPicPr>
          <p:nvPr/>
        </p:nvPicPr>
        <p:blipFill>
          <a:blip r:embed="rId2">
            <a:duotone>
              <a:schemeClr val="accent6">
                <a:shade val="45000"/>
                <a:satMod val="135000"/>
              </a:schemeClr>
              <a:prstClr val="white"/>
            </a:duotone>
          </a:blip>
          <a:stretch>
            <a:fillRect/>
          </a:stretch>
        </p:blipFill>
        <p:spPr>
          <a:xfrm>
            <a:off x="508000" y="1076959"/>
            <a:ext cx="536420" cy="536420"/>
          </a:xfrm>
          <a:prstGeom prst="rect">
            <a:avLst/>
          </a:prstGeom>
        </p:spPr>
      </p:pic>
      <p:sp>
        <p:nvSpPr>
          <p:cNvPr id="15" name="TextBox 14">
            <a:extLst>
              <a:ext uri="{FF2B5EF4-FFF2-40B4-BE49-F238E27FC236}">
                <a16:creationId xmlns:a16="http://schemas.microsoft.com/office/drawing/2014/main" id="{AFD6B8E5-2BAC-0B48-7C63-274D451FCD3D}"/>
              </a:ext>
            </a:extLst>
          </p:cNvPr>
          <p:cNvSpPr txBox="1"/>
          <p:nvPr/>
        </p:nvSpPr>
        <p:spPr>
          <a:xfrm>
            <a:off x="1001720" y="1074899"/>
            <a:ext cx="2787960" cy="615553"/>
          </a:xfrm>
          <a:prstGeom prst="rect">
            <a:avLst/>
          </a:prstGeom>
          <a:noFill/>
        </p:spPr>
        <p:txBody>
          <a:bodyPr wrap="square" rtlCol="0">
            <a:spAutoFit/>
          </a:bodyPr>
          <a:lstStyle/>
          <a:p>
            <a:r>
              <a:rPr lang="en-US" b="1" dirty="0">
                <a:solidFill>
                  <a:schemeClr val="accent6">
                    <a:lumMod val="50000"/>
                  </a:schemeClr>
                </a:solidFill>
              </a:rPr>
              <a:t>Enter the Device Complaint</a:t>
            </a:r>
          </a:p>
          <a:p>
            <a:r>
              <a:rPr lang="en-US" sz="1600" dirty="0">
                <a:solidFill>
                  <a:schemeClr val="accent6">
                    <a:lumMod val="50000"/>
                  </a:schemeClr>
                </a:solidFill>
              </a:rPr>
              <a:t>Natural Language input</a:t>
            </a:r>
            <a:endParaRPr lang="en-IN" sz="1600" dirty="0">
              <a:solidFill>
                <a:schemeClr val="accent6">
                  <a:lumMod val="50000"/>
                </a:schemeClr>
              </a:solidFill>
            </a:endParaRPr>
          </a:p>
        </p:txBody>
      </p:sp>
      <p:sp>
        <p:nvSpPr>
          <p:cNvPr id="17" name="TextBox 16">
            <a:extLst>
              <a:ext uri="{FF2B5EF4-FFF2-40B4-BE49-F238E27FC236}">
                <a16:creationId xmlns:a16="http://schemas.microsoft.com/office/drawing/2014/main" id="{8FEA43A9-B63D-BCE8-326A-4CE319E3942E}"/>
              </a:ext>
            </a:extLst>
          </p:cNvPr>
          <p:cNvSpPr txBox="1"/>
          <p:nvPr/>
        </p:nvSpPr>
        <p:spPr>
          <a:xfrm>
            <a:off x="487680" y="1973168"/>
            <a:ext cx="3210560" cy="646331"/>
          </a:xfrm>
          <a:prstGeom prst="rect">
            <a:avLst/>
          </a:prstGeom>
          <a:noFill/>
        </p:spPr>
        <p:txBody>
          <a:bodyPr wrap="square" rtlCol="0">
            <a:spAutoFit/>
          </a:bodyPr>
          <a:lstStyle/>
          <a:p>
            <a:r>
              <a:rPr lang="en-US" dirty="0">
                <a:solidFill>
                  <a:schemeClr val="accent6">
                    <a:lumMod val="50000"/>
                  </a:schemeClr>
                </a:solidFill>
              </a:rPr>
              <a:t>The user describes the device issue in everyday language</a:t>
            </a:r>
            <a:endParaRPr lang="en-IN" dirty="0">
              <a:solidFill>
                <a:schemeClr val="accent6">
                  <a:lumMod val="50000"/>
                </a:schemeClr>
              </a:solidFill>
            </a:endParaRPr>
          </a:p>
        </p:txBody>
      </p:sp>
      <p:pic>
        <p:nvPicPr>
          <p:cNvPr id="19" name="Picture 18">
            <a:extLst>
              <a:ext uri="{FF2B5EF4-FFF2-40B4-BE49-F238E27FC236}">
                <a16:creationId xmlns:a16="http://schemas.microsoft.com/office/drawing/2014/main" id="{49B67426-92ED-CB2C-4EB9-65AFFF14C24A}"/>
              </a:ext>
            </a:extLst>
          </p:cNvPr>
          <p:cNvPicPr>
            <a:picLocks noChangeAspect="1"/>
          </p:cNvPicPr>
          <p:nvPr/>
        </p:nvPicPr>
        <p:blipFill>
          <a:blip r:embed="rId3"/>
          <a:stretch>
            <a:fillRect/>
          </a:stretch>
        </p:blipFill>
        <p:spPr>
          <a:xfrm>
            <a:off x="434939" y="3142878"/>
            <a:ext cx="3316042" cy="2912482"/>
          </a:xfrm>
          <a:prstGeom prst="rect">
            <a:avLst/>
          </a:prstGeom>
        </p:spPr>
      </p:pic>
      <p:sp>
        <p:nvSpPr>
          <p:cNvPr id="21" name="Rectangle 20">
            <a:extLst>
              <a:ext uri="{FF2B5EF4-FFF2-40B4-BE49-F238E27FC236}">
                <a16:creationId xmlns:a16="http://schemas.microsoft.com/office/drawing/2014/main" id="{AF4EE91D-FB10-395D-FB1D-46084096204B}"/>
              </a:ext>
            </a:extLst>
          </p:cNvPr>
          <p:cNvSpPr/>
          <p:nvPr/>
        </p:nvSpPr>
        <p:spPr>
          <a:xfrm>
            <a:off x="4572000" y="1056639"/>
            <a:ext cx="3210560" cy="5598159"/>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3" name="Picture 22">
            <a:extLst>
              <a:ext uri="{FF2B5EF4-FFF2-40B4-BE49-F238E27FC236}">
                <a16:creationId xmlns:a16="http://schemas.microsoft.com/office/drawing/2014/main" id="{6FE4E9B1-BC43-49BA-1CFA-566C94B21AF1}"/>
              </a:ext>
            </a:extLst>
          </p:cNvPr>
          <p:cNvPicPr>
            <a:picLocks noChangeAspect="1"/>
          </p:cNvPicPr>
          <p:nvPr/>
        </p:nvPicPr>
        <p:blipFill>
          <a:blip r:embed="rId4">
            <a:duotone>
              <a:schemeClr val="accent6">
                <a:shade val="45000"/>
                <a:satMod val="135000"/>
              </a:schemeClr>
              <a:prstClr val="white"/>
            </a:duotone>
          </a:blip>
          <a:stretch>
            <a:fillRect/>
          </a:stretch>
        </p:blipFill>
        <p:spPr>
          <a:xfrm>
            <a:off x="4693920" y="1085059"/>
            <a:ext cx="467976" cy="467976"/>
          </a:xfrm>
          <a:prstGeom prst="rect">
            <a:avLst/>
          </a:prstGeom>
        </p:spPr>
      </p:pic>
      <p:sp>
        <p:nvSpPr>
          <p:cNvPr id="25" name="TextBox 24">
            <a:extLst>
              <a:ext uri="{FF2B5EF4-FFF2-40B4-BE49-F238E27FC236}">
                <a16:creationId xmlns:a16="http://schemas.microsoft.com/office/drawing/2014/main" id="{54278BF4-2580-B906-652D-9463679CD408}"/>
              </a:ext>
            </a:extLst>
          </p:cNvPr>
          <p:cNvSpPr txBox="1"/>
          <p:nvPr/>
        </p:nvSpPr>
        <p:spPr>
          <a:xfrm>
            <a:off x="5207960" y="1056639"/>
            <a:ext cx="2787960" cy="615553"/>
          </a:xfrm>
          <a:prstGeom prst="rect">
            <a:avLst/>
          </a:prstGeom>
          <a:noFill/>
        </p:spPr>
        <p:txBody>
          <a:bodyPr wrap="square" rtlCol="0">
            <a:spAutoFit/>
          </a:bodyPr>
          <a:lstStyle/>
          <a:p>
            <a:r>
              <a:rPr lang="en-US" b="1" dirty="0">
                <a:solidFill>
                  <a:schemeClr val="accent6">
                    <a:lumMod val="50000"/>
                  </a:schemeClr>
                </a:solidFill>
              </a:rPr>
              <a:t>Process the Complaint</a:t>
            </a:r>
          </a:p>
          <a:p>
            <a:r>
              <a:rPr lang="en-US" sz="1600" dirty="0">
                <a:solidFill>
                  <a:schemeClr val="accent6">
                    <a:lumMod val="50000"/>
                  </a:schemeClr>
                </a:solidFill>
              </a:rPr>
              <a:t>Intelligent Query Processing</a:t>
            </a:r>
            <a:endParaRPr lang="en-IN" sz="1600" dirty="0">
              <a:solidFill>
                <a:schemeClr val="accent6">
                  <a:lumMod val="50000"/>
                </a:schemeClr>
              </a:solidFill>
            </a:endParaRPr>
          </a:p>
        </p:txBody>
      </p:sp>
      <p:sp>
        <p:nvSpPr>
          <p:cNvPr id="27" name="TextBox 26">
            <a:extLst>
              <a:ext uri="{FF2B5EF4-FFF2-40B4-BE49-F238E27FC236}">
                <a16:creationId xmlns:a16="http://schemas.microsoft.com/office/drawing/2014/main" id="{3B7FD63F-F7DD-5BC6-F858-6DA468950586}"/>
              </a:ext>
            </a:extLst>
          </p:cNvPr>
          <p:cNvSpPr txBox="1"/>
          <p:nvPr/>
        </p:nvSpPr>
        <p:spPr>
          <a:xfrm>
            <a:off x="4570059" y="1973167"/>
            <a:ext cx="3210560" cy="923330"/>
          </a:xfrm>
          <a:prstGeom prst="rect">
            <a:avLst/>
          </a:prstGeom>
          <a:noFill/>
        </p:spPr>
        <p:txBody>
          <a:bodyPr wrap="square" rtlCol="0">
            <a:spAutoFit/>
          </a:bodyPr>
          <a:lstStyle/>
          <a:p>
            <a:r>
              <a:rPr lang="en-US" dirty="0">
                <a:solidFill>
                  <a:schemeClr val="accent6">
                    <a:lumMod val="50000"/>
                  </a:schemeClr>
                </a:solidFill>
              </a:rPr>
              <a:t>SGTE understands the query, extracts key information and generates a structured plan.</a:t>
            </a:r>
            <a:endParaRPr lang="en-IN" dirty="0">
              <a:solidFill>
                <a:schemeClr val="accent6">
                  <a:lumMod val="50000"/>
                </a:schemeClr>
              </a:solidFill>
            </a:endParaRPr>
          </a:p>
        </p:txBody>
      </p:sp>
      <p:pic>
        <p:nvPicPr>
          <p:cNvPr id="29" name="Picture 28">
            <a:extLst>
              <a:ext uri="{FF2B5EF4-FFF2-40B4-BE49-F238E27FC236}">
                <a16:creationId xmlns:a16="http://schemas.microsoft.com/office/drawing/2014/main" id="{A0B1C618-CDA9-A06D-5D42-61FF35054599}"/>
              </a:ext>
            </a:extLst>
          </p:cNvPr>
          <p:cNvPicPr>
            <a:picLocks noChangeAspect="1"/>
          </p:cNvPicPr>
          <p:nvPr/>
        </p:nvPicPr>
        <p:blipFill>
          <a:blip r:embed="rId5"/>
          <a:stretch>
            <a:fillRect/>
          </a:stretch>
        </p:blipFill>
        <p:spPr>
          <a:xfrm>
            <a:off x="4570059" y="3095970"/>
            <a:ext cx="3316042" cy="3128536"/>
          </a:xfrm>
          <a:prstGeom prst="rect">
            <a:avLst/>
          </a:prstGeom>
        </p:spPr>
      </p:pic>
      <p:sp>
        <p:nvSpPr>
          <p:cNvPr id="31" name="Rectangle 30">
            <a:extLst>
              <a:ext uri="{FF2B5EF4-FFF2-40B4-BE49-F238E27FC236}">
                <a16:creationId xmlns:a16="http://schemas.microsoft.com/office/drawing/2014/main" id="{2676B767-4604-F0AB-42BF-CB9625FE6D83}"/>
              </a:ext>
            </a:extLst>
          </p:cNvPr>
          <p:cNvSpPr/>
          <p:nvPr/>
        </p:nvSpPr>
        <p:spPr>
          <a:xfrm>
            <a:off x="8518417" y="1056638"/>
            <a:ext cx="3210560" cy="5598159"/>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3" name="TextBox 32">
            <a:extLst>
              <a:ext uri="{FF2B5EF4-FFF2-40B4-BE49-F238E27FC236}">
                <a16:creationId xmlns:a16="http://schemas.microsoft.com/office/drawing/2014/main" id="{4C4C07CE-9322-AEF4-1E44-F7201639B2DC}"/>
              </a:ext>
            </a:extLst>
          </p:cNvPr>
          <p:cNvSpPr txBox="1"/>
          <p:nvPr/>
        </p:nvSpPr>
        <p:spPr>
          <a:xfrm>
            <a:off x="8941017" y="1074899"/>
            <a:ext cx="2940360" cy="892552"/>
          </a:xfrm>
          <a:prstGeom prst="rect">
            <a:avLst/>
          </a:prstGeom>
          <a:noFill/>
        </p:spPr>
        <p:txBody>
          <a:bodyPr wrap="square" rtlCol="0">
            <a:spAutoFit/>
          </a:bodyPr>
          <a:lstStyle/>
          <a:p>
            <a:r>
              <a:rPr lang="en-US" b="1" dirty="0">
                <a:solidFill>
                  <a:schemeClr val="accent6">
                    <a:lumMod val="50000"/>
                  </a:schemeClr>
                </a:solidFill>
              </a:rPr>
              <a:t>Get Troubleshooting Guidance</a:t>
            </a:r>
          </a:p>
          <a:p>
            <a:r>
              <a:rPr lang="en-US" sz="1600" dirty="0">
                <a:solidFill>
                  <a:schemeClr val="accent6">
                    <a:lumMod val="50000"/>
                  </a:schemeClr>
                </a:solidFill>
              </a:rPr>
              <a:t>Structured troubleshooting plan</a:t>
            </a:r>
            <a:endParaRPr lang="en-IN" sz="1600" dirty="0">
              <a:solidFill>
                <a:schemeClr val="accent6">
                  <a:lumMod val="50000"/>
                </a:schemeClr>
              </a:solidFill>
            </a:endParaRPr>
          </a:p>
        </p:txBody>
      </p:sp>
      <p:pic>
        <p:nvPicPr>
          <p:cNvPr id="35" name="Picture 34">
            <a:extLst>
              <a:ext uri="{FF2B5EF4-FFF2-40B4-BE49-F238E27FC236}">
                <a16:creationId xmlns:a16="http://schemas.microsoft.com/office/drawing/2014/main" id="{7D7090D5-AFCD-86F2-53E5-75593BDA21A9}"/>
              </a:ext>
            </a:extLst>
          </p:cNvPr>
          <p:cNvPicPr>
            <a:picLocks noChangeAspect="1"/>
          </p:cNvPicPr>
          <p:nvPr/>
        </p:nvPicPr>
        <p:blipFill>
          <a:blip r:embed="rId6">
            <a:duotone>
              <a:schemeClr val="accent6">
                <a:shade val="45000"/>
                <a:satMod val="135000"/>
              </a:schemeClr>
              <a:prstClr val="white"/>
            </a:duotone>
          </a:blip>
          <a:stretch>
            <a:fillRect/>
          </a:stretch>
        </p:blipFill>
        <p:spPr>
          <a:xfrm>
            <a:off x="8544560" y="1100299"/>
            <a:ext cx="467360" cy="467360"/>
          </a:xfrm>
          <a:prstGeom prst="rect">
            <a:avLst/>
          </a:prstGeom>
        </p:spPr>
      </p:pic>
      <p:sp>
        <p:nvSpPr>
          <p:cNvPr id="37" name="TextBox 36">
            <a:extLst>
              <a:ext uri="{FF2B5EF4-FFF2-40B4-BE49-F238E27FC236}">
                <a16:creationId xmlns:a16="http://schemas.microsoft.com/office/drawing/2014/main" id="{8496EFF4-5A5B-6FDB-8777-24087713111F}"/>
              </a:ext>
            </a:extLst>
          </p:cNvPr>
          <p:cNvSpPr txBox="1"/>
          <p:nvPr/>
        </p:nvSpPr>
        <p:spPr>
          <a:xfrm>
            <a:off x="8532914" y="1973167"/>
            <a:ext cx="3210560" cy="923330"/>
          </a:xfrm>
          <a:prstGeom prst="rect">
            <a:avLst/>
          </a:prstGeom>
          <a:noFill/>
        </p:spPr>
        <p:txBody>
          <a:bodyPr wrap="square" rtlCol="0">
            <a:spAutoFit/>
          </a:bodyPr>
          <a:lstStyle/>
          <a:p>
            <a:r>
              <a:rPr lang="en-US" dirty="0">
                <a:solidFill>
                  <a:schemeClr val="accent6">
                    <a:lumMod val="50000"/>
                  </a:schemeClr>
                </a:solidFill>
              </a:rPr>
              <a:t>The system generates a clear, step by step plan with actions and explanations</a:t>
            </a:r>
            <a:endParaRPr lang="en-IN" dirty="0">
              <a:solidFill>
                <a:schemeClr val="accent6">
                  <a:lumMod val="50000"/>
                </a:schemeClr>
              </a:solidFill>
            </a:endParaRPr>
          </a:p>
        </p:txBody>
      </p:sp>
      <p:pic>
        <p:nvPicPr>
          <p:cNvPr id="39" name="Picture 38">
            <a:extLst>
              <a:ext uri="{FF2B5EF4-FFF2-40B4-BE49-F238E27FC236}">
                <a16:creationId xmlns:a16="http://schemas.microsoft.com/office/drawing/2014/main" id="{0CCEC598-5AAC-2649-E05F-A191ED9180A6}"/>
              </a:ext>
            </a:extLst>
          </p:cNvPr>
          <p:cNvPicPr>
            <a:picLocks noChangeAspect="1"/>
          </p:cNvPicPr>
          <p:nvPr/>
        </p:nvPicPr>
        <p:blipFill>
          <a:blip r:embed="rId7"/>
          <a:stretch>
            <a:fillRect/>
          </a:stretch>
        </p:blipFill>
        <p:spPr>
          <a:xfrm>
            <a:off x="8390818" y="3130093"/>
            <a:ext cx="3345408" cy="3060290"/>
          </a:xfrm>
          <a:prstGeom prst="rect">
            <a:avLst/>
          </a:prstGeom>
        </p:spPr>
      </p:pic>
    </p:spTree>
    <p:extLst>
      <p:ext uri="{BB962C8B-B14F-4D97-AF65-F5344CB8AC3E}">
        <p14:creationId xmlns:p14="http://schemas.microsoft.com/office/powerpoint/2010/main" val="1178244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40640" y="0"/>
            <a:ext cx="10515600" cy="1325563"/>
          </a:xfrm>
        </p:spPr>
        <p:txBody>
          <a:bodyPr/>
          <a:lstStyle/>
          <a:p>
            <a:r>
              <a:rPr lang="en-US" sz="4400" b="1" dirty="0">
                <a:solidFill>
                  <a:schemeClr val="accent6">
                    <a:lumMod val="50000"/>
                  </a:schemeClr>
                </a:solidFill>
                <a:latin typeface="Calibri" pitchFamily="34" charset="0"/>
                <a:ea typeface="Calibri" pitchFamily="34" charset="-122"/>
                <a:cs typeface="Calibri" pitchFamily="34" charset="-120"/>
              </a:rPr>
              <a:t>Tools and tech stack used</a:t>
            </a:r>
            <a:endParaRPr lang="en-IN" b="1" dirty="0">
              <a:solidFill>
                <a:schemeClr val="accent6">
                  <a:lumMod val="50000"/>
                </a:schemeClr>
              </a:solidFill>
            </a:endParaRPr>
          </a:p>
        </p:txBody>
      </p:sp>
      <p:sp>
        <p:nvSpPr>
          <p:cNvPr id="4" name="Rectangle 3">
            <a:extLst>
              <a:ext uri="{FF2B5EF4-FFF2-40B4-BE49-F238E27FC236}">
                <a16:creationId xmlns:a16="http://schemas.microsoft.com/office/drawing/2014/main" id="{56C3C816-A909-581C-E973-F414394EEE00}"/>
              </a:ext>
            </a:extLst>
          </p:cNvPr>
          <p:cNvSpPr/>
          <p:nvPr/>
        </p:nvSpPr>
        <p:spPr>
          <a:xfrm>
            <a:off x="60960" y="1325563"/>
            <a:ext cx="2428240" cy="5430837"/>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6" name="Rectangle 5">
            <a:extLst>
              <a:ext uri="{FF2B5EF4-FFF2-40B4-BE49-F238E27FC236}">
                <a16:creationId xmlns:a16="http://schemas.microsoft.com/office/drawing/2014/main" id="{3D5391EF-A049-9D7D-0E7A-B7D9FA55FFAF}"/>
              </a:ext>
            </a:extLst>
          </p:cNvPr>
          <p:cNvSpPr/>
          <p:nvPr/>
        </p:nvSpPr>
        <p:spPr>
          <a:xfrm>
            <a:off x="2550160" y="1325561"/>
            <a:ext cx="2428240" cy="5430837"/>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8" name="Rectangle 7">
            <a:extLst>
              <a:ext uri="{FF2B5EF4-FFF2-40B4-BE49-F238E27FC236}">
                <a16:creationId xmlns:a16="http://schemas.microsoft.com/office/drawing/2014/main" id="{4D31C531-62A4-3725-1B6F-8FE6DE283C15}"/>
              </a:ext>
            </a:extLst>
          </p:cNvPr>
          <p:cNvSpPr/>
          <p:nvPr/>
        </p:nvSpPr>
        <p:spPr>
          <a:xfrm>
            <a:off x="5034280" y="1325561"/>
            <a:ext cx="2428240" cy="5430837"/>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DA2DA2C-2BD3-4F80-8522-AE2D84CDD82F}"/>
              </a:ext>
            </a:extLst>
          </p:cNvPr>
          <p:cNvSpPr/>
          <p:nvPr/>
        </p:nvSpPr>
        <p:spPr>
          <a:xfrm>
            <a:off x="7518400" y="1325560"/>
            <a:ext cx="2428240" cy="5430837"/>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04A446E4-1F20-F965-5207-959ED9C3ECDA}"/>
              </a:ext>
            </a:extLst>
          </p:cNvPr>
          <p:cNvSpPr/>
          <p:nvPr/>
        </p:nvSpPr>
        <p:spPr>
          <a:xfrm>
            <a:off x="10007600" y="1325559"/>
            <a:ext cx="2123440" cy="5430837"/>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824AF1B2-C90F-E617-F3DB-B19C5E4BAD63}"/>
              </a:ext>
            </a:extLst>
          </p:cNvPr>
          <p:cNvPicPr>
            <a:picLocks noChangeAspect="1"/>
          </p:cNvPicPr>
          <p:nvPr/>
        </p:nvPicPr>
        <p:blipFill>
          <a:blip r:embed="rId2"/>
          <a:stretch>
            <a:fillRect/>
          </a:stretch>
        </p:blipFill>
        <p:spPr>
          <a:xfrm>
            <a:off x="132080" y="1391278"/>
            <a:ext cx="502920" cy="502920"/>
          </a:xfrm>
          <a:prstGeom prst="rect">
            <a:avLst/>
          </a:prstGeom>
        </p:spPr>
      </p:pic>
      <p:pic>
        <p:nvPicPr>
          <p:cNvPr id="18" name="Picture 17">
            <a:extLst>
              <a:ext uri="{FF2B5EF4-FFF2-40B4-BE49-F238E27FC236}">
                <a16:creationId xmlns:a16="http://schemas.microsoft.com/office/drawing/2014/main" id="{002F668B-1812-043B-E4B3-9432533BC048}"/>
              </a:ext>
            </a:extLst>
          </p:cNvPr>
          <p:cNvPicPr>
            <a:picLocks noChangeAspect="1"/>
          </p:cNvPicPr>
          <p:nvPr/>
        </p:nvPicPr>
        <p:blipFill>
          <a:blip r:embed="rId3"/>
          <a:stretch>
            <a:fillRect/>
          </a:stretch>
        </p:blipFill>
        <p:spPr>
          <a:xfrm>
            <a:off x="2606362" y="1391277"/>
            <a:ext cx="502921" cy="502921"/>
          </a:xfrm>
          <a:prstGeom prst="rect">
            <a:avLst/>
          </a:prstGeom>
        </p:spPr>
      </p:pic>
      <p:pic>
        <p:nvPicPr>
          <p:cNvPr id="20" name="Picture 19">
            <a:extLst>
              <a:ext uri="{FF2B5EF4-FFF2-40B4-BE49-F238E27FC236}">
                <a16:creationId xmlns:a16="http://schemas.microsoft.com/office/drawing/2014/main" id="{04E1AAA8-7D5C-88C7-7DF7-45B32430D1D8}"/>
              </a:ext>
            </a:extLst>
          </p:cNvPr>
          <p:cNvPicPr>
            <a:picLocks noChangeAspect="1"/>
          </p:cNvPicPr>
          <p:nvPr/>
        </p:nvPicPr>
        <p:blipFill>
          <a:blip r:embed="rId4"/>
          <a:stretch>
            <a:fillRect/>
          </a:stretch>
        </p:blipFill>
        <p:spPr>
          <a:xfrm>
            <a:off x="5065082" y="1391276"/>
            <a:ext cx="502921" cy="502921"/>
          </a:xfrm>
          <a:prstGeom prst="rect">
            <a:avLst/>
          </a:prstGeom>
        </p:spPr>
      </p:pic>
      <p:pic>
        <p:nvPicPr>
          <p:cNvPr id="22" name="Picture 21">
            <a:extLst>
              <a:ext uri="{FF2B5EF4-FFF2-40B4-BE49-F238E27FC236}">
                <a16:creationId xmlns:a16="http://schemas.microsoft.com/office/drawing/2014/main" id="{074C2447-6EF1-680B-87E7-7553A66EEA0D}"/>
              </a:ext>
            </a:extLst>
          </p:cNvPr>
          <p:cNvPicPr>
            <a:picLocks noChangeAspect="1"/>
          </p:cNvPicPr>
          <p:nvPr/>
        </p:nvPicPr>
        <p:blipFill>
          <a:blip r:embed="rId5"/>
          <a:stretch>
            <a:fillRect/>
          </a:stretch>
        </p:blipFill>
        <p:spPr>
          <a:xfrm>
            <a:off x="7569199" y="1381115"/>
            <a:ext cx="502921" cy="502921"/>
          </a:xfrm>
          <a:prstGeom prst="rect">
            <a:avLst/>
          </a:prstGeom>
        </p:spPr>
      </p:pic>
      <p:pic>
        <p:nvPicPr>
          <p:cNvPr id="24" name="Picture 23">
            <a:extLst>
              <a:ext uri="{FF2B5EF4-FFF2-40B4-BE49-F238E27FC236}">
                <a16:creationId xmlns:a16="http://schemas.microsoft.com/office/drawing/2014/main" id="{F637F743-754F-961B-5640-60A248D36048}"/>
              </a:ext>
            </a:extLst>
          </p:cNvPr>
          <p:cNvPicPr>
            <a:picLocks noChangeAspect="1"/>
          </p:cNvPicPr>
          <p:nvPr/>
        </p:nvPicPr>
        <p:blipFill>
          <a:blip r:embed="rId6"/>
          <a:stretch>
            <a:fillRect/>
          </a:stretch>
        </p:blipFill>
        <p:spPr>
          <a:xfrm>
            <a:off x="10027920" y="1391274"/>
            <a:ext cx="502921" cy="502921"/>
          </a:xfrm>
          <a:prstGeom prst="rect">
            <a:avLst/>
          </a:prstGeom>
        </p:spPr>
      </p:pic>
      <p:sp>
        <p:nvSpPr>
          <p:cNvPr id="25" name="TextBox 24">
            <a:extLst>
              <a:ext uri="{FF2B5EF4-FFF2-40B4-BE49-F238E27FC236}">
                <a16:creationId xmlns:a16="http://schemas.microsoft.com/office/drawing/2014/main" id="{9AFCB0B0-7E49-DE80-4911-DB2FFA214067}"/>
              </a:ext>
            </a:extLst>
          </p:cNvPr>
          <p:cNvSpPr txBox="1"/>
          <p:nvPr/>
        </p:nvSpPr>
        <p:spPr>
          <a:xfrm>
            <a:off x="643991" y="1370975"/>
            <a:ext cx="1541576" cy="523220"/>
          </a:xfrm>
          <a:prstGeom prst="rect">
            <a:avLst/>
          </a:prstGeom>
          <a:noFill/>
        </p:spPr>
        <p:txBody>
          <a:bodyPr wrap="none" rtlCol="0">
            <a:spAutoFit/>
          </a:bodyPr>
          <a:lstStyle/>
          <a:p>
            <a:r>
              <a:rPr lang="en-US" sz="2800" b="1" dirty="0"/>
              <a:t>Frontend</a:t>
            </a:r>
            <a:endParaRPr lang="en-IN" sz="2800" b="1" dirty="0"/>
          </a:p>
        </p:txBody>
      </p:sp>
      <p:sp>
        <p:nvSpPr>
          <p:cNvPr id="27" name="TextBox 26">
            <a:extLst>
              <a:ext uri="{FF2B5EF4-FFF2-40B4-BE49-F238E27FC236}">
                <a16:creationId xmlns:a16="http://schemas.microsoft.com/office/drawing/2014/main" id="{C05D05B8-A1DC-523F-55C8-1BC25999CCFA}"/>
              </a:ext>
            </a:extLst>
          </p:cNvPr>
          <p:cNvSpPr txBox="1"/>
          <p:nvPr/>
        </p:nvSpPr>
        <p:spPr>
          <a:xfrm>
            <a:off x="3183991" y="1381114"/>
            <a:ext cx="1444434" cy="523220"/>
          </a:xfrm>
          <a:prstGeom prst="rect">
            <a:avLst/>
          </a:prstGeom>
          <a:noFill/>
        </p:spPr>
        <p:txBody>
          <a:bodyPr wrap="none" rtlCol="0">
            <a:spAutoFit/>
          </a:bodyPr>
          <a:lstStyle/>
          <a:p>
            <a:r>
              <a:rPr lang="en-US" sz="2800" b="1" dirty="0"/>
              <a:t>Backend</a:t>
            </a:r>
            <a:endParaRPr lang="en-IN" sz="2800" b="1" dirty="0"/>
          </a:p>
        </p:txBody>
      </p:sp>
      <p:sp>
        <p:nvSpPr>
          <p:cNvPr id="29" name="TextBox 28">
            <a:extLst>
              <a:ext uri="{FF2B5EF4-FFF2-40B4-BE49-F238E27FC236}">
                <a16:creationId xmlns:a16="http://schemas.microsoft.com/office/drawing/2014/main" id="{DDCD277C-4FF2-025F-8CEC-812F898B3A06}"/>
              </a:ext>
            </a:extLst>
          </p:cNvPr>
          <p:cNvSpPr txBox="1"/>
          <p:nvPr/>
        </p:nvSpPr>
        <p:spPr>
          <a:xfrm>
            <a:off x="5507042" y="1329973"/>
            <a:ext cx="3149278" cy="830997"/>
          </a:xfrm>
          <a:prstGeom prst="rect">
            <a:avLst/>
          </a:prstGeom>
          <a:noFill/>
        </p:spPr>
        <p:txBody>
          <a:bodyPr wrap="square" rtlCol="0">
            <a:spAutoFit/>
          </a:bodyPr>
          <a:lstStyle/>
          <a:p>
            <a:r>
              <a:rPr lang="en-US" sz="2400" b="1" dirty="0"/>
              <a:t>API and Query Processing</a:t>
            </a:r>
            <a:endParaRPr lang="en-IN" sz="2400" b="1" dirty="0"/>
          </a:p>
        </p:txBody>
      </p:sp>
      <p:sp>
        <p:nvSpPr>
          <p:cNvPr id="31" name="TextBox 30">
            <a:extLst>
              <a:ext uri="{FF2B5EF4-FFF2-40B4-BE49-F238E27FC236}">
                <a16:creationId xmlns:a16="http://schemas.microsoft.com/office/drawing/2014/main" id="{5C757DFC-5CCB-7BC5-91B0-04CB4F6B07F0}"/>
              </a:ext>
            </a:extLst>
          </p:cNvPr>
          <p:cNvSpPr txBox="1"/>
          <p:nvPr/>
        </p:nvSpPr>
        <p:spPr>
          <a:xfrm>
            <a:off x="8091583" y="1279514"/>
            <a:ext cx="1941814" cy="830997"/>
          </a:xfrm>
          <a:prstGeom prst="rect">
            <a:avLst/>
          </a:prstGeom>
          <a:noFill/>
        </p:spPr>
        <p:txBody>
          <a:bodyPr wrap="none" rtlCol="0">
            <a:spAutoFit/>
          </a:bodyPr>
          <a:lstStyle/>
          <a:p>
            <a:r>
              <a:rPr lang="en-US" sz="2400" b="1" dirty="0"/>
              <a:t>Retrieval and </a:t>
            </a:r>
          </a:p>
          <a:p>
            <a:r>
              <a:rPr lang="en-US" sz="2400" b="1" dirty="0"/>
              <a:t>Knowledge</a:t>
            </a:r>
            <a:endParaRPr lang="en-IN" sz="2400" b="1" dirty="0"/>
          </a:p>
        </p:txBody>
      </p:sp>
      <p:sp>
        <p:nvSpPr>
          <p:cNvPr id="33" name="TextBox 32">
            <a:extLst>
              <a:ext uri="{FF2B5EF4-FFF2-40B4-BE49-F238E27FC236}">
                <a16:creationId xmlns:a16="http://schemas.microsoft.com/office/drawing/2014/main" id="{253584FC-791C-75B5-B4F0-05006DD60B3A}"/>
              </a:ext>
            </a:extLst>
          </p:cNvPr>
          <p:cNvSpPr txBox="1"/>
          <p:nvPr/>
        </p:nvSpPr>
        <p:spPr>
          <a:xfrm>
            <a:off x="10443226" y="1279514"/>
            <a:ext cx="1830758" cy="769441"/>
          </a:xfrm>
          <a:prstGeom prst="rect">
            <a:avLst/>
          </a:prstGeom>
          <a:noFill/>
        </p:spPr>
        <p:txBody>
          <a:bodyPr wrap="none" rtlCol="0">
            <a:spAutoFit/>
          </a:bodyPr>
          <a:lstStyle/>
          <a:p>
            <a:r>
              <a:rPr lang="en-US" sz="2200" b="1" dirty="0"/>
              <a:t>Development </a:t>
            </a:r>
          </a:p>
          <a:p>
            <a:r>
              <a:rPr lang="en-US" sz="2200" b="1" dirty="0"/>
              <a:t>and Testing</a:t>
            </a:r>
            <a:endParaRPr lang="en-IN" sz="2200" b="1" dirty="0"/>
          </a:p>
        </p:txBody>
      </p:sp>
      <p:pic>
        <p:nvPicPr>
          <p:cNvPr id="35" name="Picture 34">
            <a:extLst>
              <a:ext uri="{FF2B5EF4-FFF2-40B4-BE49-F238E27FC236}">
                <a16:creationId xmlns:a16="http://schemas.microsoft.com/office/drawing/2014/main" id="{837D6064-0BCB-A22C-E68D-116AF46AAF94}"/>
              </a:ext>
            </a:extLst>
          </p:cNvPr>
          <p:cNvPicPr>
            <a:picLocks noChangeAspect="1"/>
          </p:cNvPicPr>
          <p:nvPr/>
        </p:nvPicPr>
        <p:blipFill>
          <a:blip r:embed="rId7"/>
          <a:stretch>
            <a:fillRect/>
          </a:stretch>
        </p:blipFill>
        <p:spPr>
          <a:xfrm>
            <a:off x="123402" y="2824798"/>
            <a:ext cx="1106803" cy="1106803"/>
          </a:xfrm>
          <a:prstGeom prst="rect">
            <a:avLst/>
          </a:prstGeom>
        </p:spPr>
      </p:pic>
      <p:pic>
        <p:nvPicPr>
          <p:cNvPr id="36" name="Picture 35" descr="Vite.js SVG and transparent PNG icons | TechIcons">
            <a:extLst>
              <a:ext uri="{FF2B5EF4-FFF2-40B4-BE49-F238E27FC236}">
                <a16:creationId xmlns:a16="http://schemas.microsoft.com/office/drawing/2014/main" id="{3D7CAA0E-41E0-4143-4611-D6D3BD745B76}"/>
              </a:ext>
            </a:extLst>
          </p:cNvPr>
          <p:cNvPicPr>
            <a:picLocks noChangeAspect="1"/>
          </p:cNvPicPr>
          <p:nvPr/>
        </p:nvPicPr>
        <p:blipFill>
          <a:blip r:embed="rId8"/>
          <a:stretch>
            <a:fillRect/>
          </a:stretch>
        </p:blipFill>
        <p:spPr>
          <a:xfrm>
            <a:off x="1281005" y="2824799"/>
            <a:ext cx="1106803" cy="1106803"/>
          </a:xfrm>
          <a:prstGeom prst="rect">
            <a:avLst/>
          </a:prstGeom>
        </p:spPr>
      </p:pic>
      <p:sp>
        <p:nvSpPr>
          <p:cNvPr id="37" name="TextBox 36">
            <a:extLst>
              <a:ext uri="{FF2B5EF4-FFF2-40B4-BE49-F238E27FC236}">
                <a16:creationId xmlns:a16="http://schemas.microsoft.com/office/drawing/2014/main" id="{DFA8E64E-7029-03A9-E18E-C031F2363E89}"/>
              </a:ext>
            </a:extLst>
          </p:cNvPr>
          <p:cNvSpPr txBox="1"/>
          <p:nvPr/>
        </p:nvSpPr>
        <p:spPr>
          <a:xfrm>
            <a:off x="264160" y="4082534"/>
            <a:ext cx="1981200" cy="369332"/>
          </a:xfrm>
          <a:prstGeom prst="rect">
            <a:avLst/>
          </a:prstGeom>
          <a:noFill/>
        </p:spPr>
        <p:txBody>
          <a:bodyPr wrap="square" rtlCol="0">
            <a:spAutoFit/>
          </a:bodyPr>
          <a:lstStyle/>
          <a:p>
            <a:r>
              <a:rPr lang="en-US" dirty="0"/>
              <a:t>React.js	     Vite</a:t>
            </a:r>
            <a:endParaRPr lang="en-IN" dirty="0"/>
          </a:p>
        </p:txBody>
      </p:sp>
      <p:sp>
        <p:nvSpPr>
          <p:cNvPr id="38" name="TextBox 37">
            <a:extLst>
              <a:ext uri="{FF2B5EF4-FFF2-40B4-BE49-F238E27FC236}">
                <a16:creationId xmlns:a16="http://schemas.microsoft.com/office/drawing/2014/main" id="{735FB11D-B8F3-F22D-4999-A7E663B75ACD}"/>
              </a:ext>
            </a:extLst>
          </p:cNvPr>
          <p:cNvSpPr txBox="1"/>
          <p:nvPr/>
        </p:nvSpPr>
        <p:spPr>
          <a:xfrm>
            <a:off x="60960" y="5018602"/>
            <a:ext cx="2436949" cy="1754326"/>
          </a:xfrm>
          <a:prstGeom prst="rect">
            <a:avLst/>
          </a:prstGeom>
          <a:noFill/>
        </p:spPr>
        <p:txBody>
          <a:bodyPr wrap="none" rtlCol="0">
            <a:spAutoFit/>
          </a:bodyPr>
          <a:lstStyle/>
          <a:p>
            <a:r>
              <a:rPr lang="en-IN" dirty="0"/>
              <a:t>Builds a responsive and </a:t>
            </a:r>
          </a:p>
          <a:p>
            <a:r>
              <a:rPr lang="en-IN" dirty="0"/>
              <a:t>interactive interface for </a:t>
            </a:r>
          </a:p>
          <a:p>
            <a:r>
              <a:rPr lang="en-IN" dirty="0"/>
              <a:t>users to enter device </a:t>
            </a:r>
          </a:p>
          <a:p>
            <a:r>
              <a:rPr lang="en-IN" dirty="0"/>
              <a:t>complaints and view </a:t>
            </a:r>
          </a:p>
          <a:p>
            <a:r>
              <a:rPr lang="en-IN" dirty="0"/>
              <a:t>troubleshooting </a:t>
            </a:r>
          </a:p>
          <a:p>
            <a:r>
              <a:rPr lang="en-IN" dirty="0"/>
              <a:t>guidance.</a:t>
            </a:r>
          </a:p>
        </p:txBody>
      </p:sp>
      <p:sp>
        <p:nvSpPr>
          <p:cNvPr id="39" name="TextBox 38">
            <a:extLst>
              <a:ext uri="{FF2B5EF4-FFF2-40B4-BE49-F238E27FC236}">
                <a16:creationId xmlns:a16="http://schemas.microsoft.com/office/drawing/2014/main" id="{0A7A8367-18B5-BAE3-4444-3095FFC7C87F}"/>
              </a:ext>
            </a:extLst>
          </p:cNvPr>
          <p:cNvSpPr txBox="1"/>
          <p:nvPr/>
        </p:nvSpPr>
        <p:spPr>
          <a:xfrm>
            <a:off x="655008" y="1828900"/>
            <a:ext cx="1507657" cy="369332"/>
          </a:xfrm>
          <a:prstGeom prst="rect">
            <a:avLst/>
          </a:prstGeom>
          <a:noFill/>
        </p:spPr>
        <p:txBody>
          <a:bodyPr wrap="none" rtlCol="0">
            <a:spAutoFit/>
          </a:bodyPr>
          <a:lstStyle/>
          <a:p>
            <a:r>
              <a:rPr lang="en-US" dirty="0"/>
              <a:t>User Interface</a:t>
            </a:r>
            <a:endParaRPr lang="en-IN" dirty="0"/>
          </a:p>
        </p:txBody>
      </p:sp>
      <p:pic>
        <p:nvPicPr>
          <p:cNvPr id="41" name="Picture 40">
            <a:extLst>
              <a:ext uri="{FF2B5EF4-FFF2-40B4-BE49-F238E27FC236}">
                <a16:creationId xmlns:a16="http://schemas.microsoft.com/office/drawing/2014/main" id="{E9C66573-BD50-F855-5273-261741823F82}"/>
              </a:ext>
            </a:extLst>
          </p:cNvPr>
          <p:cNvPicPr>
            <a:picLocks noChangeAspect="1"/>
          </p:cNvPicPr>
          <p:nvPr/>
        </p:nvPicPr>
        <p:blipFill>
          <a:blip r:embed="rId9"/>
          <a:stretch>
            <a:fillRect/>
          </a:stretch>
        </p:blipFill>
        <p:spPr>
          <a:xfrm>
            <a:off x="2606363" y="3021743"/>
            <a:ext cx="808578" cy="808578"/>
          </a:xfrm>
          <a:prstGeom prst="rect">
            <a:avLst/>
          </a:prstGeom>
        </p:spPr>
      </p:pic>
      <p:pic>
        <p:nvPicPr>
          <p:cNvPr id="43" name="Picture 42" descr="Fastapi Icon &amp; Logo | Dashboard Icons &amp; Logos">
            <a:extLst>
              <a:ext uri="{FF2B5EF4-FFF2-40B4-BE49-F238E27FC236}">
                <a16:creationId xmlns:a16="http://schemas.microsoft.com/office/drawing/2014/main" id="{CCD464E6-0218-1443-F36F-778CAC238CCC}"/>
              </a:ext>
            </a:extLst>
          </p:cNvPr>
          <p:cNvPicPr>
            <a:picLocks noChangeAspect="1"/>
          </p:cNvPicPr>
          <p:nvPr/>
        </p:nvPicPr>
        <p:blipFill>
          <a:blip r:embed="rId10"/>
          <a:stretch>
            <a:fillRect/>
          </a:stretch>
        </p:blipFill>
        <p:spPr>
          <a:xfrm>
            <a:off x="3481936" y="3084845"/>
            <a:ext cx="676448" cy="666750"/>
          </a:xfrm>
          <a:prstGeom prst="rect">
            <a:avLst/>
          </a:prstGeom>
        </p:spPr>
      </p:pic>
      <p:pic>
        <p:nvPicPr>
          <p:cNvPr id="44" name="Picture 43" descr="Pydantic · GitHub">
            <a:extLst>
              <a:ext uri="{FF2B5EF4-FFF2-40B4-BE49-F238E27FC236}">
                <a16:creationId xmlns:a16="http://schemas.microsoft.com/office/drawing/2014/main" id="{D3DD2287-9F68-8C45-3906-46525C4F2225}"/>
              </a:ext>
            </a:extLst>
          </p:cNvPr>
          <p:cNvPicPr>
            <a:picLocks noChangeAspect="1"/>
          </p:cNvPicPr>
          <p:nvPr/>
        </p:nvPicPr>
        <p:blipFill>
          <a:blip r:embed="rId11"/>
          <a:stretch>
            <a:fillRect/>
          </a:stretch>
        </p:blipFill>
        <p:spPr>
          <a:xfrm>
            <a:off x="4208982" y="3048650"/>
            <a:ext cx="739140" cy="739140"/>
          </a:xfrm>
          <a:prstGeom prst="rect">
            <a:avLst/>
          </a:prstGeom>
        </p:spPr>
      </p:pic>
      <p:sp>
        <p:nvSpPr>
          <p:cNvPr id="45" name="TextBox 44">
            <a:extLst>
              <a:ext uri="{FF2B5EF4-FFF2-40B4-BE49-F238E27FC236}">
                <a16:creationId xmlns:a16="http://schemas.microsoft.com/office/drawing/2014/main" id="{55BC593A-55E5-67D5-3578-BEB704698E03}"/>
              </a:ext>
            </a:extLst>
          </p:cNvPr>
          <p:cNvSpPr txBox="1"/>
          <p:nvPr/>
        </p:nvSpPr>
        <p:spPr>
          <a:xfrm>
            <a:off x="2480508" y="4082534"/>
            <a:ext cx="2601866" cy="369332"/>
          </a:xfrm>
          <a:prstGeom prst="rect">
            <a:avLst/>
          </a:prstGeom>
          <a:noFill/>
        </p:spPr>
        <p:txBody>
          <a:bodyPr wrap="none" rtlCol="0">
            <a:spAutoFit/>
          </a:bodyPr>
          <a:lstStyle/>
          <a:p>
            <a:r>
              <a:rPr lang="en-US" dirty="0"/>
              <a:t>Python   </a:t>
            </a:r>
            <a:r>
              <a:rPr lang="en-US" dirty="0" err="1"/>
              <a:t>FastAPI</a:t>
            </a:r>
            <a:r>
              <a:rPr lang="en-US" dirty="0"/>
              <a:t>  </a:t>
            </a:r>
            <a:r>
              <a:rPr lang="en-US" dirty="0" err="1"/>
              <a:t>Pydantic</a:t>
            </a:r>
            <a:endParaRPr lang="en-IN" dirty="0"/>
          </a:p>
        </p:txBody>
      </p:sp>
      <p:sp>
        <p:nvSpPr>
          <p:cNvPr id="47" name="TextBox 46">
            <a:extLst>
              <a:ext uri="{FF2B5EF4-FFF2-40B4-BE49-F238E27FC236}">
                <a16:creationId xmlns:a16="http://schemas.microsoft.com/office/drawing/2014/main" id="{62DDEEB1-31D6-8E11-673D-B35FEDBADE16}"/>
              </a:ext>
            </a:extLst>
          </p:cNvPr>
          <p:cNvSpPr txBox="1"/>
          <p:nvPr/>
        </p:nvSpPr>
        <p:spPr>
          <a:xfrm>
            <a:off x="3062383" y="1850080"/>
            <a:ext cx="1947456" cy="369332"/>
          </a:xfrm>
          <a:prstGeom prst="rect">
            <a:avLst/>
          </a:prstGeom>
          <a:noFill/>
        </p:spPr>
        <p:txBody>
          <a:bodyPr wrap="none" rtlCol="0">
            <a:spAutoFit/>
          </a:bodyPr>
          <a:lstStyle/>
          <a:p>
            <a:r>
              <a:rPr lang="en-US" dirty="0"/>
              <a:t>API and Processing</a:t>
            </a:r>
            <a:endParaRPr lang="en-IN" dirty="0"/>
          </a:p>
        </p:txBody>
      </p:sp>
      <p:sp>
        <p:nvSpPr>
          <p:cNvPr id="49" name="TextBox 48">
            <a:extLst>
              <a:ext uri="{FF2B5EF4-FFF2-40B4-BE49-F238E27FC236}">
                <a16:creationId xmlns:a16="http://schemas.microsoft.com/office/drawing/2014/main" id="{5C2DD410-EFB0-8C4C-ABF5-20FD9FEE5303}"/>
              </a:ext>
            </a:extLst>
          </p:cNvPr>
          <p:cNvSpPr txBox="1"/>
          <p:nvPr/>
        </p:nvSpPr>
        <p:spPr>
          <a:xfrm>
            <a:off x="4973902" y="2178392"/>
            <a:ext cx="2605457" cy="369332"/>
          </a:xfrm>
          <a:prstGeom prst="rect">
            <a:avLst/>
          </a:prstGeom>
          <a:noFill/>
        </p:spPr>
        <p:txBody>
          <a:bodyPr wrap="none" rtlCol="0">
            <a:spAutoFit/>
          </a:bodyPr>
          <a:lstStyle/>
          <a:p>
            <a:r>
              <a:rPr lang="en-US" dirty="0"/>
              <a:t>Understanding User Input</a:t>
            </a:r>
            <a:endParaRPr lang="en-IN" dirty="0"/>
          </a:p>
        </p:txBody>
      </p:sp>
      <p:pic>
        <p:nvPicPr>
          <p:cNvPr id="51" name="Picture 50">
            <a:extLst>
              <a:ext uri="{FF2B5EF4-FFF2-40B4-BE49-F238E27FC236}">
                <a16:creationId xmlns:a16="http://schemas.microsoft.com/office/drawing/2014/main" id="{33A2F335-F341-77D0-A811-C6C859A9387D}"/>
              </a:ext>
            </a:extLst>
          </p:cNvPr>
          <p:cNvPicPr>
            <a:picLocks noChangeAspect="1"/>
          </p:cNvPicPr>
          <p:nvPr/>
        </p:nvPicPr>
        <p:blipFill>
          <a:blip r:embed="rId12"/>
          <a:stretch>
            <a:fillRect/>
          </a:stretch>
        </p:blipFill>
        <p:spPr>
          <a:xfrm>
            <a:off x="5116204" y="3153236"/>
            <a:ext cx="615537" cy="615537"/>
          </a:xfrm>
          <a:prstGeom prst="rect">
            <a:avLst/>
          </a:prstGeom>
        </p:spPr>
      </p:pic>
      <p:pic>
        <p:nvPicPr>
          <p:cNvPr id="55" name="Picture 54">
            <a:extLst>
              <a:ext uri="{FF2B5EF4-FFF2-40B4-BE49-F238E27FC236}">
                <a16:creationId xmlns:a16="http://schemas.microsoft.com/office/drawing/2014/main" id="{107C39FE-9578-E04C-89A6-537BD8C81AAE}"/>
              </a:ext>
            </a:extLst>
          </p:cNvPr>
          <p:cNvPicPr>
            <a:picLocks noChangeAspect="1"/>
          </p:cNvPicPr>
          <p:nvPr/>
        </p:nvPicPr>
        <p:blipFill>
          <a:blip r:embed="rId13"/>
          <a:stretch>
            <a:fillRect/>
          </a:stretch>
        </p:blipFill>
        <p:spPr>
          <a:xfrm>
            <a:off x="5903066" y="3162528"/>
            <a:ext cx="629707" cy="629707"/>
          </a:xfrm>
          <a:prstGeom prst="rect">
            <a:avLst/>
          </a:prstGeom>
        </p:spPr>
      </p:pic>
      <p:pic>
        <p:nvPicPr>
          <p:cNvPr id="57" name="Picture 56">
            <a:extLst>
              <a:ext uri="{FF2B5EF4-FFF2-40B4-BE49-F238E27FC236}">
                <a16:creationId xmlns:a16="http://schemas.microsoft.com/office/drawing/2014/main" id="{0EFEBCB9-3FBC-06D7-4212-62EDFCF6FF78}"/>
              </a:ext>
            </a:extLst>
          </p:cNvPr>
          <p:cNvPicPr>
            <a:picLocks noChangeAspect="1"/>
          </p:cNvPicPr>
          <p:nvPr/>
        </p:nvPicPr>
        <p:blipFill>
          <a:blip r:embed="rId14"/>
          <a:stretch>
            <a:fillRect/>
          </a:stretch>
        </p:blipFill>
        <p:spPr>
          <a:xfrm>
            <a:off x="6663458" y="3072863"/>
            <a:ext cx="753342" cy="753342"/>
          </a:xfrm>
          <a:prstGeom prst="rect">
            <a:avLst/>
          </a:prstGeom>
        </p:spPr>
      </p:pic>
      <p:sp>
        <p:nvSpPr>
          <p:cNvPr id="59" name="TextBox 58">
            <a:extLst>
              <a:ext uri="{FF2B5EF4-FFF2-40B4-BE49-F238E27FC236}">
                <a16:creationId xmlns:a16="http://schemas.microsoft.com/office/drawing/2014/main" id="{56119BF3-3C77-9FE1-E4EF-AB358FC26E49}"/>
              </a:ext>
            </a:extLst>
          </p:cNvPr>
          <p:cNvSpPr txBox="1"/>
          <p:nvPr/>
        </p:nvSpPr>
        <p:spPr>
          <a:xfrm>
            <a:off x="4956604" y="4062385"/>
            <a:ext cx="2667205" cy="646331"/>
          </a:xfrm>
          <a:prstGeom prst="rect">
            <a:avLst/>
          </a:prstGeom>
          <a:noFill/>
        </p:spPr>
        <p:txBody>
          <a:bodyPr wrap="none" rtlCol="0">
            <a:spAutoFit/>
          </a:bodyPr>
          <a:lstStyle/>
          <a:p>
            <a:r>
              <a:rPr lang="en-US" dirty="0"/>
              <a:t>   LLM	NLP        Query</a:t>
            </a:r>
          </a:p>
          <a:p>
            <a:r>
              <a:rPr lang="en-US" dirty="0"/>
              <a:t> Provider	        Enrichment</a:t>
            </a:r>
            <a:endParaRPr lang="en-IN" dirty="0"/>
          </a:p>
        </p:txBody>
      </p:sp>
      <p:pic>
        <p:nvPicPr>
          <p:cNvPr id="61" name="Picture 60">
            <a:extLst>
              <a:ext uri="{FF2B5EF4-FFF2-40B4-BE49-F238E27FC236}">
                <a16:creationId xmlns:a16="http://schemas.microsoft.com/office/drawing/2014/main" id="{074B8E94-4653-72DC-6640-88E5029D932F}"/>
              </a:ext>
            </a:extLst>
          </p:cNvPr>
          <p:cNvPicPr>
            <a:picLocks noChangeAspect="1"/>
          </p:cNvPicPr>
          <p:nvPr/>
        </p:nvPicPr>
        <p:blipFill>
          <a:blip r:embed="rId15"/>
          <a:stretch>
            <a:fillRect/>
          </a:stretch>
        </p:blipFill>
        <p:spPr>
          <a:xfrm>
            <a:off x="7666768" y="3153236"/>
            <a:ext cx="523220" cy="523220"/>
          </a:xfrm>
          <a:prstGeom prst="rect">
            <a:avLst/>
          </a:prstGeom>
        </p:spPr>
      </p:pic>
      <p:pic>
        <p:nvPicPr>
          <p:cNvPr id="63" name="Picture 62">
            <a:extLst>
              <a:ext uri="{FF2B5EF4-FFF2-40B4-BE49-F238E27FC236}">
                <a16:creationId xmlns:a16="http://schemas.microsoft.com/office/drawing/2014/main" id="{E176C485-DF96-164A-37A2-98813C304693}"/>
              </a:ext>
            </a:extLst>
          </p:cNvPr>
          <p:cNvPicPr>
            <a:picLocks noChangeAspect="1"/>
          </p:cNvPicPr>
          <p:nvPr/>
        </p:nvPicPr>
        <p:blipFill>
          <a:blip r:embed="rId16"/>
          <a:stretch>
            <a:fillRect/>
          </a:stretch>
        </p:blipFill>
        <p:spPr>
          <a:xfrm>
            <a:off x="8508177" y="3153236"/>
            <a:ext cx="519805" cy="519805"/>
          </a:xfrm>
          <a:prstGeom prst="rect">
            <a:avLst/>
          </a:prstGeom>
        </p:spPr>
      </p:pic>
      <p:pic>
        <p:nvPicPr>
          <p:cNvPr id="65" name="Picture 64">
            <a:extLst>
              <a:ext uri="{FF2B5EF4-FFF2-40B4-BE49-F238E27FC236}">
                <a16:creationId xmlns:a16="http://schemas.microsoft.com/office/drawing/2014/main" id="{63A1B036-1EE7-6AAB-62CC-B0696DCE1534}"/>
              </a:ext>
            </a:extLst>
          </p:cNvPr>
          <p:cNvPicPr>
            <a:picLocks noChangeAspect="1"/>
          </p:cNvPicPr>
          <p:nvPr/>
        </p:nvPicPr>
        <p:blipFill>
          <a:blip r:embed="rId13"/>
          <a:stretch>
            <a:fillRect/>
          </a:stretch>
        </p:blipFill>
        <p:spPr>
          <a:xfrm>
            <a:off x="9270783" y="3077824"/>
            <a:ext cx="629707" cy="629707"/>
          </a:xfrm>
          <a:prstGeom prst="rect">
            <a:avLst/>
          </a:prstGeom>
        </p:spPr>
      </p:pic>
      <p:sp>
        <p:nvSpPr>
          <p:cNvPr id="67" name="TextBox 66">
            <a:extLst>
              <a:ext uri="{FF2B5EF4-FFF2-40B4-BE49-F238E27FC236}">
                <a16:creationId xmlns:a16="http://schemas.microsoft.com/office/drawing/2014/main" id="{C805DFF6-FF26-EEE5-FA8A-3A76797124E6}"/>
              </a:ext>
            </a:extLst>
          </p:cNvPr>
          <p:cNvSpPr txBox="1"/>
          <p:nvPr/>
        </p:nvSpPr>
        <p:spPr>
          <a:xfrm>
            <a:off x="7462520" y="4038892"/>
            <a:ext cx="2568332" cy="923330"/>
          </a:xfrm>
          <a:prstGeom prst="rect">
            <a:avLst/>
          </a:prstGeom>
          <a:noFill/>
        </p:spPr>
        <p:txBody>
          <a:bodyPr wrap="none" rtlCol="0">
            <a:spAutoFit/>
          </a:bodyPr>
          <a:lstStyle/>
          <a:p>
            <a:r>
              <a:rPr lang="en-US" dirty="0"/>
              <a:t> Dense	TF-IDF	SIIS</a:t>
            </a:r>
          </a:p>
          <a:p>
            <a:r>
              <a:rPr lang="en-US" dirty="0"/>
              <a:t>Retrieval	        Knowledge</a:t>
            </a:r>
          </a:p>
          <a:p>
            <a:r>
              <a:rPr lang="en-US" dirty="0"/>
              <a:t>		Base</a:t>
            </a:r>
            <a:endParaRPr lang="en-IN" dirty="0"/>
          </a:p>
        </p:txBody>
      </p:sp>
      <p:pic>
        <p:nvPicPr>
          <p:cNvPr id="68" name="Picture 67" descr="pytest SVG and transparent PNG icons | TechIcons">
            <a:extLst>
              <a:ext uri="{FF2B5EF4-FFF2-40B4-BE49-F238E27FC236}">
                <a16:creationId xmlns:a16="http://schemas.microsoft.com/office/drawing/2014/main" id="{A1F5FBB1-4B54-5A04-38AF-A7E633C75B59}"/>
              </a:ext>
            </a:extLst>
          </p:cNvPr>
          <p:cNvPicPr>
            <a:picLocks noChangeAspect="1"/>
          </p:cNvPicPr>
          <p:nvPr/>
        </p:nvPicPr>
        <p:blipFill>
          <a:blip r:embed="rId17"/>
          <a:stretch>
            <a:fillRect/>
          </a:stretch>
        </p:blipFill>
        <p:spPr>
          <a:xfrm>
            <a:off x="10108267" y="3112587"/>
            <a:ext cx="574897" cy="574897"/>
          </a:xfrm>
          <a:prstGeom prst="rect">
            <a:avLst/>
          </a:prstGeom>
        </p:spPr>
      </p:pic>
      <p:pic>
        <p:nvPicPr>
          <p:cNvPr id="72" name="Picture 71" descr="Git Logo transparent PNG - StickPNG">
            <a:extLst>
              <a:ext uri="{FF2B5EF4-FFF2-40B4-BE49-F238E27FC236}">
                <a16:creationId xmlns:a16="http://schemas.microsoft.com/office/drawing/2014/main" id="{D3A9818B-1D64-1110-CFC5-2FFB973EE75D}"/>
              </a:ext>
            </a:extLst>
          </p:cNvPr>
          <p:cNvPicPr>
            <a:picLocks noChangeAspect="1"/>
          </p:cNvPicPr>
          <p:nvPr/>
        </p:nvPicPr>
        <p:blipFill>
          <a:blip r:embed="rId18"/>
          <a:stretch>
            <a:fillRect/>
          </a:stretch>
        </p:blipFill>
        <p:spPr>
          <a:xfrm>
            <a:off x="10809231" y="3107830"/>
            <a:ext cx="599701" cy="599701"/>
          </a:xfrm>
          <a:prstGeom prst="rect">
            <a:avLst/>
          </a:prstGeom>
        </p:spPr>
      </p:pic>
      <p:pic>
        <p:nvPicPr>
          <p:cNvPr id="74" name="Picture 73">
            <a:extLst>
              <a:ext uri="{FF2B5EF4-FFF2-40B4-BE49-F238E27FC236}">
                <a16:creationId xmlns:a16="http://schemas.microsoft.com/office/drawing/2014/main" id="{E1724CA8-35D0-F445-8F33-85E63467BD23}"/>
              </a:ext>
            </a:extLst>
          </p:cNvPr>
          <p:cNvPicPr>
            <a:picLocks noChangeAspect="1"/>
          </p:cNvPicPr>
          <p:nvPr/>
        </p:nvPicPr>
        <p:blipFill>
          <a:blip r:embed="rId19"/>
          <a:stretch>
            <a:fillRect/>
          </a:stretch>
        </p:blipFill>
        <p:spPr>
          <a:xfrm>
            <a:off x="11505115" y="3105228"/>
            <a:ext cx="574897" cy="574897"/>
          </a:xfrm>
          <a:prstGeom prst="rect">
            <a:avLst/>
          </a:prstGeom>
        </p:spPr>
      </p:pic>
      <p:sp>
        <p:nvSpPr>
          <p:cNvPr id="76" name="TextBox 75">
            <a:extLst>
              <a:ext uri="{FF2B5EF4-FFF2-40B4-BE49-F238E27FC236}">
                <a16:creationId xmlns:a16="http://schemas.microsoft.com/office/drawing/2014/main" id="{6DA31F22-D0AF-C397-F452-0A7DF5197F04}"/>
              </a:ext>
            </a:extLst>
          </p:cNvPr>
          <p:cNvSpPr txBox="1"/>
          <p:nvPr/>
        </p:nvSpPr>
        <p:spPr>
          <a:xfrm>
            <a:off x="9965791" y="4064121"/>
            <a:ext cx="2289409" cy="369332"/>
          </a:xfrm>
          <a:prstGeom prst="rect">
            <a:avLst/>
          </a:prstGeom>
          <a:noFill/>
        </p:spPr>
        <p:txBody>
          <a:bodyPr wrap="none" rtlCol="0">
            <a:spAutoFit/>
          </a:bodyPr>
          <a:lstStyle/>
          <a:p>
            <a:r>
              <a:rPr lang="en-US" dirty="0" err="1"/>
              <a:t>Pytest</a:t>
            </a:r>
            <a:r>
              <a:rPr lang="en-US" dirty="0"/>
              <a:t>	Git    </a:t>
            </a:r>
            <a:r>
              <a:rPr lang="en-US" dirty="0" err="1"/>
              <a:t>Github</a:t>
            </a:r>
            <a:endParaRPr lang="en-IN" dirty="0"/>
          </a:p>
        </p:txBody>
      </p:sp>
      <p:cxnSp>
        <p:nvCxnSpPr>
          <p:cNvPr id="78" name="Straight Connector 77">
            <a:extLst>
              <a:ext uri="{FF2B5EF4-FFF2-40B4-BE49-F238E27FC236}">
                <a16:creationId xmlns:a16="http://schemas.microsoft.com/office/drawing/2014/main" id="{1BDD8358-4EB5-5828-96AE-F3D7D1EAE70C}"/>
              </a:ext>
            </a:extLst>
          </p:cNvPr>
          <p:cNvCxnSpPr/>
          <p:nvPr/>
        </p:nvCxnSpPr>
        <p:spPr>
          <a:xfrm>
            <a:off x="142981" y="4962222"/>
            <a:ext cx="22557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022F30FC-2FF6-DAF5-1318-20D73A2B2023}"/>
              </a:ext>
            </a:extLst>
          </p:cNvPr>
          <p:cNvCxnSpPr/>
          <p:nvPr/>
        </p:nvCxnSpPr>
        <p:spPr>
          <a:xfrm>
            <a:off x="2653577" y="4962222"/>
            <a:ext cx="22557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5FD5F674-32DE-9270-B4F5-A201742DEF8C}"/>
              </a:ext>
            </a:extLst>
          </p:cNvPr>
          <p:cNvCxnSpPr/>
          <p:nvPr/>
        </p:nvCxnSpPr>
        <p:spPr>
          <a:xfrm>
            <a:off x="5122457" y="4962222"/>
            <a:ext cx="22557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25BF0FEB-4464-BC03-F571-F4E203E70E66}"/>
              </a:ext>
            </a:extLst>
          </p:cNvPr>
          <p:cNvCxnSpPr/>
          <p:nvPr/>
        </p:nvCxnSpPr>
        <p:spPr>
          <a:xfrm>
            <a:off x="7621817" y="4962222"/>
            <a:ext cx="22557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9032026A-AFE6-9204-9E2A-A96A1A08BF23}"/>
              </a:ext>
            </a:extLst>
          </p:cNvPr>
          <p:cNvCxnSpPr>
            <a:cxnSpLocks/>
          </p:cNvCxnSpPr>
          <p:nvPr/>
        </p:nvCxnSpPr>
        <p:spPr>
          <a:xfrm>
            <a:off x="10060217" y="4962222"/>
            <a:ext cx="2050275" cy="0"/>
          </a:xfrm>
          <a:prstGeom prst="line">
            <a:avLst/>
          </a:prstGeom>
        </p:spPr>
        <p:style>
          <a:lnRef idx="1">
            <a:schemeClr val="accent1"/>
          </a:lnRef>
          <a:fillRef idx="0">
            <a:schemeClr val="accent1"/>
          </a:fillRef>
          <a:effectRef idx="0">
            <a:schemeClr val="accent1"/>
          </a:effectRef>
          <a:fontRef idx="minor">
            <a:schemeClr val="tx1"/>
          </a:fontRef>
        </p:style>
      </p:cxnSp>
      <p:sp>
        <p:nvSpPr>
          <p:cNvPr id="85" name="TextBox 84">
            <a:extLst>
              <a:ext uri="{FF2B5EF4-FFF2-40B4-BE49-F238E27FC236}">
                <a16:creationId xmlns:a16="http://schemas.microsoft.com/office/drawing/2014/main" id="{3B8D9ABC-AC7A-894F-A7A5-86DDD6341FAD}"/>
              </a:ext>
            </a:extLst>
          </p:cNvPr>
          <p:cNvSpPr txBox="1"/>
          <p:nvPr/>
        </p:nvSpPr>
        <p:spPr>
          <a:xfrm>
            <a:off x="2511497" y="5025565"/>
            <a:ext cx="2606291" cy="2031325"/>
          </a:xfrm>
          <a:prstGeom prst="rect">
            <a:avLst/>
          </a:prstGeom>
          <a:noFill/>
        </p:spPr>
        <p:txBody>
          <a:bodyPr wrap="none" rtlCol="0">
            <a:spAutoFit/>
          </a:bodyPr>
          <a:lstStyle/>
          <a:p>
            <a:r>
              <a:rPr lang="en-IN" dirty="0"/>
              <a:t>Implements the </a:t>
            </a:r>
          </a:p>
          <a:p>
            <a:r>
              <a:rPr lang="en-IN" dirty="0"/>
              <a:t>troubleshooting pipeline, </a:t>
            </a:r>
          </a:p>
          <a:p>
            <a:r>
              <a:rPr lang="en-IN" dirty="0"/>
              <a:t>handles requests, </a:t>
            </a:r>
          </a:p>
          <a:p>
            <a:r>
              <a:rPr lang="en-IN" dirty="0"/>
              <a:t>validates structured </a:t>
            </a:r>
          </a:p>
          <a:p>
            <a:r>
              <a:rPr lang="en-IN" dirty="0"/>
              <a:t>Data and returns </a:t>
            </a:r>
          </a:p>
          <a:p>
            <a:r>
              <a:rPr lang="en-IN" dirty="0"/>
              <a:t>responses.</a:t>
            </a:r>
          </a:p>
          <a:p>
            <a:endParaRPr lang="en-IN" dirty="0"/>
          </a:p>
        </p:txBody>
      </p:sp>
      <p:sp>
        <p:nvSpPr>
          <p:cNvPr id="87" name="TextBox 86">
            <a:extLst>
              <a:ext uri="{FF2B5EF4-FFF2-40B4-BE49-F238E27FC236}">
                <a16:creationId xmlns:a16="http://schemas.microsoft.com/office/drawing/2014/main" id="{7DBA7413-EE24-0FCF-6032-998244ABA1C5}"/>
              </a:ext>
            </a:extLst>
          </p:cNvPr>
          <p:cNvSpPr txBox="1"/>
          <p:nvPr/>
        </p:nvSpPr>
        <p:spPr>
          <a:xfrm>
            <a:off x="5050096" y="5089722"/>
            <a:ext cx="2540952" cy="1754326"/>
          </a:xfrm>
          <a:prstGeom prst="rect">
            <a:avLst/>
          </a:prstGeom>
          <a:noFill/>
        </p:spPr>
        <p:txBody>
          <a:bodyPr wrap="none" rtlCol="0">
            <a:spAutoFit/>
          </a:bodyPr>
          <a:lstStyle/>
          <a:p>
            <a:r>
              <a:rPr lang="en-IN" dirty="0"/>
              <a:t>Converts informal </a:t>
            </a:r>
          </a:p>
          <a:p>
            <a:r>
              <a:rPr lang="en-IN" dirty="0"/>
              <a:t>complaints into </a:t>
            </a:r>
          </a:p>
          <a:p>
            <a:r>
              <a:rPr lang="en-IN" dirty="0"/>
              <a:t>structured queries and </a:t>
            </a:r>
          </a:p>
          <a:p>
            <a:r>
              <a:rPr lang="en-IN" dirty="0"/>
              <a:t>generates a step-by-step </a:t>
            </a:r>
          </a:p>
          <a:p>
            <a:r>
              <a:rPr lang="en-IN" dirty="0"/>
              <a:t>troubleshooting plan.</a:t>
            </a:r>
          </a:p>
          <a:p>
            <a:endParaRPr lang="en-IN" dirty="0"/>
          </a:p>
        </p:txBody>
      </p:sp>
      <p:sp>
        <p:nvSpPr>
          <p:cNvPr id="89" name="TextBox 88">
            <a:extLst>
              <a:ext uri="{FF2B5EF4-FFF2-40B4-BE49-F238E27FC236}">
                <a16:creationId xmlns:a16="http://schemas.microsoft.com/office/drawing/2014/main" id="{EF6E8DC4-0405-FB78-536E-E40A8BB5CC6A}"/>
              </a:ext>
            </a:extLst>
          </p:cNvPr>
          <p:cNvSpPr txBox="1"/>
          <p:nvPr/>
        </p:nvSpPr>
        <p:spPr>
          <a:xfrm>
            <a:off x="7580888" y="4995085"/>
            <a:ext cx="2310376" cy="1754326"/>
          </a:xfrm>
          <a:prstGeom prst="rect">
            <a:avLst/>
          </a:prstGeom>
          <a:noFill/>
        </p:spPr>
        <p:txBody>
          <a:bodyPr wrap="none" rtlCol="0">
            <a:spAutoFit/>
          </a:bodyPr>
          <a:lstStyle/>
          <a:p>
            <a:r>
              <a:rPr lang="en-IN" dirty="0"/>
              <a:t>Retrieves relevant </a:t>
            </a:r>
          </a:p>
          <a:p>
            <a:r>
              <a:rPr lang="en-IN" dirty="0"/>
              <a:t>troubleshooting </a:t>
            </a:r>
          </a:p>
          <a:p>
            <a:r>
              <a:rPr lang="en-IN" dirty="0"/>
              <a:t>information and maps </a:t>
            </a:r>
          </a:p>
          <a:p>
            <a:r>
              <a:rPr lang="en-IN" dirty="0"/>
              <a:t>device navigation </a:t>
            </a:r>
          </a:p>
          <a:p>
            <a:r>
              <a:rPr lang="en-IN" dirty="0"/>
              <a:t>destinations using the </a:t>
            </a:r>
          </a:p>
          <a:p>
            <a:r>
              <a:rPr lang="en-IN" dirty="0"/>
              <a:t>deep-link </a:t>
            </a:r>
            <a:r>
              <a:rPr lang="en-IN" dirty="0" err="1"/>
              <a:t>catalog</a:t>
            </a:r>
            <a:r>
              <a:rPr lang="en-IN" dirty="0"/>
              <a:t>.</a:t>
            </a:r>
          </a:p>
        </p:txBody>
      </p:sp>
      <p:sp>
        <p:nvSpPr>
          <p:cNvPr id="91" name="TextBox 90">
            <a:extLst>
              <a:ext uri="{FF2B5EF4-FFF2-40B4-BE49-F238E27FC236}">
                <a16:creationId xmlns:a16="http://schemas.microsoft.com/office/drawing/2014/main" id="{A897BE46-F458-AF74-7ED5-442D685F024E}"/>
              </a:ext>
            </a:extLst>
          </p:cNvPr>
          <p:cNvSpPr txBox="1"/>
          <p:nvPr/>
        </p:nvSpPr>
        <p:spPr>
          <a:xfrm>
            <a:off x="10027920" y="5074488"/>
            <a:ext cx="2161938" cy="1754326"/>
          </a:xfrm>
          <a:prstGeom prst="rect">
            <a:avLst/>
          </a:prstGeom>
          <a:noFill/>
        </p:spPr>
        <p:txBody>
          <a:bodyPr wrap="none" rtlCol="0">
            <a:spAutoFit/>
          </a:bodyPr>
          <a:lstStyle/>
          <a:p>
            <a:r>
              <a:rPr lang="en-IN" dirty="0"/>
              <a:t>Tests backend </a:t>
            </a:r>
          </a:p>
          <a:p>
            <a:r>
              <a:rPr lang="en-IN" dirty="0"/>
              <a:t>functionality, tracks </a:t>
            </a:r>
          </a:p>
          <a:p>
            <a:r>
              <a:rPr lang="en-IN" dirty="0"/>
              <a:t>code changes, and </a:t>
            </a:r>
          </a:p>
          <a:p>
            <a:r>
              <a:rPr lang="en-IN" dirty="0"/>
              <a:t>manages the project </a:t>
            </a:r>
          </a:p>
          <a:p>
            <a:r>
              <a:rPr lang="en-IN" dirty="0"/>
              <a:t>repository.</a:t>
            </a:r>
          </a:p>
          <a:p>
            <a:endParaRPr lang="en-IN" dirty="0"/>
          </a:p>
        </p:txBody>
      </p:sp>
    </p:spTree>
    <p:extLst>
      <p:ext uri="{BB962C8B-B14F-4D97-AF65-F5344CB8AC3E}">
        <p14:creationId xmlns:p14="http://schemas.microsoft.com/office/powerpoint/2010/main" val="3724828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50800" y="-243840"/>
            <a:ext cx="10515600" cy="1325563"/>
          </a:xfrm>
        </p:spPr>
        <p:txBody>
          <a:bodyPr/>
          <a:lstStyle/>
          <a:p>
            <a:r>
              <a:rPr lang="en-US" sz="4400" b="1" dirty="0">
                <a:solidFill>
                  <a:schemeClr val="accent6">
                    <a:lumMod val="50000"/>
                  </a:schemeClr>
                </a:solidFill>
                <a:latin typeface="Calibri" pitchFamily="34" charset="0"/>
                <a:ea typeface="Calibri" pitchFamily="34" charset="-122"/>
                <a:cs typeface="Calibri" pitchFamily="34" charset="-120"/>
              </a:rPr>
              <a:t>Impact &amp; Use case</a:t>
            </a:r>
            <a:endParaRPr lang="en-IN" b="1" dirty="0">
              <a:solidFill>
                <a:schemeClr val="accent6">
                  <a:lumMod val="50000"/>
                </a:schemeClr>
              </a:solidFill>
            </a:endParaRPr>
          </a:p>
        </p:txBody>
      </p:sp>
      <p:sp>
        <p:nvSpPr>
          <p:cNvPr id="4" name="Rectangle 3">
            <a:extLst>
              <a:ext uri="{FF2B5EF4-FFF2-40B4-BE49-F238E27FC236}">
                <a16:creationId xmlns:a16="http://schemas.microsoft.com/office/drawing/2014/main" id="{A880DCBA-B11D-4E99-1EF6-A59787C3CF86}"/>
              </a:ext>
            </a:extLst>
          </p:cNvPr>
          <p:cNvSpPr/>
          <p:nvPr/>
        </p:nvSpPr>
        <p:spPr>
          <a:xfrm>
            <a:off x="132080" y="772160"/>
            <a:ext cx="5141982" cy="596392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 name="TextBox 4">
            <a:extLst>
              <a:ext uri="{FF2B5EF4-FFF2-40B4-BE49-F238E27FC236}">
                <a16:creationId xmlns:a16="http://schemas.microsoft.com/office/drawing/2014/main" id="{33F48A66-7A28-E2DC-592A-7C552CB90153}"/>
              </a:ext>
            </a:extLst>
          </p:cNvPr>
          <p:cNvSpPr txBox="1"/>
          <p:nvPr/>
        </p:nvSpPr>
        <p:spPr>
          <a:xfrm>
            <a:off x="132080" y="746740"/>
            <a:ext cx="1218603" cy="523220"/>
          </a:xfrm>
          <a:prstGeom prst="rect">
            <a:avLst/>
          </a:prstGeom>
          <a:noFill/>
        </p:spPr>
        <p:txBody>
          <a:bodyPr wrap="none" rtlCol="0">
            <a:spAutoFit/>
          </a:bodyPr>
          <a:lstStyle/>
          <a:p>
            <a:r>
              <a:rPr lang="en-US" sz="2800" b="1" dirty="0">
                <a:solidFill>
                  <a:schemeClr val="accent6">
                    <a:lumMod val="50000"/>
                  </a:schemeClr>
                </a:solidFill>
              </a:rPr>
              <a:t>Impact</a:t>
            </a:r>
            <a:endParaRPr lang="en-IN" sz="2800" b="1" dirty="0">
              <a:solidFill>
                <a:schemeClr val="accent6">
                  <a:lumMod val="50000"/>
                </a:schemeClr>
              </a:solidFill>
            </a:endParaRPr>
          </a:p>
        </p:txBody>
      </p:sp>
      <p:pic>
        <p:nvPicPr>
          <p:cNvPr id="7" name="Picture 6">
            <a:extLst>
              <a:ext uri="{FF2B5EF4-FFF2-40B4-BE49-F238E27FC236}">
                <a16:creationId xmlns:a16="http://schemas.microsoft.com/office/drawing/2014/main" id="{2341616B-B71D-8223-0A41-B69E0F948BDD}"/>
              </a:ext>
            </a:extLst>
          </p:cNvPr>
          <p:cNvPicPr>
            <a:picLocks noChangeAspect="1"/>
          </p:cNvPicPr>
          <p:nvPr/>
        </p:nvPicPr>
        <p:blipFill>
          <a:blip r:embed="rId2">
            <a:duotone>
              <a:schemeClr val="accent6">
                <a:shade val="45000"/>
                <a:satMod val="135000"/>
              </a:schemeClr>
              <a:prstClr val="white"/>
            </a:duotone>
          </a:blip>
          <a:stretch>
            <a:fillRect/>
          </a:stretch>
        </p:blipFill>
        <p:spPr>
          <a:xfrm>
            <a:off x="274320" y="1337445"/>
            <a:ext cx="625800" cy="625800"/>
          </a:xfrm>
          <a:prstGeom prst="rect">
            <a:avLst/>
          </a:prstGeom>
        </p:spPr>
      </p:pic>
      <p:sp>
        <p:nvSpPr>
          <p:cNvPr id="8" name="TextBox 7">
            <a:extLst>
              <a:ext uri="{FF2B5EF4-FFF2-40B4-BE49-F238E27FC236}">
                <a16:creationId xmlns:a16="http://schemas.microsoft.com/office/drawing/2014/main" id="{F7DA3F16-4902-15CD-1480-324C0008795B}"/>
              </a:ext>
            </a:extLst>
          </p:cNvPr>
          <p:cNvSpPr txBox="1"/>
          <p:nvPr/>
        </p:nvSpPr>
        <p:spPr>
          <a:xfrm>
            <a:off x="940760" y="1188680"/>
            <a:ext cx="4333302" cy="923330"/>
          </a:xfrm>
          <a:prstGeom prst="rect">
            <a:avLst/>
          </a:prstGeom>
          <a:noFill/>
        </p:spPr>
        <p:txBody>
          <a:bodyPr wrap="none" rtlCol="0">
            <a:spAutoFit/>
          </a:bodyPr>
          <a:lstStyle/>
          <a:p>
            <a:r>
              <a:rPr lang="en-IN" b="1" dirty="0"/>
              <a:t>Simplified Troubleshooting</a:t>
            </a:r>
          </a:p>
          <a:p>
            <a:r>
              <a:rPr lang="en-IN" dirty="0"/>
              <a:t>Transforms everyday device complaints into </a:t>
            </a:r>
          </a:p>
          <a:p>
            <a:r>
              <a:rPr lang="en-IN" dirty="0"/>
              <a:t>clear, structured troubleshooting steps.</a:t>
            </a:r>
          </a:p>
        </p:txBody>
      </p:sp>
      <p:pic>
        <p:nvPicPr>
          <p:cNvPr id="10" name="Picture 9">
            <a:extLst>
              <a:ext uri="{FF2B5EF4-FFF2-40B4-BE49-F238E27FC236}">
                <a16:creationId xmlns:a16="http://schemas.microsoft.com/office/drawing/2014/main" id="{940B2204-623C-E5FB-9A0E-A69463471FC7}"/>
              </a:ext>
            </a:extLst>
          </p:cNvPr>
          <p:cNvPicPr>
            <a:picLocks noChangeAspect="1"/>
          </p:cNvPicPr>
          <p:nvPr/>
        </p:nvPicPr>
        <p:blipFill>
          <a:blip r:embed="rId3">
            <a:duotone>
              <a:schemeClr val="accent6">
                <a:shade val="45000"/>
                <a:satMod val="135000"/>
              </a:schemeClr>
              <a:prstClr val="white"/>
            </a:duotone>
          </a:blip>
          <a:stretch>
            <a:fillRect/>
          </a:stretch>
        </p:blipFill>
        <p:spPr>
          <a:xfrm>
            <a:off x="290040" y="2293350"/>
            <a:ext cx="594360" cy="594360"/>
          </a:xfrm>
          <a:prstGeom prst="rect">
            <a:avLst/>
          </a:prstGeom>
        </p:spPr>
      </p:pic>
      <p:sp>
        <p:nvSpPr>
          <p:cNvPr id="14" name="TextBox 13">
            <a:extLst>
              <a:ext uri="{FF2B5EF4-FFF2-40B4-BE49-F238E27FC236}">
                <a16:creationId xmlns:a16="http://schemas.microsoft.com/office/drawing/2014/main" id="{36002B04-76CA-BDB7-6DE5-AEC2FCC0E8D8}"/>
              </a:ext>
            </a:extLst>
          </p:cNvPr>
          <p:cNvSpPr txBox="1"/>
          <p:nvPr/>
        </p:nvSpPr>
        <p:spPr>
          <a:xfrm>
            <a:off x="940760" y="2137430"/>
            <a:ext cx="4464107" cy="923330"/>
          </a:xfrm>
          <a:prstGeom prst="rect">
            <a:avLst/>
          </a:prstGeom>
          <a:noFill/>
        </p:spPr>
        <p:txBody>
          <a:bodyPr wrap="none" rtlCol="0">
            <a:spAutoFit/>
          </a:bodyPr>
          <a:lstStyle/>
          <a:p>
            <a:r>
              <a:rPr lang="en-IN" b="1" dirty="0"/>
              <a:t>Reduced User Effort</a:t>
            </a:r>
          </a:p>
          <a:p>
            <a:r>
              <a:rPr lang="en-IN" dirty="0"/>
              <a:t>Reduces the need to search through multiple </a:t>
            </a:r>
          </a:p>
          <a:p>
            <a:r>
              <a:rPr lang="en-IN" dirty="0"/>
              <a:t>support articles and manually locate settings.</a:t>
            </a:r>
          </a:p>
        </p:txBody>
      </p:sp>
      <p:pic>
        <p:nvPicPr>
          <p:cNvPr id="16" name="Picture 15">
            <a:extLst>
              <a:ext uri="{FF2B5EF4-FFF2-40B4-BE49-F238E27FC236}">
                <a16:creationId xmlns:a16="http://schemas.microsoft.com/office/drawing/2014/main" id="{00E9ED10-BC4C-4379-D1B4-BD0BDC497E5D}"/>
              </a:ext>
            </a:extLst>
          </p:cNvPr>
          <p:cNvPicPr>
            <a:picLocks noChangeAspect="1"/>
          </p:cNvPicPr>
          <p:nvPr/>
        </p:nvPicPr>
        <p:blipFill>
          <a:blip r:embed="rId4">
            <a:duotone>
              <a:schemeClr val="accent6">
                <a:shade val="45000"/>
                <a:satMod val="135000"/>
              </a:schemeClr>
              <a:prstClr val="white"/>
            </a:duotone>
          </a:blip>
          <a:stretch>
            <a:fillRect/>
          </a:stretch>
        </p:blipFill>
        <p:spPr>
          <a:xfrm>
            <a:off x="274320" y="3337286"/>
            <a:ext cx="668024" cy="668024"/>
          </a:xfrm>
          <a:prstGeom prst="rect">
            <a:avLst/>
          </a:prstGeom>
        </p:spPr>
      </p:pic>
      <p:sp>
        <p:nvSpPr>
          <p:cNvPr id="18" name="TextBox 17">
            <a:extLst>
              <a:ext uri="{FF2B5EF4-FFF2-40B4-BE49-F238E27FC236}">
                <a16:creationId xmlns:a16="http://schemas.microsoft.com/office/drawing/2014/main" id="{E406B267-F444-A9BF-505B-58C9B38FB109}"/>
              </a:ext>
            </a:extLst>
          </p:cNvPr>
          <p:cNvSpPr txBox="1"/>
          <p:nvPr/>
        </p:nvSpPr>
        <p:spPr>
          <a:xfrm>
            <a:off x="956918" y="3131626"/>
            <a:ext cx="3820085" cy="1200329"/>
          </a:xfrm>
          <a:prstGeom prst="rect">
            <a:avLst/>
          </a:prstGeom>
          <a:noFill/>
        </p:spPr>
        <p:txBody>
          <a:bodyPr wrap="none" rtlCol="0">
            <a:spAutoFit/>
          </a:bodyPr>
          <a:lstStyle/>
          <a:p>
            <a:r>
              <a:rPr lang="en-IN" b="1" dirty="0"/>
              <a:t>Actionable Guidance</a:t>
            </a:r>
          </a:p>
          <a:p>
            <a:r>
              <a:rPr lang="en-IN" dirty="0"/>
              <a:t>Presents step-by-step instructions and </a:t>
            </a:r>
          </a:p>
          <a:p>
            <a:r>
              <a:rPr lang="en-IN" dirty="0"/>
              <a:t>available navigation links to help users </a:t>
            </a:r>
          </a:p>
          <a:p>
            <a:r>
              <a:rPr lang="en-IN" dirty="0"/>
              <a:t>troubleshoot device issues.</a:t>
            </a:r>
          </a:p>
        </p:txBody>
      </p:sp>
      <p:pic>
        <p:nvPicPr>
          <p:cNvPr id="20" name="Picture 19">
            <a:extLst>
              <a:ext uri="{FF2B5EF4-FFF2-40B4-BE49-F238E27FC236}">
                <a16:creationId xmlns:a16="http://schemas.microsoft.com/office/drawing/2014/main" id="{81D7B3AA-90CE-3D97-38E0-D72DBFB04CA2}"/>
              </a:ext>
            </a:extLst>
          </p:cNvPr>
          <p:cNvPicPr>
            <a:picLocks noChangeAspect="1"/>
          </p:cNvPicPr>
          <p:nvPr/>
        </p:nvPicPr>
        <p:blipFill>
          <a:blip r:embed="rId5">
            <a:duotone>
              <a:schemeClr val="accent6">
                <a:shade val="45000"/>
                <a:satMod val="135000"/>
              </a:schemeClr>
              <a:prstClr val="white"/>
            </a:duotone>
          </a:blip>
          <a:stretch>
            <a:fillRect/>
          </a:stretch>
        </p:blipFill>
        <p:spPr>
          <a:xfrm>
            <a:off x="209721" y="4473104"/>
            <a:ext cx="797222" cy="797222"/>
          </a:xfrm>
          <a:prstGeom prst="rect">
            <a:avLst/>
          </a:prstGeom>
        </p:spPr>
      </p:pic>
      <p:sp>
        <p:nvSpPr>
          <p:cNvPr id="21" name="TextBox 20">
            <a:extLst>
              <a:ext uri="{FF2B5EF4-FFF2-40B4-BE49-F238E27FC236}">
                <a16:creationId xmlns:a16="http://schemas.microsoft.com/office/drawing/2014/main" id="{B4B8752A-2504-A5A0-EE6F-74D6443B6C06}"/>
              </a:ext>
            </a:extLst>
          </p:cNvPr>
          <p:cNvSpPr txBox="1"/>
          <p:nvPr/>
        </p:nvSpPr>
        <p:spPr>
          <a:xfrm>
            <a:off x="940760" y="4402821"/>
            <a:ext cx="4342151" cy="1200329"/>
          </a:xfrm>
          <a:prstGeom prst="rect">
            <a:avLst/>
          </a:prstGeom>
          <a:noFill/>
        </p:spPr>
        <p:txBody>
          <a:bodyPr wrap="none" rtlCol="0">
            <a:spAutoFit/>
          </a:bodyPr>
          <a:lstStyle/>
          <a:p>
            <a:r>
              <a:rPr lang="en-IN" b="1" dirty="0"/>
              <a:t>Faster Repeat Responses</a:t>
            </a:r>
          </a:p>
          <a:p>
            <a:r>
              <a:rPr lang="en-IN" dirty="0"/>
              <a:t>Uses semantic caching to reuse validated </a:t>
            </a:r>
          </a:p>
          <a:p>
            <a:r>
              <a:rPr lang="en-IN" dirty="0"/>
              <a:t>troubleshooting plans for matching queries, </a:t>
            </a:r>
          </a:p>
          <a:p>
            <a:r>
              <a:rPr lang="en-IN" dirty="0"/>
              <a:t>reducing repeated processing.</a:t>
            </a:r>
          </a:p>
        </p:txBody>
      </p:sp>
      <p:pic>
        <p:nvPicPr>
          <p:cNvPr id="23" name="Picture 22">
            <a:extLst>
              <a:ext uri="{FF2B5EF4-FFF2-40B4-BE49-F238E27FC236}">
                <a16:creationId xmlns:a16="http://schemas.microsoft.com/office/drawing/2014/main" id="{829AE9D4-4B9D-89B3-4553-1BDD88985447}"/>
              </a:ext>
            </a:extLst>
          </p:cNvPr>
          <p:cNvPicPr>
            <a:picLocks noChangeAspect="1"/>
          </p:cNvPicPr>
          <p:nvPr/>
        </p:nvPicPr>
        <p:blipFill>
          <a:blip r:embed="rId6">
            <a:duotone>
              <a:schemeClr val="accent6">
                <a:shade val="45000"/>
                <a:satMod val="135000"/>
              </a:schemeClr>
              <a:prstClr val="white"/>
            </a:duotone>
          </a:blip>
          <a:stretch>
            <a:fillRect/>
          </a:stretch>
        </p:blipFill>
        <p:spPr>
          <a:xfrm>
            <a:off x="209721" y="5712859"/>
            <a:ext cx="835525" cy="835525"/>
          </a:xfrm>
          <a:prstGeom prst="rect">
            <a:avLst/>
          </a:prstGeom>
        </p:spPr>
      </p:pic>
      <p:sp>
        <p:nvSpPr>
          <p:cNvPr id="25" name="TextBox 24">
            <a:extLst>
              <a:ext uri="{FF2B5EF4-FFF2-40B4-BE49-F238E27FC236}">
                <a16:creationId xmlns:a16="http://schemas.microsoft.com/office/drawing/2014/main" id="{FB3251FF-9CBC-4CAC-62CB-B3BF8B1DEBE3}"/>
              </a:ext>
            </a:extLst>
          </p:cNvPr>
          <p:cNvSpPr txBox="1"/>
          <p:nvPr/>
        </p:nvSpPr>
        <p:spPr>
          <a:xfrm>
            <a:off x="981047" y="5610123"/>
            <a:ext cx="4454553" cy="1477328"/>
          </a:xfrm>
          <a:prstGeom prst="rect">
            <a:avLst/>
          </a:prstGeom>
          <a:noFill/>
        </p:spPr>
        <p:txBody>
          <a:bodyPr wrap="none" rtlCol="0">
            <a:spAutoFit/>
          </a:bodyPr>
          <a:lstStyle/>
          <a:p>
            <a:r>
              <a:rPr lang="en-IN" b="1" dirty="0"/>
              <a:t>Improved Accessibility</a:t>
            </a:r>
          </a:p>
          <a:p>
            <a:r>
              <a:rPr lang="en-IN" dirty="0"/>
              <a:t>Makes technical troubleshooting instructions </a:t>
            </a:r>
          </a:p>
          <a:p>
            <a:r>
              <a:rPr lang="en-IN" dirty="0"/>
              <a:t>easier to understand for users with different </a:t>
            </a:r>
          </a:p>
          <a:p>
            <a:r>
              <a:rPr lang="en-IN" dirty="0"/>
              <a:t>levels of technical knowledge.</a:t>
            </a:r>
          </a:p>
          <a:p>
            <a:endParaRPr lang="en-IN" dirty="0"/>
          </a:p>
        </p:txBody>
      </p:sp>
      <p:sp>
        <p:nvSpPr>
          <p:cNvPr id="27" name="Rectangle 26">
            <a:extLst>
              <a:ext uri="{FF2B5EF4-FFF2-40B4-BE49-F238E27FC236}">
                <a16:creationId xmlns:a16="http://schemas.microsoft.com/office/drawing/2014/main" id="{BD3887A5-9518-C3A8-0A9D-2B430A9EA281}"/>
              </a:ext>
            </a:extLst>
          </p:cNvPr>
          <p:cNvSpPr/>
          <p:nvPr/>
        </p:nvSpPr>
        <p:spPr>
          <a:xfrm>
            <a:off x="5404866" y="749830"/>
            <a:ext cx="6655053" cy="596392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9" name="TextBox 28">
            <a:extLst>
              <a:ext uri="{FF2B5EF4-FFF2-40B4-BE49-F238E27FC236}">
                <a16:creationId xmlns:a16="http://schemas.microsoft.com/office/drawing/2014/main" id="{4BB23C2F-5C86-16F0-3220-4A4AC9F3D14A}"/>
              </a:ext>
            </a:extLst>
          </p:cNvPr>
          <p:cNvSpPr txBox="1"/>
          <p:nvPr/>
        </p:nvSpPr>
        <p:spPr>
          <a:xfrm>
            <a:off x="5435600" y="746740"/>
            <a:ext cx="3265574" cy="523220"/>
          </a:xfrm>
          <a:prstGeom prst="rect">
            <a:avLst/>
          </a:prstGeom>
          <a:noFill/>
        </p:spPr>
        <p:txBody>
          <a:bodyPr wrap="none" rtlCol="0">
            <a:spAutoFit/>
          </a:bodyPr>
          <a:lstStyle/>
          <a:p>
            <a:r>
              <a:rPr lang="en-US" sz="2800" b="1" dirty="0">
                <a:solidFill>
                  <a:schemeClr val="accent6">
                    <a:lumMod val="50000"/>
                  </a:schemeClr>
                </a:solidFill>
              </a:rPr>
              <a:t>Real-World Use Case</a:t>
            </a:r>
            <a:endParaRPr lang="en-IN" sz="2800" b="1" dirty="0">
              <a:solidFill>
                <a:schemeClr val="accent6">
                  <a:lumMod val="50000"/>
                </a:schemeClr>
              </a:solidFill>
            </a:endParaRPr>
          </a:p>
        </p:txBody>
      </p:sp>
      <p:pic>
        <p:nvPicPr>
          <p:cNvPr id="31" name="Picture 30">
            <a:extLst>
              <a:ext uri="{FF2B5EF4-FFF2-40B4-BE49-F238E27FC236}">
                <a16:creationId xmlns:a16="http://schemas.microsoft.com/office/drawing/2014/main" id="{DD08E27D-F210-1402-A5A2-6DF48559B281}"/>
              </a:ext>
            </a:extLst>
          </p:cNvPr>
          <p:cNvPicPr>
            <a:picLocks noChangeAspect="1"/>
          </p:cNvPicPr>
          <p:nvPr/>
        </p:nvPicPr>
        <p:blipFill>
          <a:blip r:embed="rId7">
            <a:duotone>
              <a:schemeClr val="accent6">
                <a:shade val="45000"/>
                <a:satMod val="135000"/>
              </a:schemeClr>
              <a:prstClr val="white"/>
            </a:duotone>
          </a:blip>
          <a:stretch>
            <a:fillRect/>
          </a:stretch>
        </p:blipFill>
        <p:spPr>
          <a:xfrm>
            <a:off x="5404865" y="1329904"/>
            <a:ext cx="808682" cy="808682"/>
          </a:xfrm>
          <a:prstGeom prst="rect">
            <a:avLst/>
          </a:prstGeom>
        </p:spPr>
      </p:pic>
      <p:sp>
        <p:nvSpPr>
          <p:cNvPr id="38" name="TextBox 37">
            <a:extLst>
              <a:ext uri="{FF2B5EF4-FFF2-40B4-BE49-F238E27FC236}">
                <a16:creationId xmlns:a16="http://schemas.microsoft.com/office/drawing/2014/main" id="{BD1517EF-6CCC-9E30-51FD-3AD08DC422D8}"/>
              </a:ext>
            </a:extLst>
          </p:cNvPr>
          <p:cNvSpPr txBox="1"/>
          <p:nvPr/>
        </p:nvSpPr>
        <p:spPr>
          <a:xfrm>
            <a:off x="6096000" y="1380239"/>
            <a:ext cx="5720349" cy="646331"/>
          </a:xfrm>
          <a:prstGeom prst="rect">
            <a:avLst/>
          </a:prstGeom>
          <a:noFill/>
        </p:spPr>
        <p:txBody>
          <a:bodyPr wrap="none" rtlCol="0">
            <a:spAutoFit/>
          </a:bodyPr>
          <a:lstStyle/>
          <a:p>
            <a:r>
              <a:rPr lang="en-IN" b="1" dirty="0"/>
              <a:t>Display and Screen Issues</a:t>
            </a:r>
          </a:p>
          <a:p>
            <a:r>
              <a:rPr lang="en-IN" dirty="0"/>
              <a:t>A user reports screen flickering, dimness, or a black screen.</a:t>
            </a:r>
            <a:endParaRPr lang="en-IN" b="1" dirty="0"/>
          </a:p>
        </p:txBody>
      </p:sp>
      <p:pic>
        <p:nvPicPr>
          <p:cNvPr id="40" name="Picture 39">
            <a:extLst>
              <a:ext uri="{FF2B5EF4-FFF2-40B4-BE49-F238E27FC236}">
                <a16:creationId xmlns:a16="http://schemas.microsoft.com/office/drawing/2014/main" id="{9A6AC507-280B-D05C-EF98-1F5F17CC11A8}"/>
              </a:ext>
            </a:extLst>
          </p:cNvPr>
          <p:cNvPicPr>
            <a:picLocks noChangeAspect="1"/>
          </p:cNvPicPr>
          <p:nvPr/>
        </p:nvPicPr>
        <p:blipFill>
          <a:blip r:embed="rId8">
            <a:duotone>
              <a:schemeClr val="accent6">
                <a:shade val="45000"/>
                <a:satMod val="135000"/>
              </a:schemeClr>
              <a:prstClr val="white"/>
            </a:duotone>
          </a:blip>
          <a:stretch>
            <a:fillRect/>
          </a:stretch>
        </p:blipFill>
        <p:spPr>
          <a:xfrm>
            <a:off x="5510375" y="2370555"/>
            <a:ext cx="703172" cy="703172"/>
          </a:xfrm>
          <a:prstGeom prst="rect">
            <a:avLst/>
          </a:prstGeom>
        </p:spPr>
      </p:pic>
      <p:sp>
        <p:nvSpPr>
          <p:cNvPr id="41" name="TextBox 40">
            <a:extLst>
              <a:ext uri="{FF2B5EF4-FFF2-40B4-BE49-F238E27FC236}">
                <a16:creationId xmlns:a16="http://schemas.microsoft.com/office/drawing/2014/main" id="{D55FCF68-9A1C-911A-FC96-EE43A24682EE}"/>
              </a:ext>
            </a:extLst>
          </p:cNvPr>
          <p:cNvSpPr txBox="1"/>
          <p:nvPr/>
        </p:nvSpPr>
        <p:spPr>
          <a:xfrm>
            <a:off x="6244027" y="2307535"/>
            <a:ext cx="5239704" cy="923330"/>
          </a:xfrm>
          <a:prstGeom prst="rect">
            <a:avLst/>
          </a:prstGeom>
          <a:noFill/>
        </p:spPr>
        <p:txBody>
          <a:bodyPr wrap="none" rtlCol="0">
            <a:spAutoFit/>
          </a:bodyPr>
          <a:lstStyle/>
          <a:p>
            <a:r>
              <a:rPr lang="en-IN" b="1" dirty="0"/>
              <a:t>Connectivity Problems</a:t>
            </a:r>
          </a:p>
          <a:p>
            <a:r>
              <a:rPr lang="en-IN" dirty="0"/>
              <a:t>A user experiences Wi-Fi disconnections or Bluetooth </a:t>
            </a:r>
          </a:p>
          <a:p>
            <a:r>
              <a:rPr lang="en-IN" dirty="0"/>
              <a:t>connection issues.</a:t>
            </a:r>
            <a:endParaRPr lang="en-IN" b="1" dirty="0"/>
          </a:p>
        </p:txBody>
      </p:sp>
      <p:pic>
        <p:nvPicPr>
          <p:cNvPr id="43" name="Picture 42">
            <a:extLst>
              <a:ext uri="{FF2B5EF4-FFF2-40B4-BE49-F238E27FC236}">
                <a16:creationId xmlns:a16="http://schemas.microsoft.com/office/drawing/2014/main" id="{E9071974-62AD-03B5-27D7-71F8CF735D17}"/>
              </a:ext>
            </a:extLst>
          </p:cNvPr>
          <p:cNvPicPr>
            <a:picLocks noChangeAspect="1"/>
          </p:cNvPicPr>
          <p:nvPr/>
        </p:nvPicPr>
        <p:blipFill>
          <a:blip r:embed="rId9">
            <a:duotone>
              <a:schemeClr val="accent6">
                <a:shade val="45000"/>
                <a:satMod val="135000"/>
              </a:schemeClr>
              <a:prstClr val="white"/>
            </a:duotone>
          </a:blip>
          <a:stretch>
            <a:fillRect/>
          </a:stretch>
        </p:blipFill>
        <p:spPr>
          <a:xfrm>
            <a:off x="5510375" y="3459206"/>
            <a:ext cx="668024" cy="668024"/>
          </a:xfrm>
          <a:prstGeom prst="rect">
            <a:avLst/>
          </a:prstGeom>
        </p:spPr>
      </p:pic>
      <p:sp>
        <p:nvSpPr>
          <p:cNvPr id="45" name="TextBox 44">
            <a:extLst>
              <a:ext uri="{FF2B5EF4-FFF2-40B4-BE49-F238E27FC236}">
                <a16:creationId xmlns:a16="http://schemas.microsoft.com/office/drawing/2014/main" id="{D89082A2-5696-3C8C-E136-2CB237AFFF48}"/>
              </a:ext>
            </a:extLst>
          </p:cNvPr>
          <p:cNvSpPr txBox="1"/>
          <p:nvPr/>
        </p:nvSpPr>
        <p:spPr>
          <a:xfrm>
            <a:off x="6300354" y="3371725"/>
            <a:ext cx="5330242" cy="923330"/>
          </a:xfrm>
          <a:prstGeom prst="rect">
            <a:avLst/>
          </a:prstGeom>
          <a:noFill/>
        </p:spPr>
        <p:txBody>
          <a:bodyPr wrap="none" rtlCol="0">
            <a:spAutoFit/>
          </a:bodyPr>
          <a:lstStyle/>
          <a:p>
            <a:r>
              <a:rPr lang="en-IN" b="1" dirty="0"/>
              <a:t>Device Settings Assistance</a:t>
            </a:r>
          </a:p>
          <a:p>
            <a:r>
              <a:rPr lang="en-IN" dirty="0"/>
              <a:t>A user needs help finding the correct display, sound or </a:t>
            </a:r>
          </a:p>
          <a:p>
            <a:r>
              <a:rPr lang="en-IN" dirty="0"/>
              <a:t>accessibility settings.</a:t>
            </a:r>
            <a:endParaRPr lang="en-IN" b="1" dirty="0"/>
          </a:p>
        </p:txBody>
      </p:sp>
      <p:pic>
        <p:nvPicPr>
          <p:cNvPr id="47" name="Picture 46">
            <a:extLst>
              <a:ext uri="{FF2B5EF4-FFF2-40B4-BE49-F238E27FC236}">
                <a16:creationId xmlns:a16="http://schemas.microsoft.com/office/drawing/2014/main" id="{FFEE6292-783E-B0AC-D633-0BF171F05D9D}"/>
              </a:ext>
            </a:extLst>
          </p:cNvPr>
          <p:cNvPicPr>
            <a:picLocks noChangeAspect="1"/>
          </p:cNvPicPr>
          <p:nvPr/>
        </p:nvPicPr>
        <p:blipFill>
          <a:blip r:embed="rId10">
            <a:duotone>
              <a:schemeClr val="accent6">
                <a:shade val="45000"/>
                <a:satMod val="135000"/>
              </a:schemeClr>
              <a:prstClr val="white"/>
            </a:duotone>
          </a:blip>
          <a:stretch>
            <a:fillRect/>
          </a:stretch>
        </p:blipFill>
        <p:spPr>
          <a:xfrm>
            <a:off x="5540855" y="4592952"/>
            <a:ext cx="703172" cy="703172"/>
          </a:xfrm>
          <a:prstGeom prst="rect">
            <a:avLst/>
          </a:prstGeom>
        </p:spPr>
      </p:pic>
      <p:sp>
        <p:nvSpPr>
          <p:cNvPr id="49" name="TextBox 48">
            <a:extLst>
              <a:ext uri="{FF2B5EF4-FFF2-40B4-BE49-F238E27FC236}">
                <a16:creationId xmlns:a16="http://schemas.microsoft.com/office/drawing/2014/main" id="{E981922C-4961-E356-2B44-6A321798B79F}"/>
              </a:ext>
            </a:extLst>
          </p:cNvPr>
          <p:cNvSpPr txBox="1"/>
          <p:nvPr/>
        </p:nvSpPr>
        <p:spPr>
          <a:xfrm>
            <a:off x="6344351" y="4510642"/>
            <a:ext cx="4908588" cy="923330"/>
          </a:xfrm>
          <a:prstGeom prst="rect">
            <a:avLst/>
          </a:prstGeom>
          <a:noFill/>
        </p:spPr>
        <p:txBody>
          <a:bodyPr wrap="none" rtlCol="0">
            <a:spAutoFit/>
          </a:bodyPr>
          <a:lstStyle/>
          <a:p>
            <a:r>
              <a:rPr lang="en-IN" b="1" dirty="0"/>
              <a:t>Application Issues</a:t>
            </a:r>
          </a:p>
          <a:p>
            <a:r>
              <a:rPr lang="en-IN" dirty="0"/>
              <a:t>A user reports an application freezing or behaving </a:t>
            </a:r>
          </a:p>
          <a:p>
            <a:r>
              <a:rPr lang="en-IN" dirty="0"/>
              <a:t>unexpectedly.</a:t>
            </a:r>
            <a:endParaRPr lang="en-IN" b="1" dirty="0"/>
          </a:p>
        </p:txBody>
      </p:sp>
      <p:pic>
        <p:nvPicPr>
          <p:cNvPr id="51" name="Picture 50">
            <a:extLst>
              <a:ext uri="{FF2B5EF4-FFF2-40B4-BE49-F238E27FC236}">
                <a16:creationId xmlns:a16="http://schemas.microsoft.com/office/drawing/2014/main" id="{8EB8CCAF-BB55-0A0A-673B-26065449E326}"/>
              </a:ext>
            </a:extLst>
          </p:cNvPr>
          <p:cNvPicPr>
            <a:picLocks noChangeAspect="1"/>
          </p:cNvPicPr>
          <p:nvPr/>
        </p:nvPicPr>
        <p:blipFill>
          <a:blip r:embed="rId11">
            <a:duotone>
              <a:schemeClr val="accent6">
                <a:shade val="45000"/>
                <a:satMod val="135000"/>
              </a:schemeClr>
              <a:prstClr val="white"/>
            </a:duotone>
          </a:blip>
          <a:stretch>
            <a:fillRect/>
          </a:stretch>
        </p:blipFill>
        <p:spPr>
          <a:xfrm>
            <a:off x="5540855" y="5685231"/>
            <a:ext cx="716400" cy="716400"/>
          </a:xfrm>
          <a:prstGeom prst="rect">
            <a:avLst/>
          </a:prstGeom>
        </p:spPr>
      </p:pic>
      <p:sp>
        <p:nvSpPr>
          <p:cNvPr id="53" name="TextBox 52">
            <a:extLst>
              <a:ext uri="{FF2B5EF4-FFF2-40B4-BE49-F238E27FC236}">
                <a16:creationId xmlns:a16="http://schemas.microsoft.com/office/drawing/2014/main" id="{C5D277C9-30C3-22DD-0FA9-7125666CED15}"/>
              </a:ext>
            </a:extLst>
          </p:cNvPr>
          <p:cNvSpPr txBox="1"/>
          <p:nvPr/>
        </p:nvSpPr>
        <p:spPr>
          <a:xfrm>
            <a:off x="6409585" y="5612246"/>
            <a:ext cx="5278368" cy="923330"/>
          </a:xfrm>
          <a:prstGeom prst="rect">
            <a:avLst/>
          </a:prstGeom>
          <a:noFill/>
        </p:spPr>
        <p:txBody>
          <a:bodyPr wrap="none" rtlCol="0">
            <a:spAutoFit/>
          </a:bodyPr>
          <a:lstStyle/>
          <a:p>
            <a:r>
              <a:rPr lang="en-IN" b="1" dirty="0"/>
              <a:t>Device Functionality Issues</a:t>
            </a:r>
          </a:p>
          <a:p>
            <a:r>
              <a:rPr lang="en-IN" dirty="0"/>
              <a:t>A user experiences problems with notifications, touch </a:t>
            </a:r>
          </a:p>
          <a:p>
            <a:r>
              <a:rPr lang="en-IN" dirty="0"/>
              <a:t>response or other device features.</a:t>
            </a:r>
            <a:endParaRPr lang="en-IN" b="1" dirty="0"/>
          </a:p>
        </p:txBody>
      </p:sp>
    </p:spTree>
    <p:extLst>
      <p:ext uri="{BB962C8B-B14F-4D97-AF65-F5344CB8AC3E}">
        <p14:creationId xmlns:p14="http://schemas.microsoft.com/office/powerpoint/2010/main" val="36681190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0" y="0"/>
            <a:ext cx="10515600" cy="1325563"/>
          </a:xfrm>
        </p:spPr>
        <p:txBody>
          <a:bodyPr/>
          <a:lstStyle/>
          <a:p>
            <a:pPr>
              <a:spcAft>
                <a:spcPts val="500"/>
              </a:spcAft>
              <a:buSzPct val="100000"/>
            </a:pPr>
            <a:r>
              <a:rPr lang="en-US" sz="4400" b="1" dirty="0">
                <a:solidFill>
                  <a:schemeClr val="accent6">
                    <a:lumMod val="50000"/>
                  </a:schemeClr>
                </a:solidFill>
                <a:latin typeface="Calibri" pitchFamily="34" charset="0"/>
                <a:ea typeface="Calibri" pitchFamily="34" charset="-122"/>
                <a:cs typeface="Calibri" pitchFamily="34" charset="-120"/>
              </a:rPr>
              <a:t>Innovation highlights, results and limitations</a:t>
            </a:r>
            <a:endParaRPr lang="en-US" sz="4400" b="1" dirty="0">
              <a:solidFill>
                <a:schemeClr val="accent6">
                  <a:lumMod val="50000"/>
                </a:schemeClr>
              </a:solidFill>
            </a:endParaRPr>
          </a:p>
        </p:txBody>
      </p:sp>
      <p:sp>
        <p:nvSpPr>
          <p:cNvPr id="4" name="Rectangle 3">
            <a:extLst>
              <a:ext uri="{FF2B5EF4-FFF2-40B4-BE49-F238E27FC236}">
                <a16:creationId xmlns:a16="http://schemas.microsoft.com/office/drawing/2014/main" id="{448B610D-13D3-29BE-CF75-B5D02396585B}"/>
              </a:ext>
            </a:extLst>
          </p:cNvPr>
          <p:cNvSpPr/>
          <p:nvPr/>
        </p:nvSpPr>
        <p:spPr>
          <a:xfrm>
            <a:off x="132080" y="1066800"/>
            <a:ext cx="4622800" cy="563880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6" name="Picture 5">
            <a:extLst>
              <a:ext uri="{FF2B5EF4-FFF2-40B4-BE49-F238E27FC236}">
                <a16:creationId xmlns:a16="http://schemas.microsoft.com/office/drawing/2014/main" id="{284F0009-DF71-791F-110F-31F37F45A371}"/>
              </a:ext>
            </a:extLst>
          </p:cNvPr>
          <p:cNvPicPr>
            <a:picLocks noChangeAspect="1"/>
          </p:cNvPicPr>
          <p:nvPr/>
        </p:nvPicPr>
        <p:blipFill>
          <a:blip r:embed="rId2"/>
          <a:stretch>
            <a:fillRect/>
          </a:stretch>
        </p:blipFill>
        <p:spPr>
          <a:xfrm>
            <a:off x="218437" y="1189680"/>
            <a:ext cx="477522" cy="486720"/>
          </a:xfrm>
          <a:prstGeom prst="rect">
            <a:avLst/>
          </a:prstGeom>
        </p:spPr>
      </p:pic>
      <p:sp>
        <p:nvSpPr>
          <p:cNvPr id="7" name="TextBox 6">
            <a:extLst>
              <a:ext uri="{FF2B5EF4-FFF2-40B4-BE49-F238E27FC236}">
                <a16:creationId xmlns:a16="http://schemas.microsoft.com/office/drawing/2014/main" id="{DF86FF93-6D6A-6930-4380-25A37012296A}"/>
              </a:ext>
            </a:extLst>
          </p:cNvPr>
          <p:cNvSpPr txBox="1"/>
          <p:nvPr/>
        </p:nvSpPr>
        <p:spPr>
          <a:xfrm>
            <a:off x="848359" y="1090097"/>
            <a:ext cx="3355277" cy="523220"/>
          </a:xfrm>
          <a:prstGeom prst="rect">
            <a:avLst/>
          </a:prstGeom>
          <a:noFill/>
        </p:spPr>
        <p:txBody>
          <a:bodyPr wrap="none" rtlCol="0">
            <a:spAutoFit/>
          </a:bodyPr>
          <a:lstStyle/>
          <a:p>
            <a:r>
              <a:rPr lang="en-US" sz="2800" b="1" dirty="0">
                <a:solidFill>
                  <a:schemeClr val="accent6">
                    <a:lumMod val="50000"/>
                  </a:schemeClr>
                </a:solidFill>
                <a:latin typeface="Calibri" pitchFamily="34" charset="0"/>
                <a:ea typeface="Calibri" pitchFamily="34" charset="-122"/>
                <a:cs typeface="Calibri" pitchFamily="34" charset="-120"/>
              </a:rPr>
              <a:t>Innovation Highlights</a:t>
            </a:r>
            <a:endParaRPr lang="en-IN" sz="2800" b="1" dirty="0"/>
          </a:p>
        </p:txBody>
      </p:sp>
      <p:sp>
        <p:nvSpPr>
          <p:cNvPr id="8" name="TextBox 7">
            <a:extLst>
              <a:ext uri="{FF2B5EF4-FFF2-40B4-BE49-F238E27FC236}">
                <a16:creationId xmlns:a16="http://schemas.microsoft.com/office/drawing/2014/main" id="{0F426884-7425-8718-77D5-072FCEF83F5D}"/>
              </a:ext>
            </a:extLst>
          </p:cNvPr>
          <p:cNvSpPr txBox="1"/>
          <p:nvPr/>
        </p:nvSpPr>
        <p:spPr>
          <a:xfrm>
            <a:off x="695959" y="1551531"/>
            <a:ext cx="3575018" cy="369332"/>
          </a:xfrm>
          <a:prstGeom prst="rect">
            <a:avLst/>
          </a:prstGeom>
          <a:noFill/>
        </p:spPr>
        <p:txBody>
          <a:bodyPr wrap="none" rtlCol="0">
            <a:spAutoFit/>
          </a:bodyPr>
          <a:lstStyle/>
          <a:p>
            <a:r>
              <a:rPr lang="en-US" dirty="0"/>
              <a:t>Key features that make SGTE unique</a:t>
            </a:r>
            <a:endParaRPr lang="en-IN" dirty="0"/>
          </a:p>
        </p:txBody>
      </p:sp>
      <p:pic>
        <p:nvPicPr>
          <p:cNvPr id="10" name="Picture 9">
            <a:extLst>
              <a:ext uri="{FF2B5EF4-FFF2-40B4-BE49-F238E27FC236}">
                <a16:creationId xmlns:a16="http://schemas.microsoft.com/office/drawing/2014/main" id="{550D369E-6DA9-7870-D2F3-4B74F91ED3ED}"/>
              </a:ext>
            </a:extLst>
          </p:cNvPr>
          <p:cNvPicPr>
            <a:picLocks noChangeAspect="1"/>
          </p:cNvPicPr>
          <p:nvPr/>
        </p:nvPicPr>
        <p:blipFill>
          <a:blip r:embed="rId3">
            <a:duotone>
              <a:schemeClr val="accent6">
                <a:shade val="45000"/>
                <a:satMod val="135000"/>
              </a:schemeClr>
              <a:prstClr val="white"/>
            </a:duotone>
          </a:blip>
          <a:stretch>
            <a:fillRect/>
          </a:stretch>
        </p:blipFill>
        <p:spPr>
          <a:xfrm>
            <a:off x="164139" y="2127560"/>
            <a:ext cx="625800" cy="625800"/>
          </a:xfrm>
          <a:prstGeom prst="rect">
            <a:avLst/>
          </a:prstGeom>
        </p:spPr>
      </p:pic>
      <p:sp>
        <p:nvSpPr>
          <p:cNvPr id="11" name="TextBox 10">
            <a:extLst>
              <a:ext uri="{FF2B5EF4-FFF2-40B4-BE49-F238E27FC236}">
                <a16:creationId xmlns:a16="http://schemas.microsoft.com/office/drawing/2014/main" id="{CB0DD022-CA1B-C38F-3F2E-1B3E6B71F184}"/>
              </a:ext>
            </a:extLst>
          </p:cNvPr>
          <p:cNvSpPr txBox="1"/>
          <p:nvPr/>
        </p:nvSpPr>
        <p:spPr>
          <a:xfrm>
            <a:off x="746759" y="1962877"/>
            <a:ext cx="3835474" cy="1138773"/>
          </a:xfrm>
          <a:prstGeom prst="rect">
            <a:avLst/>
          </a:prstGeom>
          <a:noFill/>
        </p:spPr>
        <p:txBody>
          <a:bodyPr wrap="none" rtlCol="0">
            <a:spAutoFit/>
          </a:bodyPr>
          <a:lstStyle/>
          <a:p>
            <a:r>
              <a:rPr lang="en-IN" b="1" dirty="0"/>
              <a:t>Natural Language Understanding</a:t>
            </a:r>
          </a:p>
          <a:p>
            <a:r>
              <a:rPr lang="en-IN" sz="1600" dirty="0"/>
              <a:t>Processes everyday device complaints and </a:t>
            </a:r>
          </a:p>
          <a:p>
            <a:r>
              <a:rPr lang="en-IN" sz="1600" dirty="0"/>
              <a:t>transforms informal queries into structured </a:t>
            </a:r>
          </a:p>
          <a:p>
            <a:r>
              <a:rPr lang="en-IN" sz="1600" dirty="0"/>
              <a:t>technical inputs</a:t>
            </a:r>
            <a:r>
              <a:rPr lang="en-IN" dirty="0"/>
              <a:t>.</a:t>
            </a:r>
          </a:p>
        </p:txBody>
      </p:sp>
      <p:pic>
        <p:nvPicPr>
          <p:cNvPr id="13" name="Picture 12">
            <a:extLst>
              <a:ext uri="{FF2B5EF4-FFF2-40B4-BE49-F238E27FC236}">
                <a16:creationId xmlns:a16="http://schemas.microsoft.com/office/drawing/2014/main" id="{216FE09A-090D-A74D-6921-A5C19A9ED3E2}"/>
              </a:ext>
            </a:extLst>
          </p:cNvPr>
          <p:cNvPicPr>
            <a:picLocks noChangeAspect="1"/>
          </p:cNvPicPr>
          <p:nvPr/>
        </p:nvPicPr>
        <p:blipFill>
          <a:blip r:embed="rId4">
            <a:duotone>
              <a:schemeClr val="accent6">
                <a:shade val="45000"/>
                <a:satMod val="135000"/>
              </a:schemeClr>
              <a:prstClr val="white"/>
            </a:duotone>
          </a:blip>
          <a:stretch>
            <a:fillRect/>
          </a:stretch>
        </p:blipFill>
        <p:spPr>
          <a:xfrm>
            <a:off x="195588" y="3175020"/>
            <a:ext cx="523220" cy="523220"/>
          </a:xfrm>
          <a:prstGeom prst="rect">
            <a:avLst/>
          </a:prstGeom>
        </p:spPr>
      </p:pic>
      <p:sp>
        <p:nvSpPr>
          <p:cNvPr id="14" name="TextBox 13">
            <a:extLst>
              <a:ext uri="{FF2B5EF4-FFF2-40B4-BE49-F238E27FC236}">
                <a16:creationId xmlns:a16="http://schemas.microsoft.com/office/drawing/2014/main" id="{C7CDF36C-0049-8BF6-E896-CA17314E208E}"/>
              </a:ext>
            </a:extLst>
          </p:cNvPr>
          <p:cNvSpPr txBox="1"/>
          <p:nvPr/>
        </p:nvSpPr>
        <p:spPr>
          <a:xfrm>
            <a:off x="695959" y="2996922"/>
            <a:ext cx="3695435" cy="1107996"/>
          </a:xfrm>
          <a:prstGeom prst="rect">
            <a:avLst/>
          </a:prstGeom>
          <a:noFill/>
        </p:spPr>
        <p:txBody>
          <a:bodyPr wrap="none" rtlCol="0">
            <a:spAutoFit/>
          </a:bodyPr>
          <a:lstStyle/>
          <a:p>
            <a:r>
              <a:rPr lang="en-IN" b="1" dirty="0"/>
              <a:t>Hybrid Retrieval</a:t>
            </a:r>
          </a:p>
          <a:p>
            <a:r>
              <a:rPr lang="en-IN" sz="1600" dirty="0"/>
              <a:t>Combines dense retrieval with TF-IDF and </a:t>
            </a:r>
          </a:p>
          <a:p>
            <a:r>
              <a:rPr lang="en-IN" sz="1600" dirty="0"/>
              <a:t>lexical matching to identify potentially </a:t>
            </a:r>
          </a:p>
          <a:p>
            <a:r>
              <a:rPr lang="en-IN" sz="1600" dirty="0"/>
              <a:t>relevant troubleshooting information.</a:t>
            </a:r>
          </a:p>
        </p:txBody>
      </p:sp>
      <p:pic>
        <p:nvPicPr>
          <p:cNvPr id="16" name="Picture 15">
            <a:extLst>
              <a:ext uri="{FF2B5EF4-FFF2-40B4-BE49-F238E27FC236}">
                <a16:creationId xmlns:a16="http://schemas.microsoft.com/office/drawing/2014/main" id="{9D5AA3FF-45EC-4DBE-DDE5-FD6A5334C2C7}"/>
              </a:ext>
            </a:extLst>
          </p:cNvPr>
          <p:cNvPicPr>
            <a:picLocks noChangeAspect="1"/>
          </p:cNvPicPr>
          <p:nvPr/>
        </p:nvPicPr>
        <p:blipFill>
          <a:blip r:embed="rId5">
            <a:duotone>
              <a:schemeClr val="accent6">
                <a:shade val="45000"/>
                <a:satMod val="135000"/>
              </a:schemeClr>
              <a:prstClr val="white"/>
            </a:duotone>
          </a:blip>
          <a:stretch>
            <a:fillRect/>
          </a:stretch>
        </p:blipFill>
        <p:spPr>
          <a:xfrm>
            <a:off x="157477" y="4135398"/>
            <a:ext cx="629707" cy="629707"/>
          </a:xfrm>
          <a:prstGeom prst="rect">
            <a:avLst/>
          </a:prstGeom>
        </p:spPr>
      </p:pic>
      <p:sp>
        <p:nvSpPr>
          <p:cNvPr id="17" name="TextBox 16">
            <a:extLst>
              <a:ext uri="{FF2B5EF4-FFF2-40B4-BE49-F238E27FC236}">
                <a16:creationId xmlns:a16="http://schemas.microsoft.com/office/drawing/2014/main" id="{5651B809-7280-CB99-8531-CB0CB088C98D}"/>
              </a:ext>
            </a:extLst>
          </p:cNvPr>
          <p:cNvSpPr txBox="1"/>
          <p:nvPr/>
        </p:nvSpPr>
        <p:spPr>
          <a:xfrm>
            <a:off x="695959" y="3978669"/>
            <a:ext cx="3800656" cy="1107996"/>
          </a:xfrm>
          <a:prstGeom prst="rect">
            <a:avLst/>
          </a:prstGeom>
          <a:noFill/>
        </p:spPr>
        <p:txBody>
          <a:bodyPr wrap="none" rtlCol="0">
            <a:spAutoFit/>
          </a:bodyPr>
          <a:lstStyle/>
          <a:p>
            <a:r>
              <a:rPr lang="en-IN" b="1" dirty="0"/>
              <a:t>Structured Troubleshooting</a:t>
            </a:r>
          </a:p>
          <a:p>
            <a:r>
              <a:rPr lang="en-IN" sz="1600" dirty="0"/>
              <a:t>Extracts troubleshooting goals, actions and </a:t>
            </a:r>
          </a:p>
          <a:p>
            <a:r>
              <a:rPr lang="en-IN" sz="1600" dirty="0"/>
              <a:t>individual UI steps to generate organized </a:t>
            </a:r>
          </a:p>
          <a:p>
            <a:r>
              <a:rPr lang="en-IN" sz="1600" dirty="0"/>
              <a:t>guidance.</a:t>
            </a:r>
          </a:p>
        </p:txBody>
      </p:sp>
      <p:pic>
        <p:nvPicPr>
          <p:cNvPr id="19" name="Picture 18">
            <a:extLst>
              <a:ext uri="{FF2B5EF4-FFF2-40B4-BE49-F238E27FC236}">
                <a16:creationId xmlns:a16="http://schemas.microsoft.com/office/drawing/2014/main" id="{CA73DE1F-A777-2AD6-84D6-7AD52649D078}"/>
              </a:ext>
            </a:extLst>
          </p:cNvPr>
          <p:cNvPicPr>
            <a:picLocks noChangeAspect="1"/>
          </p:cNvPicPr>
          <p:nvPr/>
        </p:nvPicPr>
        <p:blipFill>
          <a:blip r:embed="rId6">
            <a:duotone>
              <a:schemeClr val="accent6">
                <a:shade val="45000"/>
                <a:satMod val="135000"/>
              </a:schemeClr>
              <a:prstClr val="white"/>
            </a:duotone>
          </a:blip>
          <a:stretch>
            <a:fillRect/>
          </a:stretch>
        </p:blipFill>
        <p:spPr>
          <a:xfrm>
            <a:off x="185211" y="5069458"/>
            <a:ext cx="543974" cy="543974"/>
          </a:xfrm>
          <a:prstGeom prst="rect">
            <a:avLst/>
          </a:prstGeom>
        </p:spPr>
      </p:pic>
      <p:sp>
        <p:nvSpPr>
          <p:cNvPr id="20" name="TextBox 19">
            <a:extLst>
              <a:ext uri="{FF2B5EF4-FFF2-40B4-BE49-F238E27FC236}">
                <a16:creationId xmlns:a16="http://schemas.microsoft.com/office/drawing/2014/main" id="{2F40FBC6-72B6-BB7A-6A97-47E6CB5AA0D7}"/>
              </a:ext>
            </a:extLst>
          </p:cNvPr>
          <p:cNvSpPr txBox="1"/>
          <p:nvPr/>
        </p:nvSpPr>
        <p:spPr>
          <a:xfrm>
            <a:off x="655319" y="4948111"/>
            <a:ext cx="4224618" cy="861774"/>
          </a:xfrm>
          <a:prstGeom prst="rect">
            <a:avLst/>
          </a:prstGeom>
          <a:noFill/>
        </p:spPr>
        <p:txBody>
          <a:bodyPr wrap="none" rtlCol="0">
            <a:spAutoFit/>
          </a:bodyPr>
          <a:lstStyle/>
          <a:p>
            <a:r>
              <a:rPr lang="en-IN" b="1" dirty="0"/>
              <a:t>Semantic Caching</a:t>
            </a:r>
          </a:p>
          <a:p>
            <a:r>
              <a:rPr lang="en-IN" sz="1600" dirty="0"/>
              <a:t>Reuses validated troubleshooting plans for </a:t>
            </a:r>
          </a:p>
          <a:p>
            <a:r>
              <a:rPr lang="en-IN" sz="1600" dirty="0"/>
              <a:t>matching queries, reducing repeated processing.</a:t>
            </a:r>
          </a:p>
        </p:txBody>
      </p:sp>
      <p:pic>
        <p:nvPicPr>
          <p:cNvPr id="22" name="Picture 21">
            <a:extLst>
              <a:ext uri="{FF2B5EF4-FFF2-40B4-BE49-F238E27FC236}">
                <a16:creationId xmlns:a16="http://schemas.microsoft.com/office/drawing/2014/main" id="{581AF309-B54C-9F59-468C-AD8A2C2410BB}"/>
              </a:ext>
            </a:extLst>
          </p:cNvPr>
          <p:cNvPicPr>
            <a:picLocks noChangeAspect="1"/>
          </p:cNvPicPr>
          <p:nvPr/>
        </p:nvPicPr>
        <p:blipFill>
          <a:blip r:embed="rId7">
            <a:duotone>
              <a:schemeClr val="accent6">
                <a:shade val="45000"/>
                <a:satMod val="135000"/>
              </a:schemeClr>
              <a:prstClr val="white"/>
            </a:duotone>
          </a:blip>
          <a:stretch>
            <a:fillRect/>
          </a:stretch>
        </p:blipFill>
        <p:spPr>
          <a:xfrm>
            <a:off x="185211" y="5907625"/>
            <a:ext cx="441694" cy="441694"/>
          </a:xfrm>
          <a:prstGeom prst="rect">
            <a:avLst/>
          </a:prstGeom>
        </p:spPr>
      </p:pic>
      <p:sp>
        <p:nvSpPr>
          <p:cNvPr id="23" name="TextBox 22">
            <a:extLst>
              <a:ext uri="{FF2B5EF4-FFF2-40B4-BE49-F238E27FC236}">
                <a16:creationId xmlns:a16="http://schemas.microsoft.com/office/drawing/2014/main" id="{A67C965E-7887-F940-BC85-8DD471EB1BC6}"/>
              </a:ext>
            </a:extLst>
          </p:cNvPr>
          <p:cNvSpPr txBox="1"/>
          <p:nvPr/>
        </p:nvSpPr>
        <p:spPr>
          <a:xfrm>
            <a:off x="626905" y="5669345"/>
            <a:ext cx="3676648" cy="1107996"/>
          </a:xfrm>
          <a:prstGeom prst="rect">
            <a:avLst/>
          </a:prstGeom>
          <a:noFill/>
        </p:spPr>
        <p:txBody>
          <a:bodyPr wrap="none" rtlCol="0">
            <a:spAutoFit/>
          </a:bodyPr>
          <a:lstStyle/>
          <a:p>
            <a:r>
              <a:rPr lang="en-IN" b="1" dirty="0"/>
              <a:t>Guided Navigation</a:t>
            </a:r>
          </a:p>
          <a:p>
            <a:r>
              <a:rPr lang="en-IN" sz="1600" dirty="0"/>
              <a:t>Maps relevant device screens to available </a:t>
            </a:r>
          </a:p>
          <a:p>
            <a:r>
              <a:rPr lang="en-IN" sz="1600" dirty="0"/>
              <a:t>deep-link </a:t>
            </a:r>
            <a:r>
              <a:rPr lang="en-IN" sz="1600" dirty="0" err="1"/>
              <a:t>catalog</a:t>
            </a:r>
            <a:r>
              <a:rPr lang="en-IN" sz="1600" dirty="0"/>
              <a:t> entries and organizes </a:t>
            </a:r>
          </a:p>
          <a:p>
            <a:r>
              <a:rPr lang="en-IN" sz="1600" dirty="0"/>
              <a:t>troubleshooting actions.</a:t>
            </a:r>
          </a:p>
        </p:txBody>
      </p:sp>
      <p:sp>
        <p:nvSpPr>
          <p:cNvPr id="24" name="Rectangle 23">
            <a:extLst>
              <a:ext uri="{FF2B5EF4-FFF2-40B4-BE49-F238E27FC236}">
                <a16:creationId xmlns:a16="http://schemas.microsoft.com/office/drawing/2014/main" id="{4EAF6D68-25F8-D075-3D7C-4FFD185204F1}"/>
              </a:ext>
            </a:extLst>
          </p:cNvPr>
          <p:cNvSpPr/>
          <p:nvPr/>
        </p:nvSpPr>
        <p:spPr>
          <a:xfrm>
            <a:off x="4879937" y="1066800"/>
            <a:ext cx="3867823" cy="4019865"/>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6" name="Picture 25">
            <a:extLst>
              <a:ext uri="{FF2B5EF4-FFF2-40B4-BE49-F238E27FC236}">
                <a16:creationId xmlns:a16="http://schemas.microsoft.com/office/drawing/2014/main" id="{C9B62C27-8673-7D73-C2C1-588D5F42B8F0}"/>
              </a:ext>
            </a:extLst>
          </p:cNvPr>
          <p:cNvPicPr>
            <a:picLocks noChangeAspect="1"/>
          </p:cNvPicPr>
          <p:nvPr/>
        </p:nvPicPr>
        <p:blipFill>
          <a:blip r:embed="rId8">
            <a:duotone>
              <a:schemeClr val="accent1">
                <a:shade val="45000"/>
                <a:satMod val="135000"/>
              </a:schemeClr>
              <a:prstClr val="white"/>
            </a:duotone>
          </a:blip>
          <a:stretch>
            <a:fillRect/>
          </a:stretch>
        </p:blipFill>
        <p:spPr>
          <a:xfrm>
            <a:off x="4967743" y="1140804"/>
            <a:ext cx="410727" cy="410727"/>
          </a:xfrm>
          <a:prstGeom prst="rect">
            <a:avLst/>
          </a:prstGeom>
        </p:spPr>
      </p:pic>
      <p:sp>
        <p:nvSpPr>
          <p:cNvPr id="27" name="TextBox 26">
            <a:extLst>
              <a:ext uri="{FF2B5EF4-FFF2-40B4-BE49-F238E27FC236}">
                <a16:creationId xmlns:a16="http://schemas.microsoft.com/office/drawing/2014/main" id="{5A14D3E3-AB1E-581A-D2B7-D17549425C46}"/>
              </a:ext>
            </a:extLst>
          </p:cNvPr>
          <p:cNvSpPr txBox="1"/>
          <p:nvPr/>
        </p:nvSpPr>
        <p:spPr>
          <a:xfrm>
            <a:off x="5503527" y="1084557"/>
            <a:ext cx="1110753" cy="523220"/>
          </a:xfrm>
          <a:prstGeom prst="rect">
            <a:avLst/>
          </a:prstGeom>
          <a:noFill/>
        </p:spPr>
        <p:txBody>
          <a:bodyPr wrap="none" rtlCol="0">
            <a:spAutoFit/>
          </a:bodyPr>
          <a:lstStyle/>
          <a:p>
            <a:r>
              <a:rPr lang="en-US" sz="2800" b="1" dirty="0">
                <a:solidFill>
                  <a:schemeClr val="accent1">
                    <a:lumMod val="50000"/>
                  </a:schemeClr>
                </a:solidFill>
              </a:rPr>
              <a:t>Result</a:t>
            </a:r>
            <a:endParaRPr lang="en-IN" sz="2800" b="1" dirty="0">
              <a:solidFill>
                <a:schemeClr val="accent1">
                  <a:lumMod val="50000"/>
                </a:schemeClr>
              </a:solidFill>
            </a:endParaRPr>
          </a:p>
        </p:txBody>
      </p:sp>
      <p:graphicFrame>
        <p:nvGraphicFramePr>
          <p:cNvPr id="28" name="Table 27">
            <a:extLst>
              <a:ext uri="{FF2B5EF4-FFF2-40B4-BE49-F238E27FC236}">
                <a16:creationId xmlns:a16="http://schemas.microsoft.com/office/drawing/2014/main" id="{16AA2DEB-4932-2EB4-4787-5D326C9695D5}"/>
              </a:ext>
            </a:extLst>
          </p:cNvPr>
          <p:cNvGraphicFramePr>
            <a:graphicFrameLocks noGrp="1"/>
          </p:cNvGraphicFramePr>
          <p:nvPr>
            <p:extLst>
              <p:ext uri="{D42A27DB-BD31-4B8C-83A1-F6EECF244321}">
                <p14:modId xmlns:p14="http://schemas.microsoft.com/office/powerpoint/2010/main" val="1922137590"/>
              </p:ext>
            </p:extLst>
          </p:nvPr>
        </p:nvGraphicFramePr>
        <p:xfrm>
          <a:off x="4853597" y="1784109"/>
          <a:ext cx="3894162" cy="3840480"/>
        </p:xfrm>
        <a:graphic>
          <a:graphicData uri="http://schemas.openxmlformats.org/drawingml/2006/table">
            <a:tbl>
              <a:tblPr firstRow="1" bandRow="1">
                <a:tableStyleId>{5C22544A-7EE6-4342-B048-85BDC9FD1C3A}</a:tableStyleId>
              </a:tblPr>
              <a:tblGrid>
                <a:gridCol w="1947081">
                  <a:extLst>
                    <a:ext uri="{9D8B030D-6E8A-4147-A177-3AD203B41FA5}">
                      <a16:colId xmlns:a16="http://schemas.microsoft.com/office/drawing/2014/main" val="3578631005"/>
                    </a:ext>
                  </a:extLst>
                </a:gridCol>
                <a:gridCol w="1947081">
                  <a:extLst>
                    <a:ext uri="{9D8B030D-6E8A-4147-A177-3AD203B41FA5}">
                      <a16:colId xmlns:a16="http://schemas.microsoft.com/office/drawing/2014/main" val="2756752763"/>
                    </a:ext>
                  </a:extLst>
                </a:gridCol>
              </a:tblGrid>
              <a:tr h="220927">
                <a:tc>
                  <a:txBody>
                    <a:bodyPr/>
                    <a:lstStyle/>
                    <a:p>
                      <a:pPr algn="ctr"/>
                      <a:r>
                        <a:rPr lang="en-US" dirty="0"/>
                        <a:t>Metric</a:t>
                      </a:r>
                      <a:endParaRPr lang="en-IN" dirty="0"/>
                    </a:p>
                  </a:txBody>
                  <a:tcPr/>
                </a:tc>
                <a:tc>
                  <a:txBody>
                    <a:bodyPr/>
                    <a:lstStyle/>
                    <a:p>
                      <a:pPr algn="ctr"/>
                      <a:r>
                        <a:rPr lang="en-US" dirty="0"/>
                        <a:t>Result</a:t>
                      </a:r>
                      <a:endParaRPr lang="en-IN" dirty="0"/>
                    </a:p>
                  </a:txBody>
                  <a:tcPr/>
                </a:tc>
                <a:extLst>
                  <a:ext uri="{0D108BD9-81ED-4DB2-BD59-A6C34878D82A}">
                    <a16:rowId xmlns:a16="http://schemas.microsoft.com/office/drawing/2014/main" val="34053837"/>
                  </a:ext>
                </a:extLst>
              </a:tr>
              <a:tr h="220927">
                <a:tc>
                  <a:txBody>
                    <a:bodyPr/>
                    <a:lstStyle/>
                    <a:p>
                      <a:pPr algn="ctr"/>
                      <a:r>
                        <a:rPr lang="en-IN" dirty="0"/>
                        <a:t>Scenario coverage</a:t>
                      </a:r>
                    </a:p>
                  </a:txBody>
                  <a:tcPr/>
                </a:tc>
                <a:tc>
                  <a:txBody>
                    <a:bodyPr/>
                    <a:lstStyle/>
                    <a:p>
                      <a:pPr algn="ctr"/>
                      <a:r>
                        <a:rPr lang="en-IN" dirty="0"/>
                        <a:t>22 predefined troubleshooting scenarios</a:t>
                      </a:r>
                    </a:p>
                  </a:txBody>
                  <a:tcPr/>
                </a:tc>
                <a:extLst>
                  <a:ext uri="{0D108BD9-81ED-4DB2-BD59-A6C34878D82A}">
                    <a16:rowId xmlns:a16="http://schemas.microsoft.com/office/drawing/2014/main" val="19855976"/>
                  </a:ext>
                </a:extLst>
              </a:tr>
              <a:tr h="220927">
                <a:tc>
                  <a:txBody>
                    <a:bodyPr/>
                    <a:lstStyle/>
                    <a:p>
                      <a:pPr algn="ctr"/>
                      <a:r>
                        <a:rPr lang="en-IN" dirty="0"/>
                        <a:t>Phase 79 tests</a:t>
                      </a:r>
                    </a:p>
                  </a:txBody>
                  <a:tcPr/>
                </a:tc>
                <a:tc>
                  <a:txBody>
                    <a:bodyPr/>
                    <a:lstStyle/>
                    <a:p>
                      <a:pPr algn="ctr"/>
                      <a:r>
                        <a:rPr lang="en-IN" dirty="0"/>
                        <a:t>73 tests passed</a:t>
                      </a:r>
                    </a:p>
                  </a:txBody>
                  <a:tcPr/>
                </a:tc>
                <a:extLst>
                  <a:ext uri="{0D108BD9-81ED-4DB2-BD59-A6C34878D82A}">
                    <a16:rowId xmlns:a16="http://schemas.microsoft.com/office/drawing/2014/main" val="1314460004"/>
                  </a:ext>
                </a:extLst>
              </a:tr>
              <a:tr h="220927">
                <a:tc>
                  <a:txBody>
                    <a:bodyPr/>
                    <a:lstStyle/>
                    <a:p>
                      <a:pPr algn="ctr"/>
                      <a:r>
                        <a:rPr lang="en-IN" dirty="0"/>
                        <a:t>Full test suite</a:t>
                      </a:r>
                    </a:p>
                  </a:txBody>
                  <a:tcPr/>
                </a:tc>
                <a:tc>
                  <a:txBody>
                    <a:bodyPr/>
                    <a:lstStyle/>
                    <a:p>
                      <a:pPr algn="ctr"/>
                      <a:r>
                        <a:rPr lang="en-IN" dirty="0"/>
                        <a:t>885 tests passed</a:t>
                      </a:r>
                    </a:p>
                  </a:txBody>
                  <a:tcPr/>
                </a:tc>
                <a:extLst>
                  <a:ext uri="{0D108BD9-81ED-4DB2-BD59-A6C34878D82A}">
                    <a16:rowId xmlns:a16="http://schemas.microsoft.com/office/drawing/2014/main" val="4101343644"/>
                  </a:ext>
                </a:extLst>
              </a:tr>
              <a:tr h="220927">
                <a:tc>
                  <a:txBody>
                    <a:bodyPr/>
                    <a:lstStyle/>
                    <a:p>
                      <a:pPr algn="ctr"/>
                      <a:r>
                        <a:rPr lang="en-IN" dirty="0"/>
                        <a:t>Fabricated evidence IDs in scenario overrides</a:t>
                      </a:r>
                    </a:p>
                  </a:txBody>
                  <a:tcPr/>
                </a:tc>
                <a:tc>
                  <a:txBody>
                    <a:bodyPr/>
                    <a:lstStyle/>
                    <a:p>
                      <a:pPr algn="ctr"/>
                      <a:r>
                        <a:rPr lang="en-US" dirty="0"/>
                        <a:t>0</a:t>
                      </a:r>
                      <a:endParaRPr lang="en-IN" dirty="0"/>
                    </a:p>
                  </a:txBody>
                  <a:tcPr/>
                </a:tc>
                <a:extLst>
                  <a:ext uri="{0D108BD9-81ED-4DB2-BD59-A6C34878D82A}">
                    <a16:rowId xmlns:a16="http://schemas.microsoft.com/office/drawing/2014/main" val="789656995"/>
                  </a:ext>
                </a:extLst>
              </a:tr>
              <a:tr h="220927">
                <a:tc>
                  <a:txBody>
                    <a:bodyPr/>
                    <a:lstStyle/>
                    <a:p>
                      <a:pPr algn="ctr"/>
                      <a:r>
                        <a:rPr lang="en-IN" dirty="0"/>
                        <a:t>Deep links in scenario override responses</a:t>
                      </a:r>
                    </a:p>
                  </a:txBody>
                  <a:tcPr/>
                </a:tc>
                <a:tc>
                  <a:txBody>
                    <a:bodyPr/>
                    <a:lstStyle/>
                    <a:p>
                      <a:pPr algn="ctr"/>
                      <a:r>
                        <a:rPr lang="en-US" dirty="0"/>
                        <a:t>0</a:t>
                      </a:r>
                      <a:endParaRPr lang="en-IN" dirty="0"/>
                    </a:p>
                  </a:txBody>
                  <a:tcPr/>
                </a:tc>
                <a:extLst>
                  <a:ext uri="{0D108BD9-81ED-4DB2-BD59-A6C34878D82A}">
                    <a16:rowId xmlns:a16="http://schemas.microsoft.com/office/drawing/2014/main" val="882288398"/>
                  </a:ext>
                </a:extLst>
              </a:tr>
            </a:tbl>
          </a:graphicData>
        </a:graphic>
      </p:graphicFrame>
      <p:sp>
        <p:nvSpPr>
          <p:cNvPr id="31" name="Rectangle 30">
            <a:extLst>
              <a:ext uri="{FF2B5EF4-FFF2-40B4-BE49-F238E27FC236}">
                <a16:creationId xmlns:a16="http://schemas.microsoft.com/office/drawing/2014/main" id="{1AF90794-08A3-B17C-1CA0-A4DD2369EE0C}"/>
              </a:ext>
            </a:extLst>
          </p:cNvPr>
          <p:cNvSpPr/>
          <p:nvPr/>
        </p:nvSpPr>
        <p:spPr>
          <a:xfrm>
            <a:off x="4853597" y="5669345"/>
            <a:ext cx="3985603" cy="1107996"/>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0" name="Picture 29">
            <a:extLst>
              <a:ext uri="{FF2B5EF4-FFF2-40B4-BE49-F238E27FC236}">
                <a16:creationId xmlns:a16="http://schemas.microsoft.com/office/drawing/2014/main" id="{9E156961-F977-D3CF-FF51-7450B002B748}"/>
              </a:ext>
            </a:extLst>
          </p:cNvPr>
          <p:cNvPicPr>
            <a:picLocks noChangeAspect="1"/>
          </p:cNvPicPr>
          <p:nvPr/>
        </p:nvPicPr>
        <p:blipFill>
          <a:blip r:embed="rId9">
            <a:duotone>
              <a:schemeClr val="accent6">
                <a:shade val="45000"/>
                <a:satMod val="135000"/>
              </a:schemeClr>
              <a:prstClr val="white"/>
            </a:duotone>
          </a:blip>
          <a:stretch>
            <a:fillRect/>
          </a:stretch>
        </p:blipFill>
        <p:spPr>
          <a:xfrm>
            <a:off x="4817053" y="5800921"/>
            <a:ext cx="865303" cy="865303"/>
          </a:xfrm>
          <a:prstGeom prst="rect">
            <a:avLst/>
          </a:prstGeom>
        </p:spPr>
      </p:pic>
      <p:sp>
        <p:nvSpPr>
          <p:cNvPr id="32" name="TextBox 31">
            <a:extLst>
              <a:ext uri="{FF2B5EF4-FFF2-40B4-BE49-F238E27FC236}">
                <a16:creationId xmlns:a16="http://schemas.microsoft.com/office/drawing/2014/main" id="{651495CB-FD2B-A4C3-BD9A-A4F59150726B}"/>
              </a:ext>
            </a:extLst>
          </p:cNvPr>
          <p:cNvSpPr txBox="1"/>
          <p:nvPr/>
        </p:nvSpPr>
        <p:spPr>
          <a:xfrm>
            <a:off x="5616802" y="5624589"/>
            <a:ext cx="3333028" cy="1169551"/>
          </a:xfrm>
          <a:prstGeom prst="rect">
            <a:avLst/>
          </a:prstGeom>
          <a:noFill/>
        </p:spPr>
        <p:txBody>
          <a:bodyPr wrap="none" rtlCol="0">
            <a:spAutoFit/>
          </a:bodyPr>
          <a:lstStyle/>
          <a:p>
            <a:r>
              <a:rPr lang="en-IN" sz="1400" b="1" dirty="0">
                <a:solidFill>
                  <a:schemeClr val="accent6">
                    <a:lumMod val="50000"/>
                  </a:schemeClr>
                </a:solidFill>
              </a:rPr>
              <a:t>Key Achievement</a:t>
            </a:r>
          </a:p>
          <a:p>
            <a:r>
              <a:rPr lang="en-IN" sz="1400" dirty="0"/>
              <a:t>Developed a functional troubleshooting </a:t>
            </a:r>
          </a:p>
          <a:p>
            <a:r>
              <a:rPr lang="en-IN" sz="1400" dirty="0"/>
              <a:t>prototype with query processing, </a:t>
            </a:r>
          </a:p>
          <a:p>
            <a:r>
              <a:rPr lang="en-IN" sz="1400" dirty="0"/>
              <a:t>structured guidance, retrieval components </a:t>
            </a:r>
          </a:p>
          <a:p>
            <a:r>
              <a:rPr lang="en-IN" sz="1400" dirty="0"/>
              <a:t>and a web interface.</a:t>
            </a:r>
          </a:p>
        </p:txBody>
      </p:sp>
      <p:sp>
        <p:nvSpPr>
          <p:cNvPr id="33" name="Rectangle 32">
            <a:extLst>
              <a:ext uri="{FF2B5EF4-FFF2-40B4-BE49-F238E27FC236}">
                <a16:creationId xmlns:a16="http://schemas.microsoft.com/office/drawing/2014/main" id="{AEE3C694-4888-50F8-98A7-1E2BA5194EB9}"/>
              </a:ext>
            </a:extLst>
          </p:cNvPr>
          <p:cNvSpPr/>
          <p:nvPr/>
        </p:nvSpPr>
        <p:spPr>
          <a:xfrm>
            <a:off x="8930640" y="1066800"/>
            <a:ext cx="3180080" cy="5638800"/>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35" name="Picture 34">
            <a:extLst>
              <a:ext uri="{FF2B5EF4-FFF2-40B4-BE49-F238E27FC236}">
                <a16:creationId xmlns:a16="http://schemas.microsoft.com/office/drawing/2014/main" id="{07DF5C6B-E9AD-FE90-C7F2-35E39DF07B0B}"/>
              </a:ext>
            </a:extLst>
          </p:cNvPr>
          <p:cNvPicPr>
            <a:picLocks noChangeAspect="1"/>
          </p:cNvPicPr>
          <p:nvPr/>
        </p:nvPicPr>
        <p:blipFill>
          <a:blip r:embed="rId10"/>
          <a:stretch>
            <a:fillRect/>
          </a:stretch>
        </p:blipFill>
        <p:spPr>
          <a:xfrm>
            <a:off x="8953262" y="1070047"/>
            <a:ext cx="635240" cy="635240"/>
          </a:xfrm>
          <a:prstGeom prst="rect">
            <a:avLst/>
          </a:prstGeom>
        </p:spPr>
      </p:pic>
      <p:sp>
        <p:nvSpPr>
          <p:cNvPr id="37" name="TextBox 36">
            <a:extLst>
              <a:ext uri="{FF2B5EF4-FFF2-40B4-BE49-F238E27FC236}">
                <a16:creationId xmlns:a16="http://schemas.microsoft.com/office/drawing/2014/main" id="{7AF40118-E0E0-6E84-E5E9-DE29560A93C3}"/>
              </a:ext>
            </a:extLst>
          </p:cNvPr>
          <p:cNvSpPr txBox="1"/>
          <p:nvPr/>
        </p:nvSpPr>
        <p:spPr>
          <a:xfrm>
            <a:off x="9685022" y="1126143"/>
            <a:ext cx="2078005" cy="584775"/>
          </a:xfrm>
          <a:prstGeom prst="rect">
            <a:avLst/>
          </a:prstGeom>
          <a:noFill/>
        </p:spPr>
        <p:txBody>
          <a:bodyPr wrap="none" rtlCol="0">
            <a:spAutoFit/>
          </a:bodyPr>
          <a:lstStyle/>
          <a:p>
            <a:r>
              <a:rPr lang="en-US" sz="3200" b="1" dirty="0">
                <a:solidFill>
                  <a:srgbClr val="C00000"/>
                </a:solidFill>
              </a:rPr>
              <a:t>Limitations</a:t>
            </a:r>
            <a:endParaRPr lang="en-IN" sz="3200" b="1" dirty="0">
              <a:solidFill>
                <a:srgbClr val="C00000"/>
              </a:solidFill>
            </a:endParaRPr>
          </a:p>
        </p:txBody>
      </p:sp>
      <p:pic>
        <p:nvPicPr>
          <p:cNvPr id="39" name="Picture 38">
            <a:extLst>
              <a:ext uri="{FF2B5EF4-FFF2-40B4-BE49-F238E27FC236}">
                <a16:creationId xmlns:a16="http://schemas.microsoft.com/office/drawing/2014/main" id="{A320E728-A362-ED8E-E682-6B62AD80267C}"/>
              </a:ext>
            </a:extLst>
          </p:cNvPr>
          <p:cNvPicPr>
            <a:picLocks noChangeAspect="1"/>
          </p:cNvPicPr>
          <p:nvPr/>
        </p:nvPicPr>
        <p:blipFill>
          <a:blip r:embed="rId11">
            <a:duotone>
              <a:prstClr val="black"/>
              <a:schemeClr val="accent2">
                <a:tint val="45000"/>
                <a:satMod val="400000"/>
              </a:schemeClr>
            </a:duotone>
          </a:blip>
          <a:stretch>
            <a:fillRect/>
          </a:stretch>
        </p:blipFill>
        <p:spPr>
          <a:xfrm>
            <a:off x="8988942" y="2018340"/>
            <a:ext cx="320039" cy="320039"/>
          </a:xfrm>
          <a:prstGeom prst="rect">
            <a:avLst/>
          </a:prstGeom>
        </p:spPr>
      </p:pic>
      <p:pic>
        <p:nvPicPr>
          <p:cNvPr id="41" name="Picture 40">
            <a:extLst>
              <a:ext uri="{FF2B5EF4-FFF2-40B4-BE49-F238E27FC236}">
                <a16:creationId xmlns:a16="http://schemas.microsoft.com/office/drawing/2014/main" id="{23D2A8F3-CD25-BF1B-2E25-029CB3B23A6A}"/>
              </a:ext>
            </a:extLst>
          </p:cNvPr>
          <p:cNvPicPr>
            <a:picLocks noChangeAspect="1"/>
          </p:cNvPicPr>
          <p:nvPr/>
        </p:nvPicPr>
        <p:blipFill>
          <a:blip r:embed="rId12">
            <a:duotone>
              <a:prstClr val="black"/>
              <a:schemeClr val="accent2">
                <a:tint val="45000"/>
                <a:satMod val="400000"/>
              </a:schemeClr>
            </a:duotone>
          </a:blip>
          <a:stretch>
            <a:fillRect/>
          </a:stretch>
        </p:blipFill>
        <p:spPr>
          <a:xfrm>
            <a:off x="9009263" y="2840686"/>
            <a:ext cx="320039" cy="320039"/>
          </a:xfrm>
          <a:prstGeom prst="rect">
            <a:avLst/>
          </a:prstGeom>
        </p:spPr>
      </p:pic>
      <p:pic>
        <p:nvPicPr>
          <p:cNvPr id="43" name="Picture 42">
            <a:extLst>
              <a:ext uri="{FF2B5EF4-FFF2-40B4-BE49-F238E27FC236}">
                <a16:creationId xmlns:a16="http://schemas.microsoft.com/office/drawing/2014/main" id="{60C73179-7383-E180-DF84-B9045E287FF1}"/>
              </a:ext>
            </a:extLst>
          </p:cNvPr>
          <p:cNvPicPr>
            <a:picLocks noChangeAspect="1"/>
          </p:cNvPicPr>
          <p:nvPr/>
        </p:nvPicPr>
        <p:blipFill>
          <a:blip r:embed="rId13">
            <a:duotone>
              <a:prstClr val="black"/>
              <a:schemeClr val="accent2">
                <a:tint val="45000"/>
                <a:satMod val="400000"/>
              </a:schemeClr>
            </a:duotone>
          </a:blip>
          <a:stretch>
            <a:fillRect/>
          </a:stretch>
        </p:blipFill>
        <p:spPr>
          <a:xfrm>
            <a:off x="9001880" y="3787944"/>
            <a:ext cx="327422" cy="327422"/>
          </a:xfrm>
          <a:prstGeom prst="rect">
            <a:avLst/>
          </a:prstGeom>
        </p:spPr>
      </p:pic>
      <p:sp>
        <p:nvSpPr>
          <p:cNvPr id="44" name="TextBox 43">
            <a:extLst>
              <a:ext uri="{FF2B5EF4-FFF2-40B4-BE49-F238E27FC236}">
                <a16:creationId xmlns:a16="http://schemas.microsoft.com/office/drawing/2014/main" id="{5EC2ADA3-A34E-7632-2A79-AA0F21DCE274}"/>
              </a:ext>
            </a:extLst>
          </p:cNvPr>
          <p:cNvSpPr txBox="1"/>
          <p:nvPr/>
        </p:nvSpPr>
        <p:spPr>
          <a:xfrm>
            <a:off x="9298822" y="1889564"/>
            <a:ext cx="2717667" cy="954107"/>
          </a:xfrm>
          <a:prstGeom prst="rect">
            <a:avLst/>
          </a:prstGeom>
          <a:noFill/>
        </p:spPr>
        <p:txBody>
          <a:bodyPr wrap="none" rtlCol="0">
            <a:spAutoFit/>
          </a:bodyPr>
          <a:lstStyle/>
          <a:p>
            <a:r>
              <a:rPr lang="en-IN" sz="1400" b="1" dirty="0"/>
              <a:t>Limited Scenario Coverage</a:t>
            </a:r>
          </a:p>
          <a:p>
            <a:r>
              <a:rPr lang="en-IN" sz="1400" dirty="0"/>
              <a:t>The manually authored scenarios </a:t>
            </a:r>
          </a:p>
          <a:p>
            <a:r>
              <a:rPr lang="en-IN" sz="1400" dirty="0"/>
              <a:t>cover a finite set of specific device </a:t>
            </a:r>
          </a:p>
          <a:p>
            <a:r>
              <a:rPr lang="en-IN" sz="1400" dirty="0"/>
              <a:t>complaints.</a:t>
            </a:r>
          </a:p>
        </p:txBody>
      </p:sp>
      <p:sp>
        <p:nvSpPr>
          <p:cNvPr id="46" name="TextBox 45">
            <a:extLst>
              <a:ext uri="{FF2B5EF4-FFF2-40B4-BE49-F238E27FC236}">
                <a16:creationId xmlns:a16="http://schemas.microsoft.com/office/drawing/2014/main" id="{171DE7F9-8C4B-6CDF-D377-FB1121DB3EB2}"/>
              </a:ext>
            </a:extLst>
          </p:cNvPr>
          <p:cNvSpPr txBox="1"/>
          <p:nvPr/>
        </p:nvSpPr>
        <p:spPr>
          <a:xfrm>
            <a:off x="9298822" y="2776481"/>
            <a:ext cx="2883482" cy="954107"/>
          </a:xfrm>
          <a:prstGeom prst="rect">
            <a:avLst/>
          </a:prstGeom>
          <a:noFill/>
        </p:spPr>
        <p:txBody>
          <a:bodyPr wrap="none" rtlCol="0">
            <a:spAutoFit/>
          </a:bodyPr>
          <a:lstStyle/>
          <a:p>
            <a:r>
              <a:rPr lang="en-IN" sz="1400" b="1" dirty="0"/>
              <a:t>Retrieval Relevance</a:t>
            </a:r>
          </a:p>
          <a:p>
            <a:r>
              <a:rPr lang="en-IN" sz="1400" dirty="0"/>
              <a:t>The relevance of retrieved </a:t>
            </a:r>
          </a:p>
          <a:p>
            <a:r>
              <a:rPr lang="en-IN" sz="1400" dirty="0"/>
              <a:t>information can vary, particularly for </a:t>
            </a:r>
          </a:p>
          <a:p>
            <a:r>
              <a:rPr lang="en-IN" sz="1400" dirty="0"/>
              <a:t>complex or less common symptoms.</a:t>
            </a:r>
          </a:p>
        </p:txBody>
      </p:sp>
      <p:sp>
        <p:nvSpPr>
          <p:cNvPr id="48" name="TextBox 47">
            <a:extLst>
              <a:ext uri="{FF2B5EF4-FFF2-40B4-BE49-F238E27FC236}">
                <a16:creationId xmlns:a16="http://schemas.microsoft.com/office/drawing/2014/main" id="{C15F72DC-3784-B73B-E5B4-969DE1F4A7E1}"/>
              </a:ext>
            </a:extLst>
          </p:cNvPr>
          <p:cNvSpPr txBox="1"/>
          <p:nvPr/>
        </p:nvSpPr>
        <p:spPr>
          <a:xfrm>
            <a:off x="9310442" y="3731121"/>
            <a:ext cx="2822311" cy="738664"/>
          </a:xfrm>
          <a:prstGeom prst="rect">
            <a:avLst/>
          </a:prstGeom>
          <a:noFill/>
        </p:spPr>
        <p:txBody>
          <a:bodyPr wrap="none" rtlCol="0">
            <a:spAutoFit/>
          </a:bodyPr>
          <a:lstStyle/>
          <a:p>
            <a:r>
              <a:rPr lang="en-IN" sz="1400" b="1" dirty="0"/>
              <a:t>Incomplete Navigation Support</a:t>
            </a:r>
          </a:p>
          <a:p>
            <a:r>
              <a:rPr lang="en-IN" sz="1400" dirty="0"/>
              <a:t>Verified deep links are not available </a:t>
            </a:r>
          </a:p>
          <a:p>
            <a:r>
              <a:rPr lang="en-IN" sz="1400" dirty="0"/>
              <a:t>for every troubleshooting action.</a:t>
            </a:r>
          </a:p>
        </p:txBody>
      </p:sp>
      <p:pic>
        <p:nvPicPr>
          <p:cNvPr id="50" name="Picture 49">
            <a:extLst>
              <a:ext uri="{FF2B5EF4-FFF2-40B4-BE49-F238E27FC236}">
                <a16:creationId xmlns:a16="http://schemas.microsoft.com/office/drawing/2014/main" id="{AEE21D75-FF57-BF56-8CC4-ECC964EFDC72}"/>
              </a:ext>
            </a:extLst>
          </p:cNvPr>
          <p:cNvPicPr>
            <a:picLocks noChangeAspect="1"/>
          </p:cNvPicPr>
          <p:nvPr/>
        </p:nvPicPr>
        <p:blipFill>
          <a:blip r:embed="rId14">
            <a:duotone>
              <a:prstClr val="black"/>
              <a:schemeClr val="accent2">
                <a:tint val="45000"/>
                <a:satMod val="400000"/>
              </a:schemeClr>
            </a:duotone>
          </a:blip>
          <a:stretch>
            <a:fillRect/>
          </a:stretch>
        </p:blipFill>
        <p:spPr>
          <a:xfrm>
            <a:off x="9013190" y="4620895"/>
            <a:ext cx="304801" cy="304801"/>
          </a:xfrm>
          <a:prstGeom prst="rect">
            <a:avLst/>
          </a:prstGeom>
        </p:spPr>
      </p:pic>
      <p:sp>
        <p:nvSpPr>
          <p:cNvPr id="52" name="TextBox 51">
            <a:extLst>
              <a:ext uri="{FF2B5EF4-FFF2-40B4-BE49-F238E27FC236}">
                <a16:creationId xmlns:a16="http://schemas.microsoft.com/office/drawing/2014/main" id="{21CFC43C-2A41-FFB9-EB94-78AE0DC55730}"/>
              </a:ext>
            </a:extLst>
          </p:cNvPr>
          <p:cNvSpPr txBox="1"/>
          <p:nvPr/>
        </p:nvSpPr>
        <p:spPr>
          <a:xfrm>
            <a:off x="9329302" y="4551730"/>
            <a:ext cx="2748742" cy="954107"/>
          </a:xfrm>
          <a:prstGeom prst="rect">
            <a:avLst/>
          </a:prstGeom>
          <a:noFill/>
        </p:spPr>
        <p:txBody>
          <a:bodyPr wrap="square" rtlCol="0">
            <a:spAutoFit/>
          </a:bodyPr>
          <a:lstStyle/>
          <a:p>
            <a:r>
              <a:rPr lang="en-IN" sz="1400" b="1" dirty="0"/>
              <a:t>Generic Guidance</a:t>
            </a:r>
          </a:p>
          <a:p>
            <a:r>
              <a:rPr lang="en-IN" sz="1400" dirty="0"/>
              <a:t>Some complex or multi-symptom </a:t>
            </a:r>
          </a:p>
          <a:p>
            <a:r>
              <a:rPr lang="en-IN" sz="1400" dirty="0"/>
              <a:t>complaints may receive broad or less-targeted recommendations.</a:t>
            </a:r>
          </a:p>
        </p:txBody>
      </p:sp>
      <p:pic>
        <p:nvPicPr>
          <p:cNvPr id="54" name="Picture 53">
            <a:extLst>
              <a:ext uri="{FF2B5EF4-FFF2-40B4-BE49-F238E27FC236}">
                <a16:creationId xmlns:a16="http://schemas.microsoft.com/office/drawing/2014/main" id="{F2C1CE88-2728-77F2-5F25-C55AA875C5F2}"/>
              </a:ext>
            </a:extLst>
          </p:cNvPr>
          <p:cNvPicPr>
            <a:picLocks noChangeAspect="1"/>
          </p:cNvPicPr>
          <p:nvPr/>
        </p:nvPicPr>
        <p:blipFill>
          <a:blip r:embed="rId15">
            <a:duotone>
              <a:prstClr val="black"/>
              <a:schemeClr val="accent2">
                <a:tint val="45000"/>
                <a:satMod val="400000"/>
              </a:schemeClr>
            </a:duotone>
          </a:blip>
          <a:stretch>
            <a:fillRect/>
          </a:stretch>
        </p:blipFill>
        <p:spPr>
          <a:xfrm>
            <a:off x="9024501" y="5647452"/>
            <a:ext cx="304801" cy="304801"/>
          </a:xfrm>
          <a:prstGeom prst="rect">
            <a:avLst/>
          </a:prstGeom>
        </p:spPr>
      </p:pic>
      <p:sp>
        <p:nvSpPr>
          <p:cNvPr id="56" name="TextBox 55">
            <a:extLst>
              <a:ext uri="{FF2B5EF4-FFF2-40B4-BE49-F238E27FC236}">
                <a16:creationId xmlns:a16="http://schemas.microsoft.com/office/drawing/2014/main" id="{83E74E3E-18F7-D92C-1F5C-EB50AB9DBAB7}"/>
              </a:ext>
            </a:extLst>
          </p:cNvPr>
          <p:cNvSpPr txBox="1"/>
          <p:nvPr/>
        </p:nvSpPr>
        <p:spPr>
          <a:xfrm>
            <a:off x="9361978" y="5598629"/>
            <a:ext cx="2748742" cy="954107"/>
          </a:xfrm>
          <a:prstGeom prst="rect">
            <a:avLst/>
          </a:prstGeom>
          <a:noFill/>
        </p:spPr>
        <p:txBody>
          <a:bodyPr wrap="square" rtlCol="0">
            <a:spAutoFit/>
          </a:bodyPr>
          <a:lstStyle/>
          <a:p>
            <a:r>
              <a:rPr lang="en-IN" sz="1400" b="1" dirty="0"/>
              <a:t>Production Readiness</a:t>
            </a:r>
          </a:p>
          <a:p>
            <a:r>
              <a:rPr lang="en-IN" sz="1400" dirty="0"/>
              <a:t>The current prototype uses mock-mode configuration and has not been certified for production use.</a:t>
            </a:r>
          </a:p>
        </p:txBody>
      </p:sp>
    </p:spTree>
    <p:extLst>
      <p:ext uri="{BB962C8B-B14F-4D97-AF65-F5344CB8AC3E}">
        <p14:creationId xmlns:p14="http://schemas.microsoft.com/office/powerpoint/2010/main" val="19932370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50800" y="-163195"/>
            <a:ext cx="10515600" cy="1325563"/>
          </a:xfrm>
        </p:spPr>
        <p:txBody>
          <a:bodyPr/>
          <a:lstStyle/>
          <a:p>
            <a:pPr>
              <a:spcAft>
                <a:spcPts val="500"/>
              </a:spcAft>
              <a:buSzPct val="100000"/>
            </a:pPr>
            <a:r>
              <a:rPr lang="en-US" sz="4400" b="1" dirty="0">
                <a:solidFill>
                  <a:schemeClr val="accent6">
                    <a:lumMod val="50000"/>
                  </a:schemeClr>
                </a:solidFill>
                <a:latin typeface="Calibri" pitchFamily="34" charset="0"/>
                <a:ea typeface="Calibri" pitchFamily="34" charset="-122"/>
                <a:cs typeface="Calibri" pitchFamily="34" charset="-120"/>
              </a:rPr>
              <a:t>What’s next</a:t>
            </a:r>
            <a:endParaRPr lang="en-US" sz="4400" b="1" dirty="0">
              <a:solidFill>
                <a:schemeClr val="accent6">
                  <a:lumMod val="50000"/>
                </a:schemeClr>
              </a:solidFill>
            </a:endParaRPr>
          </a:p>
        </p:txBody>
      </p:sp>
      <p:sp>
        <p:nvSpPr>
          <p:cNvPr id="4" name="Rectangle 3">
            <a:extLst>
              <a:ext uri="{FF2B5EF4-FFF2-40B4-BE49-F238E27FC236}">
                <a16:creationId xmlns:a16="http://schemas.microsoft.com/office/drawing/2014/main" id="{29D56D77-6114-1433-CC5C-728074E75EEC}"/>
              </a:ext>
            </a:extLst>
          </p:cNvPr>
          <p:cNvSpPr/>
          <p:nvPr/>
        </p:nvSpPr>
        <p:spPr>
          <a:xfrm>
            <a:off x="81280" y="1016000"/>
            <a:ext cx="2560320" cy="561848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B18A55F9-2813-1EE6-715C-5A803A38991D}"/>
              </a:ext>
            </a:extLst>
          </p:cNvPr>
          <p:cNvSpPr/>
          <p:nvPr/>
        </p:nvSpPr>
        <p:spPr>
          <a:xfrm>
            <a:off x="2733040" y="1016000"/>
            <a:ext cx="2438400" cy="561848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D931432A-7EEE-834C-E18F-7DCD0A1F62AB}"/>
              </a:ext>
            </a:extLst>
          </p:cNvPr>
          <p:cNvSpPr/>
          <p:nvPr/>
        </p:nvSpPr>
        <p:spPr>
          <a:xfrm>
            <a:off x="5242560" y="1016000"/>
            <a:ext cx="2529840" cy="5618480"/>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D004CDE9-6984-F4A6-CBAF-249A030EA518}"/>
              </a:ext>
            </a:extLst>
          </p:cNvPr>
          <p:cNvSpPr/>
          <p:nvPr/>
        </p:nvSpPr>
        <p:spPr>
          <a:xfrm>
            <a:off x="7833360" y="1021080"/>
            <a:ext cx="2092960" cy="5618480"/>
          </a:xfrm>
          <a:prstGeom prst="rect">
            <a:avLst/>
          </a:prstGeom>
          <a:solidFill>
            <a:schemeClr val="tx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3A14A733-979B-9D0F-8C8D-D2046BD35716}"/>
              </a:ext>
            </a:extLst>
          </p:cNvPr>
          <p:cNvSpPr/>
          <p:nvPr/>
        </p:nvSpPr>
        <p:spPr>
          <a:xfrm>
            <a:off x="9997440" y="1000760"/>
            <a:ext cx="2092960" cy="561848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4" name="Picture 13">
            <a:extLst>
              <a:ext uri="{FF2B5EF4-FFF2-40B4-BE49-F238E27FC236}">
                <a16:creationId xmlns:a16="http://schemas.microsoft.com/office/drawing/2014/main" id="{B55EA8B4-6669-D7DA-9238-0A7D0E0764BB}"/>
              </a:ext>
            </a:extLst>
          </p:cNvPr>
          <p:cNvPicPr>
            <a:picLocks noChangeAspect="1"/>
          </p:cNvPicPr>
          <p:nvPr/>
        </p:nvPicPr>
        <p:blipFill>
          <a:blip r:embed="rId2"/>
          <a:stretch>
            <a:fillRect/>
          </a:stretch>
        </p:blipFill>
        <p:spPr>
          <a:xfrm>
            <a:off x="167639" y="1066804"/>
            <a:ext cx="502920" cy="502920"/>
          </a:xfrm>
          <a:prstGeom prst="rect">
            <a:avLst/>
          </a:prstGeom>
        </p:spPr>
      </p:pic>
      <p:pic>
        <p:nvPicPr>
          <p:cNvPr id="16" name="Picture 15">
            <a:extLst>
              <a:ext uri="{FF2B5EF4-FFF2-40B4-BE49-F238E27FC236}">
                <a16:creationId xmlns:a16="http://schemas.microsoft.com/office/drawing/2014/main" id="{671A9B45-CA46-D8F7-D97B-10675310D871}"/>
              </a:ext>
            </a:extLst>
          </p:cNvPr>
          <p:cNvPicPr>
            <a:picLocks noChangeAspect="1"/>
          </p:cNvPicPr>
          <p:nvPr/>
        </p:nvPicPr>
        <p:blipFill>
          <a:blip r:embed="rId3"/>
          <a:stretch>
            <a:fillRect/>
          </a:stretch>
        </p:blipFill>
        <p:spPr>
          <a:xfrm>
            <a:off x="2784161" y="1066803"/>
            <a:ext cx="502921" cy="502921"/>
          </a:xfrm>
          <a:prstGeom prst="rect">
            <a:avLst/>
          </a:prstGeom>
        </p:spPr>
      </p:pic>
      <p:pic>
        <p:nvPicPr>
          <p:cNvPr id="18" name="Picture 17">
            <a:extLst>
              <a:ext uri="{FF2B5EF4-FFF2-40B4-BE49-F238E27FC236}">
                <a16:creationId xmlns:a16="http://schemas.microsoft.com/office/drawing/2014/main" id="{093A832A-1C9C-2986-6DC3-B166A8A08B24}"/>
              </a:ext>
            </a:extLst>
          </p:cNvPr>
          <p:cNvPicPr>
            <a:picLocks noChangeAspect="1"/>
          </p:cNvPicPr>
          <p:nvPr/>
        </p:nvPicPr>
        <p:blipFill>
          <a:blip r:embed="rId4"/>
          <a:stretch>
            <a:fillRect/>
          </a:stretch>
        </p:blipFill>
        <p:spPr>
          <a:xfrm>
            <a:off x="5314001" y="1066802"/>
            <a:ext cx="502921" cy="502921"/>
          </a:xfrm>
          <a:prstGeom prst="rect">
            <a:avLst/>
          </a:prstGeom>
        </p:spPr>
      </p:pic>
      <p:pic>
        <p:nvPicPr>
          <p:cNvPr id="20" name="Picture 19">
            <a:extLst>
              <a:ext uri="{FF2B5EF4-FFF2-40B4-BE49-F238E27FC236}">
                <a16:creationId xmlns:a16="http://schemas.microsoft.com/office/drawing/2014/main" id="{E1F0D729-1C7E-4B43-7FC8-A1D8DA00FE48}"/>
              </a:ext>
            </a:extLst>
          </p:cNvPr>
          <p:cNvPicPr>
            <a:picLocks noChangeAspect="1"/>
          </p:cNvPicPr>
          <p:nvPr/>
        </p:nvPicPr>
        <p:blipFill>
          <a:blip r:embed="rId5"/>
          <a:stretch>
            <a:fillRect/>
          </a:stretch>
        </p:blipFill>
        <p:spPr>
          <a:xfrm>
            <a:off x="10063479" y="1066800"/>
            <a:ext cx="502921" cy="502921"/>
          </a:xfrm>
          <a:prstGeom prst="rect">
            <a:avLst/>
          </a:prstGeom>
        </p:spPr>
      </p:pic>
      <p:pic>
        <p:nvPicPr>
          <p:cNvPr id="22" name="Picture 21">
            <a:extLst>
              <a:ext uri="{FF2B5EF4-FFF2-40B4-BE49-F238E27FC236}">
                <a16:creationId xmlns:a16="http://schemas.microsoft.com/office/drawing/2014/main" id="{253ADF08-7B59-A07D-2420-6D0CAA112E16}"/>
              </a:ext>
            </a:extLst>
          </p:cNvPr>
          <p:cNvPicPr>
            <a:picLocks noChangeAspect="1"/>
          </p:cNvPicPr>
          <p:nvPr/>
        </p:nvPicPr>
        <p:blipFill>
          <a:blip r:embed="rId6"/>
          <a:stretch>
            <a:fillRect/>
          </a:stretch>
        </p:blipFill>
        <p:spPr>
          <a:xfrm>
            <a:off x="7895594" y="1080452"/>
            <a:ext cx="475616" cy="475616"/>
          </a:xfrm>
          <a:prstGeom prst="rect">
            <a:avLst/>
          </a:prstGeom>
        </p:spPr>
      </p:pic>
      <p:sp>
        <p:nvSpPr>
          <p:cNvPr id="23" name="TextBox 22">
            <a:extLst>
              <a:ext uri="{FF2B5EF4-FFF2-40B4-BE49-F238E27FC236}">
                <a16:creationId xmlns:a16="http://schemas.microsoft.com/office/drawing/2014/main" id="{C40050D4-82E9-5C37-4105-384CF2AA7AFD}"/>
              </a:ext>
            </a:extLst>
          </p:cNvPr>
          <p:cNvSpPr txBox="1"/>
          <p:nvPr/>
        </p:nvSpPr>
        <p:spPr>
          <a:xfrm>
            <a:off x="731519" y="1016000"/>
            <a:ext cx="1976567" cy="1015663"/>
          </a:xfrm>
          <a:prstGeom prst="rect">
            <a:avLst/>
          </a:prstGeom>
          <a:noFill/>
        </p:spPr>
        <p:txBody>
          <a:bodyPr wrap="none" rtlCol="0">
            <a:spAutoFit/>
          </a:bodyPr>
          <a:lstStyle/>
          <a:p>
            <a:r>
              <a:rPr lang="en-IN" sz="2000" b="1" dirty="0"/>
              <a:t>Expand </a:t>
            </a:r>
          </a:p>
          <a:p>
            <a:r>
              <a:rPr lang="en-IN" sz="2000" b="1" dirty="0"/>
              <a:t>Troubleshooting </a:t>
            </a:r>
          </a:p>
          <a:p>
            <a:r>
              <a:rPr lang="en-IN" sz="2000" b="1" dirty="0"/>
              <a:t>Coverage</a:t>
            </a:r>
          </a:p>
        </p:txBody>
      </p:sp>
      <p:pic>
        <p:nvPicPr>
          <p:cNvPr id="27" name="Picture 26">
            <a:extLst>
              <a:ext uri="{FF2B5EF4-FFF2-40B4-BE49-F238E27FC236}">
                <a16:creationId xmlns:a16="http://schemas.microsoft.com/office/drawing/2014/main" id="{F5E1BED9-5CB0-590E-A8BB-F13B780767AC}"/>
              </a:ext>
            </a:extLst>
          </p:cNvPr>
          <p:cNvPicPr>
            <a:picLocks noChangeAspect="1"/>
          </p:cNvPicPr>
          <p:nvPr/>
        </p:nvPicPr>
        <p:blipFill>
          <a:blip r:embed="rId7"/>
          <a:stretch>
            <a:fillRect/>
          </a:stretch>
        </p:blipFill>
        <p:spPr>
          <a:xfrm>
            <a:off x="88898" y="3339622"/>
            <a:ext cx="579121" cy="579121"/>
          </a:xfrm>
          <a:prstGeom prst="rect">
            <a:avLst/>
          </a:prstGeom>
        </p:spPr>
      </p:pic>
      <p:pic>
        <p:nvPicPr>
          <p:cNvPr id="31" name="Picture 30">
            <a:extLst>
              <a:ext uri="{FF2B5EF4-FFF2-40B4-BE49-F238E27FC236}">
                <a16:creationId xmlns:a16="http://schemas.microsoft.com/office/drawing/2014/main" id="{74B8648C-EB51-6EE2-DB41-6BEF3BFAF023}"/>
              </a:ext>
            </a:extLst>
          </p:cNvPr>
          <p:cNvPicPr>
            <a:picLocks noChangeAspect="1"/>
          </p:cNvPicPr>
          <p:nvPr/>
        </p:nvPicPr>
        <p:blipFill>
          <a:blip r:embed="rId8"/>
          <a:stretch>
            <a:fillRect/>
          </a:stretch>
        </p:blipFill>
        <p:spPr>
          <a:xfrm>
            <a:off x="739139" y="2494420"/>
            <a:ext cx="1190165" cy="1190165"/>
          </a:xfrm>
          <a:prstGeom prst="rect">
            <a:avLst/>
          </a:prstGeom>
        </p:spPr>
      </p:pic>
      <p:pic>
        <p:nvPicPr>
          <p:cNvPr id="33" name="Picture 32">
            <a:extLst>
              <a:ext uri="{FF2B5EF4-FFF2-40B4-BE49-F238E27FC236}">
                <a16:creationId xmlns:a16="http://schemas.microsoft.com/office/drawing/2014/main" id="{6B410811-C1FF-372F-DFD1-C6FBAE681D18}"/>
              </a:ext>
            </a:extLst>
          </p:cNvPr>
          <p:cNvPicPr>
            <a:picLocks noChangeAspect="1"/>
          </p:cNvPicPr>
          <p:nvPr/>
        </p:nvPicPr>
        <p:blipFill>
          <a:blip r:embed="rId9"/>
          <a:stretch>
            <a:fillRect/>
          </a:stretch>
        </p:blipFill>
        <p:spPr>
          <a:xfrm>
            <a:off x="1044163" y="2690214"/>
            <a:ext cx="532290" cy="532290"/>
          </a:xfrm>
          <a:prstGeom prst="rect">
            <a:avLst/>
          </a:prstGeom>
        </p:spPr>
      </p:pic>
      <p:pic>
        <p:nvPicPr>
          <p:cNvPr id="35" name="Picture 34">
            <a:extLst>
              <a:ext uri="{FF2B5EF4-FFF2-40B4-BE49-F238E27FC236}">
                <a16:creationId xmlns:a16="http://schemas.microsoft.com/office/drawing/2014/main" id="{BC973741-0C55-A515-BCAD-81DBBB2548F8}"/>
              </a:ext>
            </a:extLst>
          </p:cNvPr>
          <p:cNvPicPr>
            <a:picLocks noChangeAspect="1"/>
          </p:cNvPicPr>
          <p:nvPr/>
        </p:nvPicPr>
        <p:blipFill>
          <a:blip r:embed="rId10"/>
          <a:stretch>
            <a:fillRect/>
          </a:stretch>
        </p:blipFill>
        <p:spPr>
          <a:xfrm>
            <a:off x="1883138" y="3243103"/>
            <a:ext cx="675640" cy="675640"/>
          </a:xfrm>
          <a:prstGeom prst="rect">
            <a:avLst/>
          </a:prstGeom>
        </p:spPr>
      </p:pic>
      <p:pic>
        <p:nvPicPr>
          <p:cNvPr id="39" name="Picture 38">
            <a:extLst>
              <a:ext uri="{FF2B5EF4-FFF2-40B4-BE49-F238E27FC236}">
                <a16:creationId xmlns:a16="http://schemas.microsoft.com/office/drawing/2014/main" id="{F4353238-D65C-F2F8-2328-95A717988EF7}"/>
              </a:ext>
            </a:extLst>
          </p:cNvPr>
          <p:cNvPicPr>
            <a:picLocks noChangeAspect="1"/>
          </p:cNvPicPr>
          <p:nvPr/>
        </p:nvPicPr>
        <p:blipFill>
          <a:blip r:embed="rId11"/>
          <a:stretch>
            <a:fillRect/>
          </a:stretch>
        </p:blipFill>
        <p:spPr>
          <a:xfrm>
            <a:off x="2076179" y="3363259"/>
            <a:ext cx="280070" cy="280070"/>
          </a:xfrm>
          <a:prstGeom prst="rect">
            <a:avLst/>
          </a:prstGeom>
        </p:spPr>
      </p:pic>
      <p:cxnSp>
        <p:nvCxnSpPr>
          <p:cNvPr id="40" name="Straight Connector 39">
            <a:extLst>
              <a:ext uri="{FF2B5EF4-FFF2-40B4-BE49-F238E27FC236}">
                <a16:creationId xmlns:a16="http://schemas.microsoft.com/office/drawing/2014/main" id="{233686F9-A6CD-0EA8-72E9-702068B3655B}"/>
              </a:ext>
            </a:extLst>
          </p:cNvPr>
          <p:cNvCxnSpPr/>
          <p:nvPr/>
        </p:nvCxnSpPr>
        <p:spPr>
          <a:xfrm>
            <a:off x="234421" y="4454222"/>
            <a:ext cx="2255728" cy="0"/>
          </a:xfrm>
          <a:prstGeom prst="line">
            <a:avLst/>
          </a:prstGeom>
        </p:spPr>
        <p:style>
          <a:lnRef idx="1">
            <a:schemeClr val="accent1"/>
          </a:lnRef>
          <a:fillRef idx="0">
            <a:schemeClr val="accent1"/>
          </a:fillRef>
          <a:effectRef idx="0">
            <a:schemeClr val="accent1"/>
          </a:effectRef>
          <a:fontRef idx="minor">
            <a:schemeClr val="tx1"/>
          </a:fontRef>
        </p:style>
      </p:cxnSp>
      <p:sp>
        <p:nvSpPr>
          <p:cNvPr id="41" name="TextBox 40">
            <a:extLst>
              <a:ext uri="{FF2B5EF4-FFF2-40B4-BE49-F238E27FC236}">
                <a16:creationId xmlns:a16="http://schemas.microsoft.com/office/drawing/2014/main" id="{835061CB-E97A-C155-E0B3-2063DFAB1AFC}"/>
              </a:ext>
            </a:extLst>
          </p:cNvPr>
          <p:cNvSpPr txBox="1"/>
          <p:nvPr/>
        </p:nvSpPr>
        <p:spPr>
          <a:xfrm>
            <a:off x="101600" y="4676892"/>
            <a:ext cx="2611356" cy="1754326"/>
          </a:xfrm>
          <a:prstGeom prst="rect">
            <a:avLst/>
          </a:prstGeom>
          <a:noFill/>
        </p:spPr>
        <p:txBody>
          <a:bodyPr wrap="none" rtlCol="0">
            <a:spAutoFit/>
          </a:bodyPr>
          <a:lstStyle/>
          <a:p>
            <a:pPr marL="285750" lvl="0" indent="-285750">
              <a:buFont typeface="Arial" panose="020B0604020202020204" pitchFamily="34" charset="0"/>
              <a:buChar char="•"/>
            </a:pPr>
            <a:r>
              <a:rPr lang="en-IN" dirty="0"/>
              <a:t>Support a wider range </a:t>
            </a:r>
          </a:p>
          <a:p>
            <a:pPr lvl="0"/>
            <a:r>
              <a:rPr lang="en-IN" dirty="0"/>
              <a:t>of device issues and user </a:t>
            </a:r>
          </a:p>
          <a:p>
            <a:pPr lvl="0"/>
            <a:r>
              <a:rPr lang="en-IN" dirty="0"/>
              <a:t>complaints. </a:t>
            </a:r>
          </a:p>
          <a:p>
            <a:pPr marL="285750" lvl="0" indent="-285750">
              <a:buFont typeface="Arial" panose="020B0604020202020204" pitchFamily="34" charset="0"/>
              <a:buChar char="•"/>
            </a:pPr>
            <a:r>
              <a:rPr lang="en-IN" dirty="0"/>
              <a:t>Add more device-</a:t>
            </a:r>
          </a:p>
          <a:p>
            <a:pPr lvl="0"/>
            <a:r>
              <a:rPr lang="en-IN" dirty="0"/>
              <a:t>specific troubleshooting </a:t>
            </a:r>
          </a:p>
          <a:p>
            <a:pPr lvl="0"/>
            <a:r>
              <a:rPr lang="en-IN" dirty="0"/>
              <a:t>scenarios.</a:t>
            </a:r>
          </a:p>
        </p:txBody>
      </p:sp>
      <p:sp>
        <p:nvSpPr>
          <p:cNvPr id="43" name="TextBox 42">
            <a:extLst>
              <a:ext uri="{FF2B5EF4-FFF2-40B4-BE49-F238E27FC236}">
                <a16:creationId xmlns:a16="http://schemas.microsoft.com/office/drawing/2014/main" id="{595710DD-A4B2-618A-7BD0-5303E9E9FBF3}"/>
              </a:ext>
            </a:extLst>
          </p:cNvPr>
          <p:cNvSpPr txBox="1"/>
          <p:nvPr/>
        </p:nvSpPr>
        <p:spPr>
          <a:xfrm>
            <a:off x="3287806" y="1016000"/>
            <a:ext cx="1874359" cy="1015663"/>
          </a:xfrm>
          <a:prstGeom prst="rect">
            <a:avLst/>
          </a:prstGeom>
          <a:noFill/>
        </p:spPr>
        <p:txBody>
          <a:bodyPr wrap="none" rtlCol="0">
            <a:spAutoFit/>
          </a:bodyPr>
          <a:lstStyle/>
          <a:p>
            <a:r>
              <a:rPr lang="en-IN" sz="2000" b="1" dirty="0"/>
              <a:t>Improve AI and </a:t>
            </a:r>
          </a:p>
          <a:p>
            <a:r>
              <a:rPr lang="en-IN" sz="2000" b="1" dirty="0"/>
              <a:t>Retrieval </a:t>
            </a:r>
          </a:p>
          <a:p>
            <a:r>
              <a:rPr lang="en-IN" sz="2000" b="1" dirty="0"/>
              <a:t>Accuracy</a:t>
            </a:r>
          </a:p>
        </p:txBody>
      </p:sp>
      <p:pic>
        <p:nvPicPr>
          <p:cNvPr id="45" name="Picture 44">
            <a:extLst>
              <a:ext uri="{FF2B5EF4-FFF2-40B4-BE49-F238E27FC236}">
                <a16:creationId xmlns:a16="http://schemas.microsoft.com/office/drawing/2014/main" id="{86D0AAD7-E25A-85F3-DB21-31937E63E0BF}"/>
              </a:ext>
            </a:extLst>
          </p:cNvPr>
          <p:cNvPicPr>
            <a:picLocks noChangeAspect="1"/>
          </p:cNvPicPr>
          <p:nvPr/>
        </p:nvPicPr>
        <p:blipFill>
          <a:blip r:embed="rId12"/>
          <a:stretch>
            <a:fillRect/>
          </a:stretch>
        </p:blipFill>
        <p:spPr>
          <a:xfrm>
            <a:off x="2758234" y="2853152"/>
            <a:ext cx="1083679" cy="1083679"/>
          </a:xfrm>
          <a:prstGeom prst="rect">
            <a:avLst/>
          </a:prstGeom>
        </p:spPr>
      </p:pic>
      <p:pic>
        <p:nvPicPr>
          <p:cNvPr id="47" name="Picture 46">
            <a:extLst>
              <a:ext uri="{FF2B5EF4-FFF2-40B4-BE49-F238E27FC236}">
                <a16:creationId xmlns:a16="http://schemas.microsoft.com/office/drawing/2014/main" id="{BE1DB48E-8C21-B8C6-A7BC-7F45BE9B1280}"/>
              </a:ext>
            </a:extLst>
          </p:cNvPr>
          <p:cNvPicPr>
            <a:picLocks noChangeAspect="1"/>
          </p:cNvPicPr>
          <p:nvPr/>
        </p:nvPicPr>
        <p:blipFill>
          <a:blip r:embed="rId13">
            <a:duotone>
              <a:schemeClr val="accent1">
                <a:shade val="45000"/>
                <a:satMod val="135000"/>
              </a:schemeClr>
              <a:prstClr val="white"/>
            </a:duotone>
          </a:blip>
          <a:stretch>
            <a:fillRect/>
          </a:stretch>
        </p:blipFill>
        <p:spPr>
          <a:xfrm>
            <a:off x="3998845" y="2905618"/>
            <a:ext cx="1015663" cy="1015663"/>
          </a:xfrm>
          <a:prstGeom prst="rect">
            <a:avLst/>
          </a:prstGeom>
        </p:spPr>
      </p:pic>
      <p:cxnSp>
        <p:nvCxnSpPr>
          <p:cNvPr id="48" name="Straight Connector 47">
            <a:extLst>
              <a:ext uri="{FF2B5EF4-FFF2-40B4-BE49-F238E27FC236}">
                <a16:creationId xmlns:a16="http://schemas.microsoft.com/office/drawing/2014/main" id="{00DA7B15-B446-5EE4-BCD6-3692873E7182}"/>
              </a:ext>
            </a:extLst>
          </p:cNvPr>
          <p:cNvCxnSpPr/>
          <p:nvPr/>
        </p:nvCxnSpPr>
        <p:spPr>
          <a:xfrm>
            <a:off x="2836814" y="4454222"/>
            <a:ext cx="2255728"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3C9690BC-FA9D-227C-4DFF-9784CEB5F405}"/>
              </a:ext>
            </a:extLst>
          </p:cNvPr>
          <p:cNvSpPr txBox="1"/>
          <p:nvPr/>
        </p:nvSpPr>
        <p:spPr>
          <a:xfrm>
            <a:off x="2707434" y="4645260"/>
            <a:ext cx="2630720" cy="1815882"/>
          </a:xfrm>
          <a:prstGeom prst="rect">
            <a:avLst/>
          </a:prstGeom>
          <a:noFill/>
        </p:spPr>
        <p:txBody>
          <a:bodyPr wrap="square" rtlCol="0">
            <a:spAutoFit/>
          </a:bodyPr>
          <a:lstStyle/>
          <a:p>
            <a:pPr marL="285750" indent="-285750">
              <a:buFont typeface="Arial" panose="020B0604020202020204" pitchFamily="34" charset="0"/>
              <a:buChar char="•"/>
            </a:pPr>
            <a:r>
              <a:rPr lang="en-IN" sz="1600" dirty="0"/>
              <a:t>Enhance query </a:t>
            </a:r>
          </a:p>
          <a:p>
            <a:r>
              <a:rPr lang="en-IN" sz="1600" dirty="0"/>
              <a:t>understanding for </a:t>
            </a:r>
          </a:p>
          <a:p>
            <a:r>
              <a:rPr lang="en-IN" sz="1600" dirty="0"/>
              <a:t>complex, multi-symptom </a:t>
            </a:r>
          </a:p>
          <a:p>
            <a:r>
              <a:rPr lang="en-IN" sz="1600" dirty="0"/>
              <a:t>complaints. </a:t>
            </a:r>
          </a:p>
          <a:p>
            <a:pPr marL="285750" lvl="0" indent="-285750">
              <a:buFont typeface="Arial" panose="020B0604020202020204" pitchFamily="34" charset="0"/>
              <a:buChar char="•"/>
            </a:pPr>
            <a:r>
              <a:rPr lang="en-IN" sz="1600" dirty="0"/>
              <a:t>Improve the relevance </a:t>
            </a:r>
          </a:p>
          <a:p>
            <a:pPr lvl="0"/>
            <a:r>
              <a:rPr lang="en-IN" sz="1600" dirty="0"/>
              <a:t>of retrieved troubleshooting </a:t>
            </a:r>
          </a:p>
          <a:p>
            <a:pPr lvl="0"/>
            <a:r>
              <a:rPr lang="en-IN" sz="1600" dirty="0"/>
              <a:t>information.</a:t>
            </a:r>
          </a:p>
        </p:txBody>
      </p:sp>
      <p:sp>
        <p:nvSpPr>
          <p:cNvPr id="51" name="TextBox 50">
            <a:extLst>
              <a:ext uri="{FF2B5EF4-FFF2-40B4-BE49-F238E27FC236}">
                <a16:creationId xmlns:a16="http://schemas.microsoft.com/office/drawing/2014/main" id="{F87515A8-8FF9-DEB5-705B-3F53ECAC2DE0}"/>
              </a:ext>
            </a:extLst>
          </p:cNvPr>
          <p:cNvSpPr txBox="1"/>
          <p:nvPr/>
        </p:nvSpPr>
        <p:spPr>
          <a:xfrm>
            <a:off x="5928682" y="975360"/>
            <a:ext cx="1647952" cy="1015663"/>
          </a:xfrm>
          <a:prstGeom prst="rect">
            <a:avLst/>
          </a:prstGeom>
          <a:noFill/>
        </p:spPr>
        <p:txBody>
          <a:bodyPr wrap="none" rtlCol="0">
            <a:spAutoFit/>
          </a:bodyPr>
          <a:lstStyle/>
          <a:p>
            <a:r>
              <a:rPr lang="en-IN" sz="2000" b="1" dirty="0"/>
              <a:t>Strengthen </a:t>
            </a:r>
          </a:p>
          <a:p>
            <a:r>
              <a:rPr lang="en-IN" sz="2000" b="1" dirty="0"/>
              <a:t>Evidence and </a:t>
            </a:r>
          </a:p>
          <a:p>
            <a:r>
              <a:rPr lang="en-IN" sz="2000" b="1" dirty="0"/>
              <a:t>Navigation</a:t>
            </a:r>
          </a:p>
        </p:txBody>
      </p:sp>
      <p:pic>
        <p:nvPicPr>
          <p:cNvPr id="53" name="Picture 52">
            <a:extLst>
              <a:ext uri="{FF2B5EF4-FFF2-40B4-BE49-F238E27FC236}">
                <a16:creationId xmlns:a16="http://schemas.microsoft.com/office/drawing/2014/main" id="{86F89135-C314-7BDB-61BA-63841D4B7EDB}"/>
              </a:ext>
            </a:extLst>
          </p:cNvPr>
          <p:cNvPicPr>
            <a:picLocks noChangeAspect="1"/>
          </p:cNvPicPr>
          <p:nvPr/>
        </p:nvPicPr>
        <p:blipFill>
          <a:blip r:embed="rId14"/>
          <a:stretch>
            <a:fillRect/>
          </a:stretch>
        </p:blipFill>
        <p:spPr>
          <a:xfrm>
            <a:off x="5349711" y="2817930"/>
            <a:ext cx="1100813" cy="1100813"/>
          </a:xfrm>
          <a:prstGeom prst="rect">
            <a:avLst/>
          </a:prstGeom>
        </p:spPr>
      </p:pic>
      <p:pic>
        <p:nvPicPr>
          <p:cNvPr id="55" name="Picture 54">
            <a:extLst>
              <a:ext uri="{FF2B5EF4-FFF2-40B4-BE49-F238E27FC236}">
                <a16:creationId xmlns:a16="http://schemas.microsoft.com/office/drawing/2014/main" id="{20A8AB5D-18E8-26FE-CAAB-5B5FFC40C182}"/>
              </a:ext>
            </a:extLst>
          </p:cNvPr>
          <p:cNvPicPr>
            <a:picLocks noChangeAspect="1"/>
          </p:cNvPicPr>
          <p:nvPr/>
        </p:nvPicPr>
        <p:blipFill>
          <a:blip r:embed="rId15"/>
          <a:stretch>
            <a:fillRect/>
          </a:stretch>
        </p:blipFill>
        <p:spPr>
          <a:xfrm>
            <a:off x="6017569" y="3359932"/>
            <a:ext cx="486263" cy="486263"/>
          </a:xfrm>
          <a:prstGeom prst="rect">
            <a:avLst/>
          </a:prstGeom>
        </p:spPr>
      </p:pic>
      <p:pic>
        <p:nvPicPr>
          <p:cNvPr id="57" name="Picture 56">
            <a:extLst>
              <a:ext uri="{FF2B5EF4-FFF2-40B4-BE49-F238E27FC236}">
                <a16:creationId xmlns:a16="http://schemas.microsoft.com/office/drawing/2014/main" id="{A0DD69B9-F19B-840C-C2A6-DB181F5AC546}"/>
              </a:ext>
            </a:extLst>
          </p:cNvPr>
          <p:cNvPicPr>
            <a:picLocks noChangeAspect="1"/>
          </p:cNvPicPr>
          <p:nvPr/>
        </p:nvPicPr>
        <p:blipFill>
          <a:blip r:embed="rId16"/>
          <a:stretch>
            <a:fillRect/>
          </a:stretch>
        </p:blipFill>
        <p:spPr>
          <a:xfrm>
            <a:off x="6929346" y="3143722"/>
            <a:ext cx="747082" cy="747082"/>
          </a:xfrm>
          <a:prstGeom prst="rect">
            <a:avLst/>
          </a:prstGeom>
        </p:spPr>
      </p:pic>
      <p:pic>
        <p:nvPicPr>
          <p:cNvPr id="59" name="Picture 58">
            <a:extLst>
              <a:ext uri="{FF2B5EF4-FFF2-40B4-BE49-F238E27FC236}">
                <a16:creationId xmlns:a16="http://schemas.microsoft.com/office/drawing/2014/main" id="{C2FC01A6-CD69-9C7E-E928-6A48E68A0740}"/>
              </a:ext>
            </a:extLst>
          </p:cNvPr>
          <p:cNvPicPr>
            <a:picLocks noChangeAspect="1"/>
          </p:cNvPicPr>
          <p:nvPr/>
        </p:nvPicPr>
        <p:blipFill>
          <a:blip r:embed="rId17"/>
          <a:stretch>
            <a:fillRect/>
          </a:stretch>
        </p:blipFill>
        <p:spPr>
          <a:xfrm>
            <a:off x="7149613" y="3330823"/>
            <a:ext cx="306547" cy="306547"/>
          </a:xfrm>
          <a:prstGeom prst="rect">
            <a:avLst/>
          </a:prstGeom>
        </p:spPr>
      </p:pic>
      <p:pic>
        <p:nvPicPr>
          <p:cNvPr id="63" name="Picture 62">
            <a:extLst>
              <a:ext uri="{FF2B5EF4-FFF2-40B4-BE49-F238E27FC236}">
                <a16:creationId xmlns:a16="http://schemas.microsoft.com/office/drawing/2014/main" id="{EA4E76F4-4126-0B5E-8E9C-E7EC99BCC7D2}"/>
              </a:ext>
            </a:extLst>
          </p:cNvPr>
          <p:cNvPicPr>
            <a:picLocks noChangeAspect="1"/>
          </p:cNvPicPr>
          <p:nvPr/>
        </p:nvPicPr>
        <p:blipFill>
          <a:blip r:embed="rId18">
            <a:duotone>
              <a:schemeClr val="accent4">
                <a:shade val="45000"/>
                <a:satMod val="135000"/>
              </a:schemeClr>
              <a:prstClr val="white"/>
            </a:duotone>
          </a:blip>
          <a:stretch>
            <a:fillRect/>
          </a:stretch>
        </p:blipFill>
        <p:spPr>
          <a:xfrm>
            <a:off x="7063252" y="2634870"/>
            <a:ext cx="485327" cy="485327"/>
          </a:xfrm>
          <a:prstGeom prst="rect">
            <a:avLst/>
          </a:prstGeom>
        </p:spPr>
      </p:pic>
      <p:cxnSp>
        <p:nvCxnSpPr>
          <p:cNvPr id="64" name="Straight Connector 63">
            <a:extLst>
              <a:ext uri="{FF2B5EF4-FFF2-40B4-BE49-F238E27FC236}">
                <a16:creationId xmlns:a16="http://schemas.microsoft.com/office/drawing/2014/main" id="{8EA29939-EA12-FB89-7E95-A7186DBB410A}"/>
              </a:ext>
            </a:extLst>
          </p:cNvPr>
          <p:cNvCxnSpPr/>
          <p:nvPr/>
        </p:nvCxnSpPr>
        <p:spPr>
          <a:xfrm>
            <a:off x="5386974" y="4464382"/>
            <a:ext cx="225572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EF5E9937-4C2F-5D87-56D9-1211EB6D1EF6}"/>
              </a:ext>
            </a:extLst>
          </p:cNvPr>
          <p:cNvCxnSpPr>
            <a:cxnSpLocks/>
          </p:cNvCxnSpPr>
          <p:nvPr/>
        </p:nvCxnSpPr>
        <p:spPr>
          <a:xfrm>
            <a:off x="7981002" y="4454222"/>
            <a:ext cx="180546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B08E3432-5DFE-0B4F-3BA2-81D338488232}"/>
              </a:ext>
            </a:extLst>
          </p:cNvPr>
          <p:cNvCxnSpPr>
            <a:cxnSpLocks/>
          </p:cNvCxnSpPr>
          <p:nvPr/>
        </p:nvCxnSpPr>
        <p:spPr>
          <a:xfrm>
            <a:off x="10124762" y="4454222"/>
            <a:ext cx="1805460" cy="0"/>
          </a:xfrm>
          <a:prstGeom prst="line">
            <a:avLst/>
          </a:prstGeom>
        </p:spPr>
        <p:style>
          <a:lnRef idx="1">
            <a:schemeClr val="accent1"/>
          </a:lnRef>
          <a:fillRef idx="0">
            <a:schemeClr val="accent1"/>
          </a:fillRef>
          <a:effectRef idx="0">
            <a:schemeClr val="accent1"/>
          </a:effectRef>
          <a:fontRef idx="minor">
            <a:schemeClr val="tx1"/>
          </a:fontRef>
        </p:style>
      </p:cxnSp>
      <p:pic>
        <p:nvPicPr>
          <p:cNvPr id="69" name="Picture 68">
            <a:extLst>
              <a:ext uri="{FF2B5EF4-FFF2-40B4-BE49-F238E27FC236}">
                <a16:creationId xmlns:a16="http://schemas.microsoft.com/office/drawing/2014/main" id="{892031B1-94D9-3EC1-39A7-7DBCC68BCCB9}"/>
              </a:ext>
            </a:extLst>
          </p:cNvPr>
          <p:cNvPicPr>
            <a:picLocks noChangeAspect="1"/>
          </p:cNvPicPr>
          <p:nvPr/>
        </p:nvPicPr>
        <p:blipFill>
          <a:blip r:embed="rId19">
            <a:duotone>
              <a:prstClr val="black"/>
              <a:schemeClr val="accent5">
                <a:tint val="45000"/>
                <a:satMod val="400000"/>
              </a:schemeClr>
            </a:duotone>
          </a:blip>
          <a:stretch>
            <a:fillRect/>
          </a:stretch>
        </p:blipFill>
        <p:spPr>
          <a:xfrm>
            <a:off x="8450132" y="2605526"/>
            <a:ext cx="847700" cy="847700"/>
          </a:xfrm>
          <a:prstGeom prst="rect">
            <a:avLst/>
          </a:prstGeom>
        </p:spPr>
      </p:pic>
      <p:pic>
        <p:nvPicPr>
          <p:cNvPr id="71" name="Picture 70">
            <a:extLst>
              <a:ext uri="{FF2B5EF4-FFF2-40B4-BE49-F238E27FC236}">
                <a16:creationId xmlns:a16="http://schemas.microsoft.com/office/drawing/2014/main" id="{2B413EEF-4729-9CE2-B455-00ABF3DB46AB}"/>
              </a:ext>
            </a:extLst>
          </p:cNvPr>
          <p:cNvPicPr>
            <a:picLocks noChangeAspect="1"/>
          </p:cNvPicPr>
          <p:nvPr/>
        </p:nvPicPr>
        <p:blipFill>
          <a:blip r:embed="rId20"/>
          <a:stretch>
            <a:fillRect/>
          </a:stretch>
        </p:blipFill>
        <p:spPr>
          <a:xfrm>
            <a:off x="8512658" y="3293624"/>
            <a:ext cx="747082" cy="747082"/>
          </a:xfrm>
          <a:prstGeom prst="rect">
            <a:avLst/>
          </a:prstGeom>
        </p:spPr>
      </p:pic>
      <p:sp>
        <p:nvSpPr>
          <p:cNvPr id="75" name="TextBox 74">
            <a:extLst>
              <a:ext uri="{FF2B5EF4-FFF2-40B4-BE49-F238E27FC236}">
                <a16:creationId xmlns:a16="http://schemas.microsoft.com/office/drawing/2014/main" id="{7F517F8C-041C-2F07-6797-3A25845F9163}"/>
              </a:ext>
            </a:extLst>
          </p:cNvPr>
          <p:cNvSpPr txBox="1"/>
          <p:nvPr/>
        </p:nvSpPr>
        <p:spPr>
          <a:xfrm>
            <a:off x="10531734" y="1000760"/>
            <a:ext cx="1604991" cy="707886"/>
          </a:xfrm>
          <a:prstGeom prst="rect">
            <a:avLst/>
          </a:prstGeom>
          <a:noFill/>
        </p:spPr>
        <p:txBody>
          <a:bodyPr wrap="none" rtlCol="0">
            <a:spAutoFit/>
          </a:bodyPr>
          <a:lstStyle/>
          <a:p>
            <a:r>
              <a:rPr lang="en-IN" sz="2000" b="1" dirty="0"/>
              <a:t>Evaluate and </a:t>
            </a:r>
          </a:p>
          <a:p>
            <a:r>
              <a:rPr lang="en-IN" sz="2000" b="1" dirty="0"/>
              <a:t>Scale</a:t>
            </a:r>
          </a:p>
        </p:txBody>
      </p:sp>
      <p:sp>
        <p:nvSpPr>
          <p:cNvPr id="77" name="TextBox 76">
            <a:extLst>
              <a:ext uri="{FF2B5EF4-FFF2-40B4-BE49-F238E27FC236}">
                <a16:creationId xmlns:a16="http://schemas.microsoft.com/office/drawing/2014/main" id="{2D37F844-250E-B1A5-0FB8-DD8661746E68}"/>
              </a:ext>
            </a:extLst>
          </p:cNvPr>
          <p:cNvSpPr txBox="1"/>
          <p:nvPr/>
        </p:nvSpPr>
        <p:spPr>
          <a:xfrm>
            <a:off x="8428614" y="1043645"/>
            <a:ext cx="1414233" cy="1015663"/>
          </a:xfrm>
          <a:prstGeom prst="rect">
            <a:avLst/>
          </a:prstGeom>
          <a:noFill/>
        </p:spPr>
        <p:txBody>
          <a:bodyPr wrap="none" rtlCol="0">
            <a:spAutoFit/>
          </a:bodyPr>
          <a:lstStyle/>
          <a:p>
            <a:r>
              <a:rPr lang="en-IN" sz="2000" b="1" dirty="0"/>
              <a:t>Enable </a:t>
            </a:r>
          </a:p>
          <a:p>
            <a:r>
              <a:rPr lang="en-IN" sz="2000" b="1" dirty="0"/>
              <a:t>Production </a:t>
            </a:r>
          </a:p>
          <a:p>
            <a:r>
              <a:rPr lang="en-IN" sz="2000" b="1" dirty="0"/>
              <a:t>Readiness</a:t>
            </a:r>
          </a:p>
        </p:txBody>
      </p:sp>
      <p:sp>
        <p:nvSpPr>
          <p:cNvPr id="78" name="TextBox 77">
            <a:extLst>
              <a:ext uri="{FF2B5EF4-FFF2-40B4-BE49-F238E27FC236}">
                <a16:creationId xmlns:a16="http://schemas.microsoft.com/office/drawing/2014/main" id="{0F2F8110-4C89-8FC1-3B9D-D52E2D372E2B}"/>
              </a:ext>
            </a:extLst>
          </p:cNvPr>
          <p:cNvSpPr txBox="1"/>
          <p:nvPr/>
        </p:nvSpPr>
        <p:spPr>
          <a:xfrm>
            <a:off x="5254894" y="4676455"/>
            <a:ext cx="2504660" cy="1754326"/>
          </a:xfrm>
          <a:prstGeom prst="rect">
            <a:avLst/>
          </a:prstGeom>
          <a:noFill/>
        </p:spPr>
        <p:txBody>
          <a:bodyPr wrap="none" rtlCol="0">
            <a:spAutoFit/>
          </a:bodyPr>
          <a:lstStyle/>
          <a:p>
            <a:pPr marL="285750" lvl="0" indent="-285750">
              <a:buFont typeface="Arial" panose="020B0604020202020204" pitchFamily="34" charset="0"/>
              <a:buChar char="•"/>
            </a:pPr>
            <a:r>
              <a:rPr lang="en-IN" dirty="0"/>
              <a:t>Integrate more </a:t>
            </a:r>
          </a:p>
          <a:p>
            <a:pPr lvl="0"/>
            <a:r>
              <a:rPr lang="en-IN" dirty="0"/>
              <a:t>verified troubleshooting </a:t>
            </a:r>
          </a:p>
          <a:p>
            <a:pPr lvl="0"/>
            <a:r>
              <a:rPr lang="en-IN" dirty="0"/>
              <a:t>resources. </a:t>
            </a:r>
          </a:p>
          <a:p>
            <a:pPr marL="285750" lvl="0" indent="-285750">
              <a:buFont typeface="Arial" panose="020B0604020202020204" pitchFamily="34" charset="0"/>
              <a:buChar char="•"/>
            </a:pPr>
            <a:r>
              <a:rPr lang="en-IN" dirty="0"/>
              <a:t>Expand verified </a:t>
            </a:r>
          </a:p>
          <a:p>
            <a:pPr lvl="0"/>
            <a:r>
              <a:rPr lang="en-IN" dirty="0"/>
              <a:t>deep-link coverage for </a:t>
            </a:r>
          </a:p>
          <a:p>
            <a:pPr lvl="0"/>
            <a:r>
              <a:rPr lang="en-IN" dirty="0"/>
              <a:t>device settings.</a:t>
            </a:r>
          </a:p>
        </p:txBody>
      </p:sp>
      <p:sp>
        <p:nvSpPr>
          <p:cNvPr id="79" name="TextBox 78">
            <a:extLst>
              <a:ext uri="{FF2B5EF4-FFF2-40B4-BE49-F238E27FC236}">
                <a16:creationId xmlns:a16="http://schemas.microsoft.com/office/drawing/2014/main" id="{DB81E01C-2006-A70E-5C3C-4FF0C632169D}"/>
              </a:ext>
            </a:extLst>
          </p:cNvPr>
          <p:cNvSpPr txBox="1"/>
          <p:nvPr/>
        </p:nvSpPr>
        <p:spPr>
          <a:xfrm>
            <a:off x="7813040" y="4667760"/>
            <a:ext cx="2269339" cy="1754326"/>
          </a:xfrm>
          <a:prstGeom prst="rect">
            <a:avLst/>
          </a:prstGeom>
          <a:noFill/>
        </p:spPr>
        <p:txBody>
          <a:bodyPr wrap="none" rtlCol="0">
            <a:spAutoFit/>
          </a:bodyPr>
          <a:lstStyle/>
          <a:p>
            <a:pPr marL="285750" lvl="0" indent="-285750">
              <a:buFont typeface="Arial" panose="020B0604020202020204" pitchFamily="34" charset="0"/>
              <a:buChar char="•"/>
            </a:pPr>
            <a:r>
              <a:rPr lang="en-IN" dirty="0"/>
              <a:t>Integrate and </a:t>
            </a:r>
          </a:p>
          <a:p>
            <a:pPr lvl="0"/>
            <a:r>
              <a:rPr lang="en-IN" dirty="0"/>
              <a:t>validate a live AI </a:t>
            </a:r>
          </a:p>
          <a:p>
            <a:pPr lvl="0"/>
            <a:r>
              <a:rPr lang="en-IN" dirty="0"/>
              <a:t>provider. </a:t>
            </a:r>
          </a:p>
          <a:p>
            <a:pPr marL="285750" lvl="0" indent="-285750">
              <a:buFont typeface="Arial" panose="020B0604020202020204" pitchFamily="34" charset="0"/>
              <a:buChar char="•"/>
            </a:pPr>
            <a:r>
              <a:rPr lang="en-IN" dirty="0"/>
              <a:t>Improve reliability, </a:t>
            </a:r>
          </a:p>
          <a:p>
            <a:pPr lvl="0"/>
            <a:r>
              <a:rPr lang="en-IN" dirty="0"/>
              <a:t>response consistency </a:t>
            </a:r>
          </a:p>
          <a:p>
            <a:pPr lvl="0"/>
            <a:r>
              <a:rPr lang="en-IN" dirty="0"/>
              <a:t>and error handling. </a:t>
            </a:r>
          </a:p>
        </p:txBody>
      </p:sp>
      <p:pic>
        <p:nvPicPr>
          <p:cNvPr id="83" name="Picture 82">
            <a:extLst>
              <a:ext uri="{FF2B5EF4-FFF2-40B4-BE49-F238E27FC236}">
                <a16:creationId xmlns:a16="http://schemas.microsoft.com/office/drawing/2014/main" id="{46D68D87-3FE6-C383-88B0-64B639089F20}"/>
              </a:ext>
            </a:extLst>
          </p:cNvPr>
          <p:cNvPicPr>
            <a:picLocks noChangeAspect="1"/>
          </p:cNvPicPr>
          <p:nvPr/>
        </p:nvPicPr>
        <p:blipFill>
          <a:blip r:embed="rId21">
            <a:duotone>
              <a:prstClr val="black"/>
              <a:schemeClr val="accent6">
                <a:tint val="45000"/>
                <a:satMod val="400000"/>
              </a:schemeClr>
            </a:duotone>
          </a:blip>
          <a:stretch>
            <a:fillRect/>
          </a:stretch>
        </p:blipFill>
        <p:spPr>
          <a:xfrm>
            <a:off x="10097234" y="2853152"/>
            <a:ext cx="1136061" cy="1136061"/>
          </a:xfrm>
          <a:prstGeom prst="rect">
            <a:avLst/>
          </a:prstGeom>
        </p:spPr>
      </p:pic>
      <p:pic>
        <p:nvPicPr>
          <p:cNvPr id="85" name="Picture 84">
            <a:extLst>
              <a:ext uri="{FF2B5EF4-FFF2-40B4-BE49-F238E27FC236}">
                <a16:creationId xmlns:a16="http://schemas.microsoft.com/office/drawing/2014/main" id="{8DA675C1-741D-3B40-1C37-1BB6947F926B}"/>
              </a:ext>
            </a:extLst>
          </p:cNvPr>
          <p:cNvPicPr>
            <a:picLocks noChangeAspect="1"/>
          </p:cNvPicPr>
          <p:nvPr/>
        </p:nvPicPr>
        <p:blipFill>
          <a:blip r:embed="rId22">
            <a:duotone>
              <a:schemeClr val="accent5">
                <a:shade val="45000"/>
                <a:satMod val="135000"/>
              </a:schemeClr>
              <a:prstClr val="white"/>
            </a:duotone>
          </a:blip>
          <a:stretch>
            <a:fillRect/>
          </a:stretch>
        </p:blipFill>
        <p:spPr>
          <a:xfrm>
            <a:off x="11332024" y="2944004"/>
            <a:ext cx="598198" cy="598198"/>
          </a:xfrm>
          <a:prstGeom prst="rect">
            <a:avLst/>
          </a:prstGeom>
        </p:spPr>
      </p:pic>
      <p:sp>
        <p:nvSpPr>
          <p:cNvPr id="86" name="TextBox 85">
            <a:extLst>
              <a:ext uri="{FF2B5EF4-FFF2-40B4-BE49-F238E27FC236}">
                <a16:creationId xmlns:a16="http://schemas.microsoft.com/office/drawing/2014/main" id="{96CC47EC-1372-E3BD-F828-E87A04E3C00D}"/>
              </a:ext>
            </a:extLst>
          </p:cNvPr>
          <p:cNvSpPr txBox="1"/>
          <p:nvPr/>
        </p:nvSpPr>
        <p:spPr>
          <a:xfrm>
            <a:off x="9997440" y="4486517"/>
            <a:ext cx="2089611" cy="2062103"/>
          </a:xfrm>
          <a:prstGeom prst="rect">
            <a:avLst/>
          </a:prstGeom>
          <a:noFill/>
        </p:spPr>
        <p:txBody>
          <a:bodyPr wrap="none" rtlCol="0">
            <a:spAutoFit/>
          </a:bodyPr>
          <a:lstStyle/>
          <a:p>
            <a:pPr marL="285750" lvl="0" indent="-285750">
              <a:buFont typeface="Arial" panose="020B0604020202020204" pitchFamily="34" charset="0"/>
              <a:buChar char="•"/>
            </a:pPr>
            <a:r>
              <a:rPr lang="en-IN" sz="1600" dirty="0"/>
              <a:t>Evaluate </a:t>
            </a:r>
          </a:p>
          <a:p>
            <a:pPr lvl="0"/>
            <a:r>
              <a:rPr lang="en-IN" sz="1600" dirty="0"/>
              <a:t>troubleshooting </a:t>
            </a:r>
          </a:p>
          <a:p>
            <a:pPr lvl="0"/>
            <a:r>
              <a:rPr lang="en-IN" sz="1600" dirty="0"/>
              <a:t>accuracy using a </a:t>
            </a:r>
          </a:p>
          <a:p>
            <a:pPr lvl="0"/>
            <a:r>
              <a:rPr lang="en-IN" sz="1600" dirty="0"/>
              <a:t>representative test </a:t>
            </a:r>
          </a:p>
          <a:p>
            <a:pPr lvl="0"/>
            <a:r>
              <a:rPr lang="en-IN" sz="1600" dirty="0"/>
              <a:t>dataset. </a:t>
            </a:r>
          </a:p>
          <a:p>
            <a:pPr marL="285750" lvl="0" indent="-285750">
              <a:buFont typeface="Arial" panose="020B0604020202020204" pitchFamily="34" charset="0"/>
              <a:buChar char="•"/>
            </a:pPr>
            <a:r>
              <a:rPr lang="en-IN" sz="1600" dirty="0"/>
              <a:t>Expand support to </a:t>
            </a:r>
          </a:p>
          <a:p>
            <a:pPr lvl="0"/>
            <a:r>
              <a:rPr lang="en-IN" sz="1600" dirty="0"/>
              <a:t>additional devices and </a:t>
            </a:r>
          </a:p>
          <a:p>
            <a:pPr lvl="0"/>
            <a:r>
              <a:rPr lang="en-IN" sz="1600" dirty="0"/>
              <a:t>languages.</a:t>
            </a:r>
          </a:p>
        </p:txBody>
      </p:sp>
    </p:spTree>
    <p:extLst>
      <p:ext uri="{BB962C8B-B14F-4D97-AF65-F5344CB8AC3E}">
        <p14:creationId xmlns:p14="http://schemas.microsoft.com/office/powerpoint/2010/main" val="39859146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353DB3-FB86-4452-A4FB-E7F4BEA62856}"/>
              </a:ext>
            </a:extLst>
          </p:cNvPr>
          <p:cNvSpPr>
            <a:spLocks noGrp="1"/>
          </p:cNvSpPr>
          <p:nvPr>
            <p:ph type="title"/>
          </p:nvPr>
        </p:nvSpPr>
        <p:spPr>
          <a:xfrm>
            <a:off x="0" y="-112395"/>
            <a:ext cx="10515600" cy="1325563"/>
          </a:xfrm>
        </p:spPr>
        <p:txBody>
          <a:bodyPr/>
          <a:lstStyle/>
          <a:p>
            <a:pPr>
              <a:spcAft>
                <a:spcPts val="500"/>
              </a:spcAft>
              <a:buSzPct val="100000"/>
            </a:pPr>
            <a:r>
              <a:rPr lang="en-US" sz="4400" b="1" dirty="0">
                <a:solidFill>
                  <a:schemeClr val="accent6">
                    <a:lumMod val="50000"/>
                  </a:schemeClr>
                </a:solidFill>
                <a:latin typeface="Calibri" pitchFamily="34" charset="0"/>
                <a:ea typeface="Calibri" pitchFamily="34" charset="-122"/>
                <a:cs typeface="Calibri" pitchFamily="34" charset="-120"/>
              </a:rPr>
              <a:t>Brownie points slide( differentiation)</a:t>
            </a:r>
            <a:endParaRPr lang="en-US" sz="4400" b="1" dirty="0">
              <a:solidFill>
                <a:schemeClr val="accent6">
                  <a:lumMod val="50000"/>
                </a:schemeClr>
              </a:solidFill>
            </a:endParaRPr>
          </a:p>
        </p:txBody>
      </p:sp>
      <p:sp>
        <p:nvSpPr>
          <p:cNvPr id="4" name="Rectangle 3">
            <a:extLst>
              <a:ext uri="{FF2B5EF4-FFF2-40B4-BE49-F238E27FC236}">
                <a16:creationId xmlns:a16="http://schemas.microsoft.com/office/drawing/2014/main" id="{22F68217-DDB1-7413-258D-DDD233603E31}"/>
              </a:ext>
            </a:extLst>
          </p:cNvPr>
          <p:cNvSpPr/>
          <p:nvPr/>
        </p:nvSpPr>
        <p:spPr>
          <a:xfrm>
            <a:off x="162560" y="1036320"/>
            <a:ext cx="3921760" cy="3159760"/>
          </a:xfrm>
          <a:prstGeom prst="rect">
            <a:avLst/>
          </a:prstGeom>
          <a:solidFill>
            <a:schemeClr val="accent6">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5759D282-58BA-0D75-AD44-F3A5B7D0D9DF}"/>
              </a:ext>
            </a:extLst>
          </p:cNvPr>
          <p:cNvSpPr/>
          <p:nvPr/>
        </p:nvSpPr>
        <p:spPr>
          <a:xfrm>
            <a:off x="4246880" y="1036320"/>
            <a:ext cx="3921760" cy="3159760"/>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Rectangle 7">
            <a:extLst>
              <a:ext uri="{FF2B5EF4-FFF2-40B4-BE49-F238E27FC236}">
                <a16:creationId xmlns:a16="http://schemas.microsoft.com/office/drawing/2014/main" id="{B3054D27-2B4C-4CAF-AF37-02319D709FD1}"/>
              </a:ext>
            </a:extLst>
          </p:cNvPr>
          <p:cNvSpPr/>
          <p:nvPr/>
        </p:nvSpPr>
        <p:spPr>
          <a:xfrm>
            <a:off x="8300720" y="1036320"/>
            <a:ext cx="3728720" cy="3159760"/>
          </a:xfrm>
          <a:prstGeom prst="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0" name="Picture 9">
            <a:extLst>
              <a:ext uri="{FF2B5EF4-FFF2-40B4-BE49-F238E27FC236}">
                <a16:creationId xmlns:a16="http://schemas.microsoft.com/office/drawing/2014/main" id="{4CC37EF3-9C80-3612-D667-9B53BEC22BC5}"/>
              </a:ext>
            </a:extLst>
          </p:cNvPr>
          <p:cNvPicPr>
            <a:picLocks noChangeAspect="1"/>
          </p:cNvPicPr>
          <p:nvPr/>
        </p:nvPicPr>
        <p:blipFill>
          <a:blip r:embed="rId2"/>
          <a:stretch>
            <a:fillRect/>
          </a:stretch>
        </p:blipFill>
        <p:spPr>
          <a:xfrm>
            <a:off x="248919" y="1097284"/>
            <a:ext cx="391161" cy="391161"/>
          </a:xfrm>
          <a:prstGeom prst="rect">
            <a:avLst/>
          </a:prstGeom>
        </p:spPr>
      </p:pic>
      <p:sp>
        <p:nvSpPr>
          <p:cNvPr id="11" name="TextBox 10">
            <a:extLst>
              <a:ext uri="{FF2B5EF4-FFF2-40B4-BE49-F238E27FC236}">
                <a16:creationId xmlns:a16="http://schemas.microsoft.com/office/drawing/2014/main" id="{AB93FEC0-15CB-C17F-AB03-11B1931E69BC}"/>
              </a:ext>
            </a:extLst>
          </p:cNvPr>
          <p:cNvSpPr txBox="1"/>
          <p:nvPr/>
        </p:nvSpPr>
        <p:spPr>
          <a:xfrm>
            <a:off x="640080" y="1036320"/>
            <a:ext cx="3059492" cy="461665"/>
          </a:xfrm>
          <a:prstGeom prst="rect">
            <a:avLst/>
          </a:prstGeom>
          <a:noFill/>
        </p:spPr>
        <p:txBody>
          <a:bodyPr wrap="none" rtlCol="0">
            <a:spAutoFit/>
          </a:bodyPr>
          <a:lstStyle/>
          <a:p>
            <a:r>
              <a:rPr lang="en-IN" sz="2400" b="1" dirty="0"/>
              <a:t>Natural-Language First</a:t>
            </a:r>
          </a:p>
        </p:txBody>
      </p:sp>
      <p:sp>
        <p:nvSpPr>
          <p:cNvPr id="12" name="TextBox 11">
            <a:extLst>
              <a:ext uri="{FF2B5EF4-FFF2-40B4-BE49-F238E27FC236}">
                <a16:creationId xmlns:a16="http://schemas.microsoft.com/office/drawing/2014/main" id="{7CD3946A-186B-C0C8-32B2-2470EE2D2A11}"/>
              </a:ext>
            </a:extLst>
          </p:cNvPr>
          <p:cNvSpPr txBox="1"/>
          <p:nvPr/>
        </p:nvSpPr>
        <p:spPr>
          <a:xfrm>
            <a:off x="162560" y="1558949"/>
            <a:ext cx="4007251" cy="923330"/>
          </a:xfrm>
          <a:prstGeom prst="rect">
            <a:avLst/>
          </a:prstGeom>
          <a:noFill/>
        </p:spPr>
        <p:txBody>
          <a:bodyPr wrap="none" rtlCol="0">
            <a:spAutoFit/>
          </a:bodyPr>
          <a:lstStyle/>
          <a:p>
            <a:r>
              <a:rPr lang="en-IN" dirty="0"/>
              <a:t>Users describe the problem in their own </a:t>
            </a:r>
          </a:p>
          <a:p>
            <a:r>
              <a:rPr lang="en-IN" dirty="0"/>
              <a:t>words instead of selecting from rigid </a:t>
            </a:r>
          </a:p>
          <a:p>
            <a:r>
              <a:rPr lang="en-IN" dirty="0"/>
              <a:t>diagnostic menus.</a:t>
            </a:r>
          </a:p>
        </p:txBody>
      </p:sp>
      <p:pic>
        <p:nvPicPr>
          <p:cNvPr id="14" name="Picture 13">
            <a:extLst>
              <a:ext uri="{FF2B5EF4-FFF2-40B4-BE49-F238E27FC236}">
                <a16:creationId xmlns:a16="http://schemas.microsoft.com/office/drawing/2014/main" id="{38FC9499-0718-1956-6A2D-FE904968C63F}"/>
              </a:ext>
            </a:extLst>
          </p:cNvPr>
          <p:cNvPicPr>
            <a:picLocks noChangeAspect="1"/>
          </p:cNvPicPr>
          <p:nvPr/>
        </p:nvPicPr>
        <p:blipFill>
          <a:blip r:embed="rId3">
            <a:duotone>
              <a:schemeClr val="accent6">
                <a:shade val="45000"/>
                <a:satMod val="135000"/>
              </a:schemeClr>
              <a:prstClr val="white"/>
            </a:duotone>
          </a:blip>
          <a:stretch>
            <a:fillRect/>
          </a:stretch>
        </p:blipFill>
        <p:spPr>
          <a:xfrm>
            <a:off x="279399" y="2731580"/>
            <a:ext cx="438933" cy="438933"/>
          </a:xfrm>
          <a:prstGeom prst="rect">
            <a:avLst/>
          </a:prstGeom>
        </p:spPr>
      </p:pic>
      <p:pic>
        <p:nvPicPr>
          <p:cNvPr id="19" name="Picture 18">
            <a:extLst>
              <a:ext uri="{FF2B5EF4-FFF2-40B4-BE49-F238E27FC236}">
                <a16:creationId xmlns:a16="http://schemas.microsoft.com/office/drawing/2014/main" id="{D701EC8B-FE24-F62C-855D-99356B6E8E61}"/>
              </a:ext>
            </a:extLst>
          </p:cNvPr>
          <p:cNvPicPr>
            <a:picLocks noChangeAspect="1"/>
          </p:cNvPicPr>
          <p:nvPr/>
        </p:nvPicPr>
        <p:blipFill>
          <a:blip r:embed="rId4">
            <a:duotone>
              <a:schemeClr val="accent6">
                <a:shade val="45000"/>
                <a:satMod val="135000"/>
              </a:schemeClr>
              <a:prstClr val="white"/>
            </a:duotone>
          </a:blip>
          <a:stretch>
            <a:fillRect/>
          </a:stretch>
        </p:blipFill>
        <p:spPr>
          <a:xfrm>
            <a:off x="680720" y="2370741"/>
            <a:ext cx="3059492" cy="1869440"/>
          </a:xfrm>
          <a:prstGeom prst="rect">
            <a:avLst/>
          </a:prstGeom>
        </p:spPr>
      </p:pic>
      <p:sp>
        <p:nvSpPr>
          <p:cNvPr id="17" name="TextBox 16">
            <a:extLst>
              <a:ext uri="{FF2B5EF4-FFF2-40B4-BE49-F238E27FC236}">
                <a16:creationId xmlns:a16="http://schemas.microsoft.com/office/drawing/2014/main" id="{42284CE6-5A74-B1FE-EBBC-0FCBC65050AC}"/>
              </a:ext>
            </a:extLst>
          </p:cNvPr>
          <p:cNvSpPr txBox="1"/>
          <p:nvPr/>
        </p:nvSpPr>
        <p:spPr>
          <a:xfrm>
            <a:off x="850412" y="2842979"/>
            <a:ext cx="2799356" cy="646331"/>
          </a:xfrm>
          <a:prstGeom prst="rect">
            <a:avLst/>
          </a:prstGeom>
          <a:noFill/>
        </p:spPr>
        <p:txBody>
          <a:bodyPr wrap="none" rtlCol="0">
            <a:spAutoFit/>
          </a:bodyPr>
          <a:lstStyle/>
          <a:p>
            <a:r>
              <a:rPr lang="en-IN" dirty="0"/>
              <a:t>“My screen keeps flickering </a:t>
            </a:r>
          </a:p>
          <a:p>
            <a:r>
              <a:rPr lang="en-IN" dirty="0"/>
              <a:t>and then goes black.”</a:t>
            </a:r>
          </a:p>
        </p:txBody>
      </p:sp>
      <p:pic>
        <p:nvPicPr>
          <p:cNvPr id="21" name="Picture 20">
            <a:extLst>
              <a:ext uri="{FF2B5EF4-FFF2-40B4-BE49-F238E27FC236}">
                <a16:creationId xmlns:a16="http://schemas.microsoft.com/office/drawing/2014/main" id="{C035C553-DD64-A51E-CA9C-0247EE617278}"/>
              </a:ext>
            </a:extLst>
          </p:cNvPr>
          <p:cNvPicPr>
            <a:picLocks noChangeAspect="1"/>
          </p:cNvPicPr>
          <p:nvPr/>
        </p:nvPicPr>
        <p:blipFill>
          <a:blip r:embed="rId5"/>
          <a:stretch>
            <a:fillRect/>
          </a:stretch>
        </p:blipFill>
        <p:spPr>
          <a:xfrm>
            <a:off x="4324750" y="1073638"/>
            <a:ext cx="502921" cy="502921"/>
          </a:xfrm>
          <a:prstGeom prst="rect">
            <a:avLst/>
          </a:prstGeom>
        </p:spPr>
      </p:pic>
      <p:sp>
        <p:nvSpPr>
          <p:cNvPr id="23" name="TextBox 22">
            <a:extLst>
              <a:ext uri="{FF2B5EF4-FFF2-40B4-BE49-F238E27FC236}">
                <a16:creationId xmlns:a16="http://schemas.microsoft.com/office/drawing/2014/main" id="{3E26554A-F3AC-487D-9FF1-CBD143E470CA}"/>
              </a:ext>
            </a:extLst>
          </p:cNvPr>
          <p:cNvSpPr txBox="1"/>
          <p:nvPr/>
        </p:nvSpPr>
        <p:spPr>
          <a:xfrm>
            <a:off x="5019040" y="1016000"/>
            <a:ext cx="2638799" cy="830997"/>
          </a:xfrm>
          <a:prstGeom prst="rect">
            <a:avLst/>
          </a:prstGeom>
          <a:noFill/>
        </p:spPr>
        <p:txBody>
          <a:bodyPr wrap="none" rtlCol="0">
            <a:spAutoFit/>
          </a:bodyPr>
          <a:lstStyle/>
          <a:p>
            <a:r>
              <a:rPr lang="en-IN" sz="2400" b="1" dirty="0"/>
              <a:t>From Complaint to </a:t>
            </a:r>
          </a:p>
          <a:p>
            <a:r>
              <a:rPr lang="en-IN" sz="2400" b="1" dirty="0"/>
              <a:t>Structured Plan</a:t>
            </a:r>
          </a:p>
        </p:txBody>
      </p:sp>
      <p:sp>
        <p:nvSpPr>
          <p:cNvPr id="25" name="TextBox 24">
            <a:extLst>
              <a:ext uri="{FF2B5EF4-FFF2-40B4-BE49-F238E27FC236}">
                <a16:creationId xmlns:a16="http://schemas.microsoft.com/office/drawing/2014/main" id="{7E08D3F0-5681-82AF-1FF3-5FDDA9D04A33}"/>
              </a:ext>
            </a:extLst>
          </p:cNvPr>
          <p:cNvSpPr txBox="1"/>
          <p:nvPr/>
        </p:nvSpPr>
        <p:spPr>
          <a:xfrm>
            <a:off x="4267200" y="1894229"/>
            <a:ext cx="4053354" cy="646331"/>
          </a:xfrm>
          <a:prstGeom prst="rect">
            <a:avLst/>
          </a:prstGeom>
          <a:noFill/>
        </p:spPr>
        <p:txBody>
          <a:bodyPr wrap="none" rtlCol="0">
            <a:spAutoFit/>
          </a:bodyPr>
          <a:lstStyle/>
          <a:p>
            <a:r>
              <a:rPr lang="en-IN" dirty="0"/>
              <a:t>Transforms the user's description into an </a:t>
            </a:r>
          </a:p>
          <a:p>
            <a:r>
              <a:rPr lang="en-IN" dirty="0"/>
              <a:t>organized troubleshooting workflow.</a:t>
            </a:r>
          </a:p>
        </p:txBody>
      </p:sp>
      <p:pic>
        <p:nvPicPr>
          <p:cNvPr id="27" name="Picture 26">
            <a:extLst>
              <a:ext uri="{FF2B5EF4-FFF2-40B4-BE49-F238E27FC236}">
                <a16:creationId xmlns:a16="http://schemas.microsoft.com/office/drawing/2014/main" id="{5495F025-DAFC-2233-A73D-68F2B18379EF}"/>
              </a:ext>
            </a:extLst>
          </p:cNvPr>
          <p:cNvPicPr>
            <a:picLocks noChangeAspect="1"/>
          </p:cNvPicPr>
          <p:nvPr/>
        </p:nvPicPr>
        <p:blipFill>
          <a:blip r:embed="rId6">
            <a:duotone>
              <a:schemeClr val="accent5">
                <a:shade val="45000"/>
                <a:satMod val="135000"/>
              </a:schemeClr>
              <a:prstClr val="white"/>
            </a:duotone>
          </a:blip>
          <a:stretch>
            <a:fillRect/>
          </a:stretch>
        </p:blipFill>
        <p:spPr>
          <a:xfrm>
            <a:off x="4339899" y="2889560"/>
            <a:ext cx="625800" cy="625800"/>
          </a:xfrm>
          <a:prstGeom prst="rect">
            <a:avLst/>
          </a:prstGeom>
        </p:spPr>
      </p:pic>
      <p:pic>
        <p:nvPicPr>
          <p:cNvPr id="29" name="Picture 28">
            <a:extLst>
              <a:ext uri="{FF2B5EF4-FFF2-40B4-BE49-F238E27FC236}">
                <a16:creationId xmlns:a16="http://schemas.microsoft.com/office/drawing/2014/main" id="{CCC7DAC2-E861-3941-830D-EA329152F8EF}"/>
              </a:ext>
            </a:extLst>
          </p:cNvPr>
          <p:cNvPicPr>
            <a:picLocks noChangeAspect="1"/>
          </p:cNvPicPr>
          <p:nvPr/>
        </p:nvPicPr>
        <p:blipFill>
          <a:blip r:embed="rId7">
            <a:duotone>
              <a:schemeClr val="accent6">
                <a:shade val="45000"/>
                <a:satMod val="135000"/>
              </a:schemeClr>
              <a:prstClr val="white"/>
            </a:duotone>
          </a:blip>
          <a:stretch>
            <a:fillRect/>
          </a:stretch>
        </p:blipFill>
        <p:spPr>
          <a:xfrm>
            <a:off x="5293391" y="2857613"/>
            <a:ext cx="625800" cy="625800"/>
          </a:xfrm>
          <a:prstGeom prst="rect">
            <a:avLst/>
          </a:prstGeom>
        </p:spPr>
      </p:pic>
      <p:pic>
        <p:nvPicPr>
          <p:cNvPr id="33" name="Picture 32">
            <a:extLst>
              <a:ext uri="{FF2B5EF4-FFF2-40B4-BE49-F238E27FC236}">
                <a16:creationId xmlns:a16="http://schemas.microsoft.com/office/drawing/2014/main" id="{1CC5620E-86B3-99D3-1359-02AD57C499D9}"/>
              </a:ext>
            </a:extLst>
          </p:cNvPr>
          <p:cNvPicPr>
            <a:picLocks noChangeAspect="1"/>
          </p:cNvPicPr>
          <p:nvPr/>
        </p:nvPicPr>
        <p:blipFill>
          <a:blip r:embed="rId8">
            <a:duotone>
              <a:schemeClr val="accent4">
                <a:shade val="45000"/>
                <a:satMod val="135000"/>
              </a:schemeClr>
              <a:prstClr val="white"/>
            </a:duotone>
          </a:blip>
          <a:stretch>
            <a:fillRect/>
          </a:stretch>
        </p:blipFill>
        <p:spPr>
          <a:xfrm>
            <a:off x="6272811" y="2857613"/>
            <a:ext cx="625800" cy="625800"/>
          </a:xfrm>
          <a:prstGeom prst="rect">
            <a:avLst/>
          </a:prstGeom>
        </p:spPr>
      </p:pic>
      <p:pic>
        <p:nvPicPr>
          <p:cNvPr id="35" name="Picture 34">
            <a:extLst>
              <a:ext uri="{FF2B5EF4-FFF2-40B4-BE49-F238E27FC236}">
                <a16:creationId xmlns:a16="http://schemas.microsoft.com/office/drawing/2014/main" id="{33CEC125-62F3-70DA-3B3B-D8049768841B}"/>
              </a:ext>
            </a:extLst>
          </p:cNvPr>
          <p:cNvPicPr>
            <a:picLocks noChangeAspect="1"/>
          </p:cNvPicPr>
          <p:nvPr/>
        </p:nvPicPr>
        <p:blipFill>
          <a:blip r:embed="rId9">
            <a:duotone>
              <a:prstClr val="black"/>
              <a:srgbClr val="7030A0">
                <a:tint val="45000"/>
                <a:satMod val="400000"/>
              </a:srgbClr>
            </a:duotone>
          </a:blip>
          <a:stretch>
            <a:fillRect/>
          </a:stretch>
        </p:blipFill>
        <p:spPr>
          <a:xfrm>
            <a:off x="7290120" y="2829773"/>
            <a:ext cx="629707" cy="629707"/>
          </a:xfrm>
          <a:prstGeom prst="rect">
            <a:avLst/>
          </a:prstGeom>
        </p:spPr>
      </p:pic>
      <p:sp>
        <p:nvSpPr>
          <p:cNvPr id="36" name="TextBox 35">
            <a:extLst>
              <a:ext uri="{FF2B5EF4-FFF2-40B4-BE49-F238E27FC236}">
                <a16:creationId xmlns:a16="http://schemas.microsoft.com/office/drawing/2014/main" id="{A194F058-9673-02FB-B1E2-B9B229F88881}"/>
              </a:ext>
            </a:extLst>
          </p:cNvPr>
          <p:cNvSpPr txBox="1"/>
          <p:nvPr/>
        </p:nvSpPr>
        <p:spPr>
          <a:xfrm>
            <a:off x="4226641" y="3535680"/>
            <a:ext cx="4043736" cy="369332"/>
          </a:xfrm>
          <a:prstGeom prst="rect">
            <a:avLst/>
          </a:prstGeom>
          <a:noFill/>
        </p:spPr>
        <p:txBody>
          <a:bodyPr wrap="none" rtlCol="0">
            <a:spAutoFit/>
          </a:bodyPr>
          <a:lstStyle/>
          <a:p>
            <a:r>
              <a:rPr lang="en-US" dirty="0"/>
              <a:t>Complaint   Goal       Actions        UI Steps</a:t>
            </a:r>
            <a:endParaRPr lang="en-IN" dirty="0"/>
          </a:p>
        </p:txBody>
      </p:sp>
      <p:cxnSp>
        <p:nvCxnSpPr>
          <p:cNvPr id="38" name="Straight Arrow Connector 37">
            <a:extLst>
              <a:ext uri="{FF2B5EF4-FFF2-40B4-BE49-F238E27FC236}">
                <a16:creationId xmlns:a16="http://schemas.microsoft.com/office/drawing/2014/main" id="{5B63979F-41F0-7D0E-0B1E-D02D5472D17A}"/>
              </a:ext>
            </a:extLst>
          </p:cNvPr>
          <p:cNvCxnSpPr/>
          <p:nvPr/>
        </p:nvCxnSpPr>
        <p:spPr>
          <a:xfrm>
            <a:off x="3820160" y="2540560"/>
            <a:ext cx="612000" cy="0"/>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FBFB709C-494E-E9E5-7017-604F7539B4F4}"/>
              </a:ext>
            </a:extLst>
          </p:cNvPr>
          <p:cNvCxnSpPr>
            <a:cxnSpLocks/>
          </p:cNvCxnSpPr>
          <p:nvPr/>
        </p:nvCxnSpPr>
        <p:spPr>
          <a:xfrm>
            <a:off x="4979979" y="3150160"/>
            <a:ext cx="244661" cy="0"/>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F8D5772E-D48C-7563-F99E-43080576144D}"/>
              </a:ext>
            </a:extLst>
          </p:cNvPr>
          <p:cNvCxnSpPr>
            <a:cxnSpLocks/>
          </p:cNvCxnSpPr>
          <p:nvPr/>
        </p:nvCxnSpPr>
        <p:spPr>
          <a:xfrm>
            <a:off x="5995979" y="3160320"/>
            <a:ext cx="244661" cy="0"/>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6A125D69-7882-6B0E-4DF6-4E3A92EE02ED}"/>
              </a:ext>
            </a:extLst>
          </p:cNvPr>
          <p:cNvCxnSpPr>
            <a:cxnSpLocks/>
          </p:cNvCxnSpPr>
          <p:nvPr/>
        </p:nvCxnSpPr>
        <p:spPr>
          <a:xfrm>
            <a:off x="6971339" y="3170480"/>
            <a:ext cx="244661" cy="0"/>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pic>
        <p:nvPicPr>
          <p:cNvPr id="44" name="Picture 43">
            <a:extLst>
              <a:ext uri="{FF2B5EF4-FFF2-40B4-BE49-F238E27FC236}">
                <a16:creationId xmlns:a16="http://schemas.microsoft.com/office/drawing/2014/main" id="{1A030F04-3340-6780-85FB-A487F85C93A0}"/>
              </a:ext>
            </a:extLst>
          </p:cNvPr>
          <p:cNvPicPr>
            <a:picLocks noChangeAspect="1"/>
          </p:cNvPicPr>
          <p:nvPr/>
        </p:nvPicPr>
        <p:blipFill>
          <a:blip r:embed="rId10"/>
          <a:stretch>
            <a:fillRect/>
          </a:stretch>
        </p:blipFill>
        <p:spPr>
          <a:xfrm>
            <a:off x="8360009" y="1081088"/>
            <a:ext cx="502921" cy="502921"/>
          </a:xfrm>
          <a:prstGeom prst="rect">
            <a:avLst/>
          </a:prstGeom>
        </p:spPr>
      </p:pic>
      <p:sp>
        <p:nvSpPr>
          <p:cNvPr id="46" name="TextBox 45">
            <a:extLst>
              <a:ext uri="{FF2B5EF4-FFF2-40B4-BE49-F238E27FC236}">
                <a16:creationId xmlns:a16="http://schemas.microsoft.com/office/drawing/2014/main" id="{8A202638-5952-6134-D9D5-8A02A82AF3DF}"/>
              </a:ext>
            </a:extLst>
          </p:cNvPr>
          <p:cNvSpPr txBox="1"/>
          <p:nvPr/>
        </p:nvSpPr>
        <p:spPr>
          <a:xfrm>
            <a:off x="8818880" y="1016000"/>
            <a:ext cx="2550827" cy="830997"/>
          </a:xfrm>
          <a:prstGeom prst="rect">
            <a:avLst/>
          </a:prstGeom>
          <a:noFill/>
        </p:spPr>
        <p:txBody>
          <a:bodyPr wrap="none" rtlCol="0">
            <a:spAutoFit/>
          </a:bodyPr>
          <a:lstStyle/>
          <a:p>
            <a:r>
              <a:rPr lang="en-IN" sz="2400" b="1" dirty="0"/>
              <a:t>Actionable Device </a:t>
            </a:r>
          </a:p>
          <a:p>
            <a:r>
              <a:rPr lang="en-IN" sz="2400" b="1" dirty="0"/>
              <a:t>Navigation</a:t>
            </a:r>
          </a:p>
        </p:txBody>
      </p:sp>
      <p:cxnSp>
        <p:nvCxnSpPr>
          <p:cNvPr id="47" name="Straight Arrow Connector 46">
            <a:extLst>
              <a:ext uri="{FF2B5EF4-FFF2-40B4-BE49-F238E27FC236}">
                <a16:creationId xmlns:a16="http://schemas.microsoft.com/office/drawing/2014/main" id="{EBCFE94E-2502-8F7F-5886-EF1A69192035}"/>
              </a:ext>
            </a:extLst>
          </p:cNvPr>
          <p:cNvCxnSpPr/>
          <p:nvPr/>
        </p:nvCxnSpPr>
        <p:spPr>
          <a:xfrm>
            <a:off x="7934960" y="2489760"/>
            <a:ext cx="612000" cy="0"/>
          </a:xfrm>
          <a:prstGeom prst="straightConnector1">
            <a:avLst/>
          </a:prstGeom>
          <a:ln w="19050">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C49E6B71-28B5-FD35-4090-400B01B579D5}"/>
              </a:ext>
            </a:extLst>
          </p:cNvPr>
          <p:cNvSpPr txBox="1"/>
          <p:nvPr/>
        </p:nvSpPr>
        <p:spPr>
          <a:xfrm>
            <a:off x="8260080" y="2643818"/>
            <a:ext cx="3940694" cy="1477328"/>
          </a:xfrm>
          <a:prstGeom prst="rect">
            <a:avLst/>
          </a:prstGeom>
          <a:noFill/>
        </p:spPr>
        <p:txBody>
          <a:bodyPr wrap="none" rtlCol="0">
            <a:spAutoFit/>
          </a:bodyPr>
          <a:lstStyle/>
          <a:p>
            <a:r>
              <a:rPr lang="en-IN" dirty="0"/>
              <a:t>Troubleshooting guidance can be </a:t>
            </a:r>
          </a:p>
          <a:p>
            <a:r>
              <a:rPr lang="en-IN" dirty="0"/>
              <a:t>connected to relevant device screens </a:t>
            </a:r>
          </a:p>
          <a:p>
            <a:r>
              <a:rPr lang="en-IN" dirty="0"/>
              <a:t>through the deep-link </a:t>
            </a:r>
            <a:r>
              <a:rPr lang="en-IN" dirty="0" err="1"/>
              <a:t>catalog</a:t>
            </a:r>
            <a:r>
              <a:rPr lang="en-IN" dirty="0"/>
              <a:t>, reducing </a:t>
            </a:r>
          </a:p>
          <a:p>
            <a:r>
              <a:rPr lang="en-IN" dirty="0"/>
              <a:t>the need for users to manually search </a:t>
            </a:r>
          </a:p>
          <a:p>
            <a:r>
              <a:rPr lang="en-IN" dirty="0"/>
              <a:t>through settings.</a:t>
            </a:r>
          </a:p>
        </p:txBody>
      </p:sp>
      <p:sp>
        <p:nvSpPr>
          <p:cNvPr id="50" name="Rectangle 49">
            <a:extLst>
              <a:ext uri="{FF2B5EF4-FFF2-40B4-BE49-F238E27FC236}">
                <a16:creationId xmlns:a16="http://schemas.microsoft.com/office/drawing/2014/main" id="{ED62FB40-36EC-6D24-23F7-5D6DC4524C77}"/>
              </a:ext>
            </a:extLst>
          </p:cNvPr>
          <p:cNvSpPr/>
          <p:nvPr/>
        </p:nvSpPr>
        <p:spPr>
          <a:xfrm>
            <a:off x="8546960" y="1894229"/>
            <a:ext cx="1277760" cy="749589"/>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2" name="Picture 51">
            <a:extLst>
              <a:ext uri="{FF2B5EF4-FFF2-40B4-BE49-F238E27FC236}">
                <a16:creationId xmlns:a16="http://schemas.microsoft.com/office/drawing/2014/main" id="{290823E5-B012-593C-01AB-10D4E38C9AE6}"/>
              </a:ext>
            </a:extLst>
          </p:cNvPr>
          <p:cNvPicPr>
            <a:picLocks noChangeAspect="1"/>
          </p:cNvPicPr>
          <p:nvPr/>
        </p:nvPicPr>
        <p:blipFill>
          <a:blip r:embed="rId11"/>
          <a:stretch>
            <a:fillRect/>
          </a:stretch>
        </p:blipFill>
        <p:spPr>
          <a:xfrm>
            <a:off x="8587600" y="2107861"/>
            <a:ext cx="341260" cy="341260"/>
          </a:xfrm>
          <a:prstGeom prst="rect">
            <a:avLst/>
          </a:prstGeom>
        </p:spPr>
      </p:pic>
      <p:sp>
        <p:nvSpPr>
          <p:cNvPr id="53" name="TextBox 52">
            <a:extLst>
              <a:ext uri="{FF2B5EF4-FFF2-40B4-BE49-F238E27FC236}">
                <a16:creationId xmlns:a16="http://schemas.microsoft.com/office/drawing/2014/main" id="{9DEB5D37-47F2-0737-76BD-32048BCEC2DB}"/>
              </a:ext>
            </a:extLst>
          </p:cNvPr>
          <p:cNvSpPr txBox="1"/>
          <p:nvPr/>
        </p:nvSpPr>
        <p:spPr>
          <a:xfrm>
            <a:off x="8879840" y="1943074"/>
            <a:ext cx="1940560" cy="646331"/>
          </a:xfrm>
          <a:prstGeom prst="rect">
            <a:avLst/>
          </a:prstGeom>
          <a:noFill/>
        </p:spPr>
        <p:txBody>
          <a:bodyPr wrap="square" rtlCol="0">
            <a:spAutoFit/>
          </a:bodyPr>
          <a:lstStyle/>
          <a:p>
            <a:r>
              <a:rPr lang="en-US" sz="1200" b="1" dirty="0"/>
              <a:t>Step:</a:t>
            </a:r>
          </a:p>
          <a:p>
            <a:r>
              <a:rPr lang="en-US" sz="1200" dirty="0"/>
              <a:t>Open Display </a:t>
            </a:r>
          </a:p>
          <a:p>
            <a:r>
              <a:rPr lang="en-US" sz="1200" dirty="0"/>
              <a:t>Settings</a:t>
            </a:r>
            <a:endParaRPr lang="en-IN" sz="1200" dirty="0"/>
          </a:p>
        </p:txBody>
      </p:sp>
      <p:sp>
        <p:nvSpPr>
          <p:cNvPr id="54" name="Rectangle 53">
            <a:extLst>
              <a:ext uri="{FF2B5EF4-FFF2-40B4-BE49-F238E27FC236}">
                <a16:creationId xmlns:a16="http://schemas.microsoft.com/office/drawing/2014/main" id="{EAC82A4B-98AD-7D18-36B2-E1A8867A03F8}"/>
              </a:ext>
            </a:extLst>
          </p:cNvPr>
          <p:cNvSpPr/>
          <p:nvPr/>
        </p:nvSpPr>
        <p:spPr>
          <a:xfrm>
            <a:off x="60960" y="4339843"/>
            <a:ext cx="5991721" cy="2367257"/>
          </a:xfrm>
          <a:prstGeom prst="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56" name="Rectangle 55">
            <a:extLst>
              <a:ext uri="{FF2B5EF4-FFF2-40B4-BE49-F238E27FC236}">
                <a16:creationId xmlns:a16="http://schemas.microsoft.com/office/drawing/2014/main" id="{40AE86BF-953A-0BC8-6AD4-6C53AC3BC4CD}"/>
              </a:ext>
            </a:extLst>
          </p:cNvPr>
          <p:cNvSpPr/>
          <p:nvPr/>
        </p:nvSpPr>
        <p:spPr>
          <a:xfrm>
            <a:off x="6137700" y="4329682"/>
            <a:ext cx="5991721" cy="2367257"/>
          </a:xfrm>
          <a:prstGeom prst="rect">
            <a:avLst/>
          </a:prstGeom>
          <a:solidFill>
            <a:srgbClr val="D9AFD8"/>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58" name="Picture 57">
            <a:extLst>
              <a:ext uri="{FF2B5EF4-FFF2-40B4-BE49-F238E27FC236}">
                <a16:creationId xmlns:a16="http://schemas.microsoft.com/office/drawing/2014/main" id="{29042CBE-30AF-979F-E27D-49DD850104AF}"/>
              </a:ext>
            </a:extLst>
          </p:cNvPr>
          <p:cNvPicPr>
            <a:picLocks noChangeAspect="1"/>
          </p:cNvPicPr>
          <p:nvPr/>
        </p:nvPicPr>
        <p:blipFill>
          <a:blip r:embed="rId12"/>
          <a:stretch>
            <a:fillRect/>
          </a:stretch>
        </p:blipFill>
        <p:spPr>
          <a:xfrm>
            <a:off x="111760" y="4384421"/>
            <a:ext cx="339979" cy="339979"/>
          </a:xfrm>
          <a:prstGeom prst="rect">
            <a:avLst/>
          </a:prstGeom>
        </p:spPr>
      </p:pic>
      <p:sp>
        <p:nvSpPr>
          <p:cNvPr id="60" name="TextBox 59">
            <a:extLst>
              <a:ext uri="{FF2B5EF4-FFF2-40B4-BE49-F238E27FC236}">
                <a16:creationId xmlns:a16="http://schemas.microsoft.com/office/drawing/2014/main" id="{8C959299-6D9E-3111-62C7-CAD4FE0AA993}"/>
              </a:ext>
            </a:extLst>
          </p:cNvPr>
          <p:cNvSpPr txBox="1"/>
          <p:nvPr/>
        </p:nvSpPr>
        <p:spPr>
          <a:xfrm>
            <a:off x="363856" y="4339843"/>
            <a:ext cx="5824928" cy="461665"/>
          </a:xfrm>
          <a:prstGeom prst="rect">
            <a:avLst/>
          </a:prstGeom>
          <a:noFill/>
        </p:spPr>
        <p:txBody>
          <a:bodyPr wrap="none" rtlCol="0">
            <a:spAutoFit/>
          </a:bodyPr>
          <a:lstStyle/>
          <a:p>
            <a:r>
              <a:rPr lang="en-IN" sz="2400" b="1" dirty="0"/>
              <a:t>Semantic Cache for Faster Repeated Queries</a:t>
            </a:r>
          </a:p>
        </p:txBody>
      </p:sp>
      <p:sp>
        <p:nvSpPr>
          <p:cNvPr id="62" name="TextBox 61">
            <a:extLst>
              <a:ext uri="{FF2B5EF4-FFF2-40B4-BE49-F238E27FC236}">
                <a16:creationId xmlns:a16="http://schemas.microsoft.com/office/drawing/2014/main" id="{7D0F7613-3522-E236-E726-2D8AD8FCBD95}"/>
              </a:ext>
            </a:extLst>
          </p:cNvPr>
          <p:cNvSpPr txBox="1"/>
          <p:nvPr/>
        </p:nvSpPr>
        <p:spPr>
          <a:xfrm>
            <a:off x="40646" y="4750708"/>
            <a:ext cx="6012035" cy="923330"/>
          </a:xfrm>
          <a:prstGeom prst="rect">
            <a:avLst/>
          </a:prstGeom>
          <a:noFill/>
        </p:spPr>
        <p:txBody>
          <a:bodyPr wrap="square" rtlCol="0">
            <a:spAutoFit/>
          </a:bodyPr>
          <a:lstStyle/>
          <a:p>
            <a:r>
              <a:rPr lang="en-IN" dirty="0"/>
              <a:t>Previously processed queries can use validated cached plans, avoiding unnecessary repeated processing when an appropriate cached result exists.</a:t>
            </a:r>
          </a:p>
        </p:txBody>
      </p:sp>
      <p:sp>
        <p:nvSpPr>
          <p:cNvPr id="63" name="Rectangle 62">
            <a:extLst>
              <a:ext uri="{FF2B5EF4-FFF2-40B4-BE49-F238E27FC236}">
                <a16:creationId xmlns:a16="http://schemas.microsoft.com/office/drawing/2014/main" id="{86B092BC-7282-EB03-60C0-0E2A517B53C9}"/>
              </a:ext>
            </a:extLst>
          </p:cNvPr>
          <p:cNvSpPr/>
          <p:nvPr/>
        </p:nvSpPr>
        <p:spPr>
          <a:xfrm>
            <a:off x="118893" y="5768558"/>
            <a:ext cx="1720067" cy="523555"/>
          </a:xfrm>
          <a:prstGeom prst="rect">
            <a:avLst/>
          </a:prstGeom>
          <a:solidFill>
            <a:schemeClr val="bg1"/>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“Wi-Fi keeps disconnecting”</a:t>
            </a:r>
            <a:endParaRPr lang="en-IN" dirty="0"/>
          </a:p>
        </p:txBody>
      </p:sp>
      <p:pic>
        <p:nvPicPr>
          <p:cNvPr id="65" name="Picture 64">
            <a:extLst>
              <a:ext uri="{FF2B5EF4-FFF2-40B4-BE49-F238E27FC236}">
                <a16:creationId xmlns:a16="http://schemas.microsoft.com/office/drawing/2014/main" id="{029771BC-8A25-E654-1FDC-E22DE9782C27}"/>
              </a:ext>
            </a:extLst>
          </p:cNvPr>
          <p:cNvPicPr>
            <a:picLocks noChangeAspect="1"/>
          </p:cNvPicPr>
          <p:nvPr/>
        </p:nvPicPr>
        <p:blipFill>
          <a:blip r:embed="rId13">
            <a:duotone>
              <a:schemeClr val="accent2">
                <a:shade val="45000"/>
                <a:satMod val="135000"/>
              </a:schemeClr>
              <a:prstClr val="white"/>
            </a:duotone>
          </a:blip>
          <a:stretch>
            <a:fillRect/>
          </a:stretch>
        </p:blipFill>
        <p:spPr>
          <a:xfrm>
            <a:off x="2405620" y="5659013"/>
            <a:ext cx="641043" cy="641043"/>
          </a:xfrm>
          <a:prstGeom prst="rect">
            <a:avLst/>
          </a:prstGeom>
        </p:spPr>
      </p:pic>
      <p:sp>
        <p:nvSpPr>
          <p:cNvPr id="66" name="TextBox 65">
            <a:extLst>
              <a:ext uri="{FF2B5EF4-FFF2-40B4-BE49-F238E27FC236}">
                <a16:creationId xmlns:a16="http://schemas.microsoft.com/office/drawing/2014/main" id="{C3676703-28C6-D456-EDFF-40EE5BFAD080}"/>
              </a:ext>
            </a:extLst>
          </p:cNvPr>
          <p:cNvSpPr txBox="1"/>
          <p:nvPr/>
        </p:nvSpPr>
        <p:spPr>
          <a:xfrm>
            <a:off x="1503660" y="6251460"/>
            <a:ext cx="2444961" cy="523220"/>
          </a:xfrm>
          <a:prstGeom prst="rect">
            <a:avLst/>
          </a:prstGeom>
          <a:noFill/>
        </p:spPr>
        <p:txBody>
          <a:bodyPr wrap="square" rtlCol="0">
            <a:spAutoFit/>
          </a:bodyPr>
          <a:lstStyle/>
          <a:p>
            <a:pPr algn="ctr"/>
            <a:r>
              <a:rPr lang="en-US" sz="1400" b="1" dirty="0"/>
              <a:t>Sematic Cache</a:t>
            </a:r>
          </a:p>
          <a:p>
            <a:r>
              <a:rPr lang="en-US" sz="1400" dirty="0"/>
              <a:t>(previously processed queries)</a:t>
            </a:r>
            <a:endParaRPr lang="en-IN" sz="1400" dirty="0"/>
          </a:p>
        </p:txBody>
      </p:sp>
      <p:sp>
        <p:nvSpPr>
          <p:cNvPr id="68" name="Rectangle 67">
            <a:extLst>
              <a:ext uri="{FF2B5EF4-FFF2-40B4-BE49-F238E27FC236}">
                <a16:creationId xmlns:a16="http://schemas.microsoft.com/office/drawing/2014/main" id="{C58BA4FF-A1AB-92FB-7CEA-0D9B47354CA0}"/>
              </a:ext>
            </a:extLst>
          </p:cNvPr>
          <p:cNvSpPr/>
          <p:nvPr/>
        </p:nvSpPr>
        <p:spPr>
          <a:xfrm>
            <a:off x="4263581" y="5758041"/>
            <a:ext cx="1720067" cy="523555"/>
          </a:xfrm>
          <a:prstGeom prst="rect">
            <a:avLst/>
          </a:prstGeom>
          <a:solidFill>
            <a:schemeClr val="bg1"/>
          </a:solidFill>
          <a:ln>
            <a:solidFill>
              <a:schemeClr val="accent2">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Return validated path</a:t>
            </a:r>
            <a:endParaRPr lang="en-IN" dirty="0"/>
          </a:p>
        </p:txBody>
      </p:sp>
      <p:pic>
        <p:nvPicPr>
          <p:cNvPr id="70" name="Picture 69">
            <a:extLst>
              <a:ext uri="{FF2B5EF4-FFF2-40B4-BE49-F238E27FC236}">
                <a16:creationId xmlns:a16="http://schemas.microsoft.com/office/drawing/2014/main" id="{D93FDC8C-0E3B-72CB-E824-9BB0D9C2CE0A}"/>
              </a:ext>
            </a:extLst>
          </p:cNvPr>
          <p:cNvPicPr>
            <a:picLocks noChangeAspect="1"/>
          </p:cNvPicPr>
          <p:nvPr/>
        </p:nvPicPr>
        <p:blipFill>
          <a:blip r:embed="rId14">
            <a:duotone>
              <a:schemeClr val="accent2">
                <a:shade val="45000"/>
                <a:satMod val="135000"/>
              </a:schemeClr>
              <a:prstClr val="white"/>
            </a:duotone>
          </a:blip>
          <a:stretch>
            <a:fillRect/>
          </a:stretch>
        </p:blipFill>
        <p:spPr>
          <a:xfrm>
            <a:off x="3883123" y="5785667"/>
            <a:ext cx="381790" cy="381790"/>
          </a:xfrm>
          <a:prstGeom prst="rect">
            <a:avLst/>
          </a:prstGeom>
        </p:spPr>
      </p:pic>
      <p:cxnSp>
        <p:nvCxnSpPr>
          <p:cNvPr id="71" name="Straight Arrow Connector 70">
            <a:extLst>
              <a:ext uri="{FF2B5EF4-FFF2-40B4-BE49-F238E27FC236}">
                <a16:creationId xmlns:a16="http://schemas.microsoft.com/office/drawing/2014/main" id="{A90E85C8-4C49-3F25-1973-7199DA01E9C7}"/>
              </a:ext>
            </a:extLst>
          </p:cNvPr>
          <p:cNvCxnSpPr/>
          <p:nvPr/>
        </p:nvCxnSpPr>
        <p:spPr>
          <a:xfrm>
            <a:off x="3128212" y="5966962"/>
            <a:ext cx="612000"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cxnSp>
        <p:nvCxnSpPr>
          <p:cNvPr id="72" name="Straight Arrow Connector 71">
            <a:extLst>
              <a:ext uri="{FF2B5EF4-FFF2-40B4-BE49-F238E27FC236}">
                <a16:creationId xmlns:a16="http://schemas.microsoft.com/office/drawing/2014/main" id="{6C451F33-2A7C-0AF5-D41B-49D4556A88CB}"/>
              </a:ext>
            </a:extLst>
          </p:cNvPr>
          <p:cNvCxnSpPr>
            <a:cxnSpLocks/>
          </p:cNvCxnSpPr>
          <p:nvPr/>
        </p:nvCxnSpPr>
        <p:spPr>
          <a:xfrm>
            <a:off x="1987719" y="5992380"/>
            <a:ext cx="356932" cy="0"/>
          </a:xfrm>
          <a:prstGeom prst="straightConnector1">
            <a:avLst/>
          </a:prstGeom>
          <a:ln w="19050">
            <a:solidFill>
              <a:srgbClr val="C00000"/>
            </a:solidFill>
            <a:tailEnd type="triangle"/>
          </a:ln>
        </p:spPr>
        <p:style>
          <a:lnRef idx="1">
            <a:schemeClr val="accent1"/>
          </a:lnRef>
          <a:fillRef idx="0">
            <a:schemeClr val="accent1"/>
          </a:fillRef>
          <a:effectRef idx="0">
            <a:schemeClr val="accent1"/>
          </a:effectRef>
          <a:fontRef idx="minor">
            <a:schemeClr val="tx1"/>
          </a:fontRef>
        </p:style>
      </p:cxnSp>
      <p:pic>
        <p:nvPicPr>
          <p:cNvPr id="75" name="Picture 74">
            <a:extLst>
              <a:ext uri="{FF2B5EF4-FFF2-40B4-BE49-F238E27FC236}">
                <a16:creationId xmlns:a16="http://schemas.microsoft.com/office/drawing/2014/main" id="{17521C4E-573A-CB3E-62A0-9CA1E082A864}"/>
              </a:ext>
            </a:extLst>
          </p:cNvPr>
          <p:cNvPicPr>
            <a:picLocks noChangeAspect="1"/>
          </p:cNvPicPr>
          <p:nvPr/>
        </p:nvPicPr>
        <p:blipFill>
          <a:blip r:embed="rId15"/>
          <a:stretch>
            <a:fillRect/>
          </a:stretch>
        </p:blipFill>
        <p:spPr>
          <a:xfrm>
            <a:off x="6177261" y="4366450"/>
            <a:ext cx="408450" cy="408450"/>
          </a:xfrm>
          <a:prstGeom prst="rect">
            <a:avLst/>
          </a:prstGeom>
        </p:spPr>
      </p:pic>
      <p:sp>
        <p:nvSpPr>
          <p:cNvPr id="77" name="TextBox 76">
            <a:extLst>
              <a:ext uri="{FF2B5EF4-FFF2-40B4-BE49-F238E27FC236}">
                <a16:creationId xmlns:a16="http://schemas.microsoft.com/office/drawing/2014/main" id="{DCA2AB5D-74D2-86C5-9DC0-6A70349555CD}"/>
              </a:ext>
            </a:extLst>
          </p:cNvPr>
          <p:cNvSpPr txBox="1"/>
          <p:nvPr/>
        </p:nvSpPr>
        <p:spPr>
          <a:xfrm>
            <a:off x="6758173" y="4329818"/>
            <a:ext cx="4913333" cy="461665"/>
          </a:xfrm>
          <a:prstGeom prst="rect">
            <a:avLst/>
          </a:prstGeom>
          <a:noFill/>
        </p:spPr>
        <p:txBody>
          <a:bodyPr wrap="none" rtlCol="0">
            <a:spAutoFit/>
          </a:bodyPr>
          <a:lstStyle/>
          <a:p>
            <a:r>
              <a:rPr lang="en-IN" sz="2400" b="1" dirty="0"/>
              <a:t>Controlled and Structured Responses</a:t>
            </a:r>
          </a:p>
        </p:txBody>
      </p:sp>
      <p:sp>
        <p:nvSpPr>
          <p:cNvPr id="79" name="TextBox 78">
            <a:extLst>
              <a:ext uri="{FF2B5EF4-FFF2-40B4-BE49-F238E27FC236}">
                <a16:creationId xmlns:a16="http://schemas.microsoft.com/office/drawing/2014/main" id="{0C78D099-CC98-45F8-9ABC-D23343B58063}"/>
              </a:ext>
            </a:extLst>
          </p:cNvPr>
          <p:cNvSpPr txBox="1"/>
          <p:nvPr/>
        </p:nvSpPr>
        <p:spPr>
          <a:xfrm>
            <a:off x="6154932" y="4820881"/>
            <a:ext cx="5974490" cy="923330"/>
          </a:xfrm>
          <a:prstGeom prst="rect">
            <a:avLst/>
          </a:prstGeom>
          <a:noFill/>
        </p:spPr>
        <p:txBody>
          <a:bodyPr wrap="square" rtlCol="0">
            <a:spAutoFit/>
          </a:bodyPr>
          <a:lstStyle/>
          <a:p>
            <a:r>
              <a:rPr lang="en-IN" dirty="0"/>
              <a:t>The pipeline applies response structure, schema validation, action ordering, and output constraints to keep troubleshooting guidance consistent and controlled.</a:t>
            </a:r>
          </a:p>
        </p:txBody>
      </p:sp>
      <p:pic>
        <p:nvPicPr>
          <p:cNvPr id="81" name="Picture 80">
            <a:extLst>
              <a:ext uri="{FF2B5EF4-FFF2-40B4-BE49-F238E27FC236}">
                <a16:creationId xmlns:a16="http://schemas.microsoft.com/office/drawing/2014/main" id="{F367873A-DEA0-F385-7BD1-A5BD4431178C}"/>
              </a:ext>
            </a:extLst>
          </p:cNvPr>
          <p:cNvPicPr>
            <a:picLocks noChangeAspect="1"/>
          </p:cNvPicPr>
          <p:nvPr/>
        </p:nvPicPr>
        <p:blipFill>
          <a:blip r:embed="rId9">
            <a:duotone>
              <a:schemeClr val="accent1">
                <a:shade val="45000"/>
                <a:satMod val="135000"/>
              </a:schemeClr>
              <a:prstClr val="white"/>
            </a:duotone>
          </a:blip>
          <a:stretch>
            <a:fillRect/>
          </a:stretch>
        </p:blipFill>
        <p:spPr>
          <a:xfrm>
            <a:off x="6402480" y="5773817"/>
            <a:ext cx="357860" cy="357860"/>
          </a:xfrm>
          <a:prstGeom prst="rect">
            <a:avLst/>
          </a:prstGeom>
        </p:spPr>
      </p:pic>
      <p:pic>
        <p:nvPicPr>
          <p:cNvPr id="83" name="Picture 82">
            <a:extLst>
              <a:ext uri="{FF2B5EF4-FFF2-40B4-BE49-F238E27FC236}">
                <a16:creationId xmlns:a16="http://schemas.microsoft.com/office/drawing/2014/main" id="{64F59901-5F0E-FC39-7C84-8EDDE9B9A173}"/>
              </a:ext>
            </a:extLst>
          </p:cNvPr>
          <p:cNvPicPr>
            <a:picLocks noChangeAspect="1"/>
          </p:cNvPicPr>
          <p:nvPr/>
        </p:nvPicPr>
        <p:blipFill>
          <a:blip r:embed="rId16">
            <a:duotone>
              <a:schemeClr val="accent6">
                <a:shade val="45000"/>
                <a:satMod val="135000"/>
              </a:schemeClr>
              <a:prstClr val="white"/>
            </a:duotone>
          </a:blip>
          <a:stretch>
            <a:fillRect/>
          </a:stretch>
        </p:blipFill>
        <p:spPr>
          <a:xfrm>
            <a:off x="8161808" y="5793075"/>
            <a:ext cx="374382" cy="374382"/>
          </a:xfrm>
          <a:prstGeom prst="rect">
            <a:avLst/>
          </a:prstGeom>
        </p:spPr>
      </p:pic>
      <p:pic>
        <p:nvPicPr>
          <p:cNvPr id="85" name="Picture 84">
            <a:extLst>
              <a:ext uri="{FF2B5EF4-FFF2-40B4-BE49-F238E27FC236}">
                <a16:creationId xmlns:a16="http://schemas.microsoft.com/office/drawing/2014/main" id="{CFF24904-561B-173C-4FD9-AA11D9C9620E}"/>
              </a:ext>
            </a:extLst>
          </p:cNvPr>
          <p:cNvPicPr>
            <a:picLocks noChangeAspect="1"/>
          </p:cNvPicPr>
          <p:nvPr/>
        </p:nvPicPr>
        <p:blipFill>
          <a:blip r:embed="rId8">
            <a:duotone>
              <a:schemeClr val="accent4">
                <a:shade val="45000"/>
                <a:satMod val="135000"/>
              </a:schemeClr>
              <a:prstClr val="white"/>
            </a:duotone>
          </a:blip>
          <a:stretch>
            <a:fillRect/>
          </a:stretch>
        </p:blipFill>
        <p:spPr>
          <a:xfrm>
            <a:off x="9604070" y="5758041"/>
            <a:ext cx="441300" cy="441300"/>
          </a:xfrm>
          <a:prstGeom prst="rect">
            <a:avLst/>
          </a:prstGeom>
        </p:spPr>
      </p:pic>
      <p:pic>
        <p:nvPicPr>
          <p:cNvPr id="87" name="Picture 86">
            <a:extLst>
              <a:ext uri="{FF2B5EF4-FFF2-40B4-BE49-F238E27FC236}">
                <a16:creationId xmlns:a16="http://schemas.microsoft.com/office/drawing/2014/main" id="{682BD1E3-6872-38D2-619D-90F59A98DC54}"/>
              </a:ext>
            </a:extLst>
          </p:cNvPr>
          <p:cNvPicPr>
            <a:picLocks noChangeAspect="1"/>
          </p:cNvPicPr>
          <p:nvPr/>
        </p:nvPicPr>
        <p:blipFill>
          <a:blip r:embed="rId11">
            <a:duotone>
              <a:prstClr val="black"/>
              <a:srgbClr val="B45499">
                <a:tint val="45000"/>
                <a:satMod val="400000"/>
              </a:srgbClr>
            </a:duotone>
          </a:blip>
          <a:stretch>
            <a:fillRect/>
          </a:stretch>
        </p:blipFill>
        <p:spPr>
          <a:xfrm>
            <a:off x="11113250" y="5777677"/>
            <a:ext cx="389780" cy="389780"/>
          </a:xfrm>
          <a:prstGeom prst="rect">
            <a:avLst/>
          </a:prstGeom>
        </p:spPr>
      </p:pic>
      <p:sp>
        <p:nvSpPr>
          <p:cNvPr id="88" name="TextBox 87">
            <a:extLst>
              <a:ext uri="{FF2B5EF4-FFF2-40B4-BE49-F238E27FC236}">
                <a16:creationId xmlns:a16="http://schemas.microsoft.com/office/drawing/2014/main" id="{2AD440CF-BB9D-4AD1-744E-2E6D1D147D2B}"/>
              </a:ext>
            </a:extLst>
          </p:cNvPr>
          <p:cNvSpPr txBox="1"/>
          <p:nvPr/>
        </p:nvSpPr>
        <p:spPr>
          <a:xfrm>
            <a:off x="6248509" y="6120780"/>
            <a:ext cx="5627566" cy="523220"/>
          </a:xfrm>
          <a:prstGeom prst="rect">
            <a:avLst/>
          </a:prstGeom>
          <a:noFill/>
        </p:spPr>
        <p:txBody>
          <a:bodyPr wrap="none" rtlCol="0">
            <a:spAutoFit/>
          </a:bodyPr>
          <a:lstStyle/>
          <a:p>
            <a:r>
              <a:rPr lang="en-US" sz="1400" dirty="0"/>
              <a:t>Response		Schema	             Action	  Output</a:t>
            </a:r>
          </a:p>
          <a:p>
            <a:r>
              <a:rPr lang="en-US" sz="1400" dirty="0"/>
              <a:t>Structure		Validation	          Ordering	Constraints</a:t>
            </a:r>
            <a:endParaRPr lang="en-IN" sz="1400" dirty="0"/>
          </a:p>
        </p:txBody>
      </p:sp>
    </p:spTree>
    <p:extLst>
      <p:ext uri="{BB962C8B-B14F-4D97-AF65-F5344CB8AC3E}">
        <p14:creationId xmlns:p14="http://schemas.microsoft.com/office/powerpoint/2010/main" val="20955176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lstStyle/>
          <a:p>
            <a:r>
              <a:rPr lang="en-IN" b="1" dirty="0">
                <a:solidFill>
                  <a:srgbClr val="704EA6"/>
                </a:solidFill>
                <a:latin typeface="+mn-lt"/>
              </a:rPr>
              <a:t>Checklist- Updated on Public GitHub</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p:txBody>
          <a:bodyPr/>
          <a:lstStyle/>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Working prototype code — public or shared GitHub repo (Y/N) - Y</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README with reproducible setup instructions (Y/N) - Y</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Demo video, max 5 minutes (YouTube or Drive link) - Y</a:t>
            </a:r>
            <a:endParaRPr lang="en-US" sz="2800" dirty="0"/>
          </a:p>
          <a:p>
            <a:pPr marL="177800" indent="-177800">
              <a:spcAft>
                <a:spcPts val="500"/>
              </a:spcAft>
              <a:buSzPct val="100000"/>
              <a:buChar char="•"/>
            </a:pPr>
            <a:r>
              <a:rPr lang="en-US" sz="2800" dirty="0">
                <a:solidFill>
                  <a:srgbClr val="63637E"/>
                </a:solidFill>
                <a:latin typeface="Calibri" pitchFamily="34" charset="0"/>
                <a:ea typeface="Calibri" pitchFamily="34" charset="-122"/>
                <a:cs typeface="Calibri" pitchFamily="34" charset="-120"/>
              </a:rPr>
              <a:t>Presentation file (PPT or PDF) (Y/N) - Y</a:t>
            </a:r>
            <a:endParaRPr lang="en-US" sz="2800" dirty="0"/>
          </a:p>
          <a:p>
            <a:pPr marL="0" indent="0">
              <a:buNone/>
            </a:pPr>
            <a:endParaRPr lang="en-IN" dirty="0"/>
          </a:p>
        </p:txBody>
      </p:sp>
    </p:spTree>
    <p:extLst>
      <p:ext uri="{BB962C8B-B14F-4D97-AF65-F5344CB8AC3E}">
        <p14:creationId xmlns:p14="http://schemas.microsoft.com/office/powerpoint/2010/main" val="1806993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txBox="1"/>
          <p:nvPr/>
        </p:nvSpPr>
        <p:spPr>
          <a:xfrm>
            <a:off x="1046181" y="3730214"/>
            <a:ext cx="6766560" cy="868680"/>
          </a:xfrm>
          <a:prstGeom prst="rect">
            <a:avLst/>
          </a:prstGeom>
          <a:noFill/>
          <a:ln/>
        </p:spPr>
        <p:txBody>
          <a:bodyPr wrap="square" lIns="0" tIns="0" rIns="0" bIns="0" rtlCol="0" anchor="ctr"/>
          <a:lstStyle/>
          <a:p>
            <a:pPr marL="0" indent="0">
              <a:buNone/>
            </a:pPr>
            <a:r>
              <a:rPr lang="en-US" sz="4600" b="1" dirty="0">
                <a:solidFill>
                  <a:schemeClr val="accent6">
                    <a:lumMod val="50000"/>
                  </a:schemeClr>
                </a:solidFill>
                <a:latin typeface="Arial" pitchFamily="34" charset="0"/>
                <a:ea typeface="Arial" pitchFamily="34" charset="-122"/>
                <a:cs typeface="Arial" pitchFamily="34" charset="-120"/>
              </a:rPr>
              <a:t>Thank you</a:t>
            </a:r>
            <a:endParaRPr lang="en-US" sz="4600" dirty="0">
              <a:solidFill>
                <a:schemeClr val="accent6">
                  <a:lumMod val="50000"/>
                </a:schemeClr>
              </a:solidFill>
            </a:endParaRPr>
          </a:p>
        </p:txBody>
      </p:sp>
      <p:sp>
        <p:nvSpPr>
          <p:cNvPr id="28" name="Text 25"/>
          <p:cNvSpPr txBox="1"/>
          <p:nvPr/>
        </p:nvSpPr>
        <p:spPr>
          <a:xfrm>
            <a:off x="777240" y="5897880"/>
            <a:ext cx="10607040" cy="292608"/>
          </a:xfrm>
          <a:prstGeom prst="rect">
            <a:avLst/>
          </a:prstGeom>
          <a:noFill/>
          <a:ln/>
        </p:spPr>
        <p:txBody>
          <a:bodyPr wrap="square" lIns="0" tIns="0" rIns="0" bIns="0" rtlCol="0" anchor="ctr"/>
          <a:lstStyle/>
          <a:p>
            <a:pPr marL="0" indent="0">
              <a:buNone/>
            </a:pPr>
            <a:r>
              <a:rPr lang="en-US" sz="1100" dirty="0">
                <a:solidFill>
                  <a:srgbClr val="63637E"/>
                </a:solidFill>
                <a:latin typeface="Calibri" pitchFamily="34" charset="0"/>
                <a:ea typeface="Calibri" pitchFamily="34" charset="-122"/>
                <a:cs typeface="Calibri" pitchFamily="34" charset="-120"/>
              </a:rPr>
              <a:t>Organised by the Language AI Team and the PRISM Team, Samsung R&amp;D Institute India</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emplate/>
  <TotalTime>1997</TotalTime>
  <Words>1679</Words>
  <Application>Microsoft Office PowerPoint</Application>
  <PresentationFormat>Widescreen</PresentationFormat>
  <Paragraphs>350</Paragraphs>
  <Slides>12</Slides>
  <Notes>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Smart Guided  Troubleshooting  Engine</vt:lpstr>
      <vt:lpstr>Existing Solutions &amp; Gaps</vt:lpstr>
      <vt:lpstr>Our Solutions &amp; Architecture Diagram</vt:lpstr>
      <vt:lpstr>Demo &amp; Product Walkthrough</vt:lpstr>
      <vt:lpstr>Tools and tech stack used</vt:lpstr>
      <vt:lpstr>Impact &amp; Use case</vt:lpstr>
      <vt:lpstr>Innovation highlights, results and limitations</vt:lpstr>
      <vt:lpstr>What’s next</vt:lpstr>
      <vt:lpstr>Brownie points slide( differentiation)</vt:lpstr>
      <vt:lpstr>Checklist- Updated on Public GitHub</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Binny Lakra/PRISM /SRI-Bangalore/Professional/Samsung Electronics</dc:creator>
  <cp:lastModifiedBy>NIDHI C A</cp:lastModifiedBy>
  <cp:revision>25</cp:revision>
  <dcterms:created xsi:type="dcterms:W3CDTF">2026-09-07T12:01:01Z</dcterms:created>
  <dcterms:modified xsi:type="dcterms:W3CDTF">2026-09-30T16:54:58Z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SCPROP">
    <vt:lpwstr>NSCCustomProperty</vt:lpwstr>
  </property>
</Properties>
</file>